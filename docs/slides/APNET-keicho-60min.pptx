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【0:00-0:20】
開始前アナウンスで「紙とペンをご用意ください」を流してもらう。
カメラオフでOKと最初に明言する。
自分のカメラは必ずONにする。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【0:20-1:20】最重要スライド。
ゆっくり読み上げて、5秒黙る。
ここで主語が「私」から「あなた」に移る。刺さらないと最後のCTAが効かない。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【1:20-3:00】
「これは医師を対象にした研究です」と必ず断る。鍼灸師のデータではない。
最後の一行で、問題提起から一転して『鍼灸師は聴ける職種』という誇りを立てる。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【3:00-5:00】
自己開示。ここが弱いと、後半すべてが『上手い人の話』になって他人事になる。
エピソードは1つだけ。具体的に、短く。
※ここに当時の写真を1枚入れてもよい。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【5:00-6:30】
傾聴で何が変わったかを、症状の改善ではなく『関係・継続・自分の消耗度』で語る。
数字は信頼の担保として置くだけ。誇らない。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【6:30-8:00】20秒で流す。
「詳しくは最後に」と言って進む＝最後まで残る理由をつくる。
実績の羅列にならないよう、早口にならず淡々と。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【8:00-9:30】
★『40分あります』（3枚目）を受けて、「実際、医師の先生方からもこう言われます」と繋ぐ。
★これは調査データではなく、ご自身が言われてきた実感として話すこと。
　「私が言われるのは」「よく言われるのは」という言い方で。データとして提示しない。
誇らしい気持ちで読み上げてよい。次のスライドの落差が効きます。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【9:30-10:30】
★講演でいちばん空気が変わる場所。ここは急がない。
2つの問いを読んだあと、必ず3秒黙る。会場（画面の向こう）に考えさせる。
最後の一行は、自分のこととして静かに言う。責める調子にしない。
※ここで『私も聴けていませんでした』（4枚目）を思い出してもらえると効く。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【10:30-11:00】
★テーマ宣言。ここで聴衆に今日の地図を渡す。
『東洋医学の話はしません』と絞ることで、話が締まる。欲張らない。
★『技法です』と言い切ることが、後半の『訓練』『環境』の話への伏線になる。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【11:00-13:00】自覚のスイッチ。
★Zoom投票をここで使う（カメラオフ100名の参加感をつくる）。
投票を締めて結果を画面共有し、「8割の方が③ですね」と読み上げる。
その数字が次のスライドに直結する。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【13:00-14:00】
★ここで責めると問合せは来ない。必ず逃げ道を用意する。
「習っていないだけ」＝『習えば変わる』への伏線。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【14:00-16:00】
★このスライドは必ずご自身の学会発表の図に差し替えてください。
数字はこちらでは入れていません（推測を載せない方針）。
狙い：直感ではなくエビデンスで話す人、というポジション取り。
これがメンター依頼の『質』を上げます。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【16:00-17:15】
『傾聴＝優しさ』から『傾聴＝治療技術』へ、聴衆の枠組みを移す。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【17:15-18:00】
この講演を貫く一行。ここで一度置いて、最後（53枚目）で同じ言葉に戻る。
読んだあと一拍おいてから次へ。急がない。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【18:00-19:30】
言い切る。ここで『え、違うの？』という顔をさせたい。
特に③は多くの人が『我慢すること』だと思っている。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【19:30-21:30】
ロジャーズをそのまま説明すると眠くなる。必ず鍼灸の言葉に翻訳して話す。
『証を立てる前に』のくだりが、この講演でいちばん鍼灸師に刺さる言い回し。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【21:30-23:00】沈黙は『気を待つ』のと同じ、と重ねると鍼灸師には一発で伝わる。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【23:00-24:30】『診立てはあとからでも間に合う』は、責任感の強い人ほど救われる一言。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【24:30-26:00】ここで『訓練』という言葉を初めて出す。後半のサロンの話への伏線。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【26:00-27:00】
ワークへの切り替え。ここで声のトーンを一段上げる。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【27:00-28:00】
★制約を『わざとそうした』に変える。ここで場の空気が一段変わる。
『カメラはオフのままで大丈夫』は必ず言う。言うほど参加率が上がる。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【28:00-28:40】
★カメラオフでも100%全員が当事者になる、唯一のワーク。絶対に削らない。
『紙とペン』は開始前アナウンスでも流してもらうこと。
録画で見ている方へ：「ここで一時停止してください」と一言添える。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【28:40-30:10】
ここは黙る。BGMを小さくかけてもよい。
タイマーはスマホか腕時計で計る（PowerPointは自動カウントダウンできません）。
途中で話しかけない。60秒過ぎたら次のスライドへ。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【30:10-30:40】
無言でこのスライドに切り替えるだけ。声はかけない。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【30:40-32:30】
★数字1文字なら100名でも一気に流れる。
「0」「1」が並ぶ光景そのものがメッセージ。『ほら、みなさん同じです』と拾う。
★サロンメンバー1〜2名に、最初に投げる役を頼んでおくこと（口火を切る役）。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【32:30-33:00】
次の10枚が1秒ずつのカウントダウンスライドです。
★事前設定：カウントダウン10枚を選択 →「画面切り替え」→「自動的に切り替え 00:01」
　クリック時のチェックは外す。これで自動で10秒進みます。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★このスライドから10枚が、10秒のカウントダウンです。
【設定方法】
1. スライド一覧でこの10枚を選択
2.「画面切り替え」タブ →「自動的に切り替え」に 00:01 と入力
3.「クリック時」のチェックを外す
これで自動的に10秒進みます。数字を画面に出すことで、
アーカイブ視聴者に『配信事故』と誤解されるのを防げます。
この10秒、絶対に話しかけないこと。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【33:10-34:00】
『あなたが沈黙をつぶしている理由』——ここは責めるトーンにしない。
自分もそうだった、という言い方で。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【34:00-34:40】
★音声は事前録音しておく（パターンA・B 各60秒）。生の実演はぶれる。
相方はサロンメンバーに依頼。音量を揃えること。
★Zoomの画面共有で「コンピューターの音声を共有」を必ずON。リハで要テスト。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【34:40-38:30】
2本の音声を流したあと、このスライドで問いかける。
答えは待たなくていい。次のスライドで言い切る。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【38:30-39:00】
この講演でいちばん強いメッセージ。ゆっくり、間を空けて言う。
『優しくしましょう』では鍼灸師は動かない。『情報が取れる』なら動く。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【39:00-41:30】
★一斉送信にすることで『自分だけ書く』恥ずかしさが消える。
★共同ホストに事前依頼：流れてきた投稿を3つコピーしておいてもらう。
★『全部は読めません、3つだけ』を先に宣言（読まれない不満を防ぐ）。
拾った言葉に短くコメントする。ここで出た言葉が、この講演で一番強いコピーになる。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【41:30-42:00】
★希望のピーク。ここで聴衆は『やってみたい』状態。
『あとで出しますが、先に撮っておきたい方はどうぞ』と一言だけ。売り込まない。
★QR画像を貼り替えてください（点線枠を削除して画像を配置）。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【42:00-43:00】
先に3つ見せてから、1枚ずつ展開する（地図を渡してから歩く）。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【43:00-45:00】『90秒』という具体的な数字が、持ち帰りやすさを決める。ここを一番ゆっくり話す。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【45:00-46:30】その場で1回、声に出して実演してみせるとよい。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【46:30-48:00】✕と◯の対比は音読する。耳だけで聴いている人がいる。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【48:00-49:00】
★ここはご自身の症例に差し替えてください。掲載許可の確認を忘れずに。
★症状の改善で語ると『すごい人の話』になる。関係と継続で語ると『自分にもできそう』になる。
時間が押していたら、このスライドは一言で流してよい。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【49:00-50:30】
★ここが、後半への唯一の橋。飛ばすと最後がただの宣伝になる。
弱さを見せることで、次のスライドの提案が『売り込み』でなく『招待』になる。
声を落として、ゆっくり。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【50:30-52:00】
★『できない自分が悪い』を『環境がなかっただけ』に変える。
ここまで来て初めて、場の提案が自然になる。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【52:00-53:30】
★『学ぶ場』ではなく『伴走する場』と言い切る。ここが差別化。
※サロンの様子の写真（salon-zoom.png / training-workshop.jpg）を入れてもよい。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【53:30-54:30】
★主語を必ずメンバーにする。自分の実績にしない。
『あの人にできたなら、私にも』という自己投影が、問合せを生む。
※許可済みの写真や声を1〜2つ入れると、さらに効きます。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【54:30-56:00】
★ここで初めて『メンター』という言葉を出す。
「1対1で伴走してほしい、という方には こちらがあります」
売り込まない。選択肢として置くだけ。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【56:00-57:00】
★持ち帰りは必ず1つに絞る。3つ渡すと0個になる。
数字（90秒）が入っていることが重要。抽象的な標語は持ち帰れない。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【57:00-57:40】
冒頭（12枚目）と同じ言葉で閉じる。
読んだあと、3秒 黙る。ここで拍手が来る設計。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【57:40-60:00】
★このスライドを30秒 黙って映す。読み取り待ち。ここを急ぐと激減します。
★Q&amp;Aの間も、このスライドを出しっぱなしにする。
★チャットにも同じリンクを投下（事前にメモ帳に用意してコピペ／共同ホストに依頼）。
　ただしチャットは録画に残らないので、画面表示が本体です。
★短縮URLは口頭でも読み上げる（音声だけで聴いている人がいます）。
【Q&amp;Aのコツ】
質問には即答せず、まず「その患者さん、なんて仰ってました？」と聴き返す。
傾聴の実演が、いちばん強い営業になります。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1005840"/>
            <a:ext cx="4846320" cy="4846320"/>
          </a:xfrm>
          <a:prstGeom prst="ellipse">
            <a:avLst/>
          </a:prstGeom>
          <a:solidFill>
            <a:srgbClr val="3530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APNET 講演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鍼灸師のための傾聴トレーニング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00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米倉まな（よねくら まな）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認定鍼灸師／はりきゅう処ここちめいど 院長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 主宰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00200"/>
            <a:ext cx="107286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最後に患者さんの話を、</a:t>
            </a:r>
            <a:endParaRPr lang="en-US" sz="4000" dirty="0"/>
          </a:p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最後まで遮らずに聴いたのは</a:t>
            </a:r>
            <a:endParaRPr lang="en-US" sz="4000" dirty="0"/>
          </a:p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いつですか？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89204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いまは答えなくて大丈夫です。思い出しながら、聞いてください。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4937760" y="2834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9659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医師が、患者の話を遮るまでの時間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26060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話し始めてから遮られるまでの中央値。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先行研究では平均18秒と報告されている。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36576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Singh Ospina et al., 2019 ／ Beckman &amp; Frankel, 1984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では、私たち鍼灸師は？　――　私たちには 40分 あります。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1179"/>
            <a:ext cx="10728655" cy="120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私も、聴けていませんでした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66912"/>
            <a:ext cx="10728655" cy="3317221"/>
          </a:xfrm>
          <a:prstGeom prst="roundRect">
            <a:avLst>
              <a:gd name="adj" fmla="val 275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724460"/>
            <a:ext cx="9814255" cy="251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開業してしばらく、私は「主訴を聞き出す」ことに必死でした。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患者さんの話を、情報として処理していたんです。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いま思い出しても苦しいのは、涙をこぼした方に、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次の質問をかぶせてしまったこと。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70100"/>
            <a:ext cx="10728655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いまの私の話ではありません。これから話すことは、全部そこから始まっています。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4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9296"/>
            <a:ext cx="10728655" cy="1231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変わったのは、症状ではありませんでした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通院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続くようになった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7738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3498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紹介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増えた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83957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9717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249717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消耗しなくなった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11年目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鍼灸院 開業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07738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20,000人+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07738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のべ臨床患者数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883957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修士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883957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武蔵野大学大学院 人間学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8164"/>
            <a:ext cx="10728655" cy="118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いま、やっていること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574716"/>
            <a:ext cx="548640" cy="5486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臨床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三重県四日市市／2015年開院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2026年夏 町田院オープン予定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7738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2574716"/>
            <a:ext cx="548640" cy="5486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13578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学び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27778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傾聴を学ぶ鍼灸師コミュニティ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2020年4月開始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83957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03997" y="2574716"/>
            <a:ext cx="548640" cy="5486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3997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89797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育成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03997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ここちはり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03997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感情・心・身体・技術の4軸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2025年11月開始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77824"/>
            <a:ext cx="10728655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研究：全日本鍼灸学会「鍼灸院におけるうつと不安症状を有する患者の実態調査」第3報・第4報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2026.06 日本精神神経学会 鍼灸シンポジウム シンポジスト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鍼灸師は、どう見られているか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医師の先生方から、こう言われます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7417"/>
            <a:ext cx="3256178" cy="2450592"/>
          </a:xfrm>
          <a:prstGeom prst="roundRect">
            <a:avLst>
              <a:gd name="adj" fmla="val 373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906146"/>
            <a:ext cx="274320" cy="27432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859512"/>
            <a:ext cx="274320" cy="367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08919"/>
            <a:ext cx="2616098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「患者さんと、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時間がある」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67417"/>
            <a:ext cx="3256178" cy="2450592"/>
          </a:xfrm>
          <a:prstGeom prst="roundRect">
            <a:avLst>
              <a:gd name="adj" fmla="val 373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27778" y="2906146"/>
            <a:ext cx="274320" cy="27432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859512"/>
            <a:ext cx="274320" cy="367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3508919"/>
            <a:ext cx="2616098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「身体全体を、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見てくれる」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67417"/>
            <a:ext cx="3256178" cy="2450592"/>
          </a:xfrm>
          <a:prstGeom prst="roundRect">
            <a:avLst>
              <a:gd name="adj" fmla="val 373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03997" y="2906146"/>
            <a:ext cx="274320" cy="27432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3997" y="2859512"/>
            <a:ext cx="274320" cy="367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3997" y="3508919"/>
            <a:ext cx="2616098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「東洋医学の、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専門家だから」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69392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これが、外から見た私たちです。期待されている、ということでもあります。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鍼灸師は、どう見られているか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81945"/>
            <a:ext cx="10728655" cy="793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では、できているでしょうか。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848847"/>
            <a:ext cx="566928" cy="566928"/>
          </a:xfrm>
          <a:prstGeom prst="ellipse">
            <a:avLst/>
          </a:prstGeom>
          <a:solidFill>
            <a:srgbClr val="4A423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781050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758388"/>
            <a:ext cx="9814255" cy="77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東洋医学、できていますか？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4151910"/>
            <a:ext cx="566928" cy="566928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4084113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？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4061451"/>
            <a:ext cx="9814255" cy="77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対話、できていますか？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704444"/>
            <a:ext cx="10728655" cy="623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私は、胸を張って「はい」とは言えませんでした。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今日のテーマ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今日は、対話の話をします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1423"/>
            <a:ext cx="10728655" cy="2681886"/>
          </a:xfrm>
          <a:prstGeom prst="roundRect">
            <a:avLst>
              <a:gd name="adj" fmla="val 3410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3062744"/>
            <a:ext cx="2743200" cy="1049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　話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62744"/>
            <a:ext cx="731520" cy="1049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2689612"/>
            <a:ext cx="5486400" cy="443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そのための、ひとつの技法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062744"/>
            <a:ext cx="5486400" cy="1049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　聴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4345385"/>
            <a:ext cx="9448495" cy="524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東洋医学の話は、今日はしません。対話だけに、絞ります。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86328"/>
            <a:ext cx="10728655" cy="64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対話は、才能ではありません。学べる技法です。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3898"/>
            <a:ext cx="10728655" cy="1136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でも、こうなっていませんか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69587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87184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42731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69587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問診票を見ながら「他には？」と聞いている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405844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623442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578988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05844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話が長い患者さんに、内心あせっている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542101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759699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715245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542101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沈黙が怖くて、つい説明を始めてしまう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894788"/>
            <a:ext cx="10728655" cy="432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Zoom投票：当てはまるもの全部（複数選択可）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「聴けない」のは、性格ではありません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時間の圧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次の患者さんが待っている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07738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経営の圧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1人あたりの単価と回転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83957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職業的責任感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「治さなければ」という思い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855840"/>
            <a:ext cx="10728655" cy="5887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構造の問題です。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621180"/>
            <a:ext cx="10728655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悪いのは、あなたではありません。習っていないだけです。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身体の主訴の、その後ろにあるもの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5900760" cy="3798418"/>
          </a:xfrm>
          <a:prstGeom prst="roundRect">
            <a:avLst>
              <a:gd name="adj" fmla="val 240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3937772"/>
            <a:ext cx="5352120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学会発表の図をここに貼付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734215"/>
            <a:ext cx="535212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全日本鍼灸学会 第3報・第4報</a:t>
            </a:r>
            <a:endParaRPr lang="en-US" sz="11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「鍼灸院におけるうつと不安症状を有する患者の実態調査」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135200" y="2773741"/>
            <a:ext cx="4324975" cy="343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肩こりで、腰痛で、不眠で来られる。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でもその方の生活には、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必ず心の話があります。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私はそれを、感覚ではなく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データで確かめたくて、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調べ続けてきました。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聴くことは、治療の一部です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94704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342672"/>
            <a:ext cx="457200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28442"/>
            <a:ext cx="3210458" cy="50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治療同盟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45833"/>
            <a:ext cx="3210458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関係の質そのものが、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転帰に影響する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07738" y="2394704"/>
            <a:ext cx="457200" cy="45720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07738" y="2342672"/>
            <a:ext cx="457200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07738" y="3128442"/>
            <a:ext cx="3210458" cy="50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安心と自律神経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307738" y="3745833"/>
            <a:ext cx="3210458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『わかってもらえた』は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身体の状態を変える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83957" y="2394704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883957" y="2342672"/>
            <a:ext cx="457200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883957" y="3128442"/>
            <a:ext cx="3210458" cy="50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語りが変える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883957" y="3745833"/>
            <a:ext cx="3210458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話すことで、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痛みの意味づけが変わる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766384"/>
            <a:ext cx="10728655" cy="561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傾聴は、施術の前段階ではありません。施術そのものです。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558146"/>
            <a:ext cx="5760720" cy="5760720"/>
          </a:xfrm>
          <a:prstGeom prst="ellipse">
            <a:avLst/>
          </a:prstGeom>
          <a:solidFill>
            <a:srgbClr val="342F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200303"/>
            <a:ext cx="9418320" cy="174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000" dirty="0"/>
          </a:p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218116"/>
            <a:ext cx="941832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これこそが、鍼灸のチカラだと思っています。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0551"/>
            <a:ext cx="10728655" cy="127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傾聴の、3つの誤解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3577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3577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黙って聞くこと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7738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79796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79796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共感して、同意すること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83957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56014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56014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58277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アドバイスを我慢すること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78510"/>
            <a:ext cx="10728655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全部、ちがいます。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鍼灸師の言葉に、翻訳すると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7361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287361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自己一致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87361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287361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術者が整っていないと、鍼はぶれる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433929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97280" y="3433929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無条件の肯定的関心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3433929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433929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証を立てる前に、まず在るものに触れる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580497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97280" y="4580497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共感的理解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4580497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4580497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相手の世界の「内側」から聴く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890860"/>
            <a:ext cx="10728655" cy="436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カール・ロジャーズが示した3条件（1957）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沈黙を待つ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「置鍼の待ち時間、あなたは待てますよね。あれと同じです。」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相手が言い終わってから、心のなかで 1・2・3。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たった3秒。ここで多くの人が、自分の言葉をかぶせています。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解釈を置く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「頭に浮かんだ「証」を、いったん脇に置く。」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早すぎる解釈は、患者さんの話を止めます。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診立てはあとからでも間に合う。まず、最後まで。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自分を整える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「疲れている日は、聴けません。」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傾聴は知識ではなく「状態」です。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だからこそ、一度学べば終わりではなく、訓練なのです。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ここまでは、知識です。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知識では、1ミリも変わりません。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では、やってみましょう。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今日は、顔が見えないほうが好都合です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63121"/>
            <a:ext cx="10728655" cy="2973395"/>
          </a:xfrm>
          <a:prstGeom prst="roundRect">
            <a:avLst>
              <a:gd name="adj" fmla="val 30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771235"/>
            <a:ext cx="9631375" cy="2215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表情という情報がない分、声そのものを聴くしかない。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これは、電話相談とまったく同じ条件です。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カメラは、オフのままで大丈夫です。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44629"/>
            <a:ext cx="10728655" cy="583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使うもの：紙とペン ／ チャット ／ 耳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思い出せますか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78164"/>
            <a:ext cx="10728655" cy="3330507"/>
          </a:xfrm>
          <a:prstGeom prst="roundRect">
            <a:avLst>
              <a:gd name="adj" fmla="val 274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556628"/>
            <a:ext cx="411480" cy="41148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516674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451156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紙とペンを用意してください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3000" y="3342846"/>
            <a:ext cx="411480" cy="41148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302892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237374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直近に施術した患者さんを、1人 思い浮かべてください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4129064"/>
            <a:ext cx="411480" cy="4114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089111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4023592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その方が言った「言葉そのもの」を、3つ書き出してください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689694"/>
            <a:ext cx="9082735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要約ではなく、口にした言葉のまま。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781663"/>
            <a:ext cx="10728655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時間は 90秒 です。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348740"/>
            <a:ext cx="3291840" cy="3291840"/>
          </a:xfrm>
          <a:prstGeom prst="ellipse">
            <a:avLst/>
          </a:prstGeom>
          <a:solidFill>
            <a:srgbClr val="2B2620"/>
          </a:solidFill>
          <a:ln w="3810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34874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32232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0520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患者さんが言った「言葉そのもの」を、3つ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783080"/>
            <a:ext cx="3291840" cy="3291840"/>
          </a:xfrm>
          <a:prstGeom prst="ellipse">
            <a:avLst/>
          </a:prstGeom>
          <a:solidFill>
            <a:srgbClr val="2B2620"/>
          </a:solidFill>
          <a:ln w="38100">
            <a:solidFill>
              <a:srgbClr val="A2937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7830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のこり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3657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症状は、書けたはずです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5914"/>
            <a:ext cx="10728655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でも「言葉」は、書けましたか？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40695"/>
            <a:ext cx="10728655" cy="1739919"/>
          </a:xfrm>
          <a:prstGeom prst="roundRect">
            <a:avLst>
              <a:gd name="adj" fmla="val 525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280160" y="3689706"/>
            <a:ext cx="9631375" cy="1010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私たちは、聴いたつもりで「情報」に変換しています。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人の言葉としては、残っていないんです。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5261246"/>
            <a:ext cx="10728655" cy="1066402"/>
          </a:xfrm>
          <a:prstGeom prst="roundRect">
            <a:avLst>
              <a:gd name="adj" fmla="val 8575"/>
            </a:avLst>
          </a:prstGeom>
          <a:solidFill>
            <a:srgbClr val="5E706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5261246"/>
            <a:ext cx="9814255" cy="106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チャットへ　「何個 書けましたか？」　数字だけ送ってください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10秒、黙ってみます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3679"/>
            <a:ext cx="10728655" cy="2794341"/>
          </a:xfrm>
          <a:prstGeom prst="roundRect">
            <a:avLst>
              <a:gd name="adj" fmla="val 3272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819858"/>
            <a:ext cx="9631375" cy="208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今から10秒、私は何も話しません。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みなさんも、何もしないでください。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スマホも、見ないでください。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14199"/>
            <a:ext cx="10728655" cy="713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では、いきます。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どうでしたか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8216"/>
            <a:ext cx="10728655" cy="1107735"/>
          </a:xfrm>
          <a:prstGeom prst="roundRect">
            <a:avLst>
              <a:gd name="adj" fmla="val 8255"/>
            </a:avLst>
          </a:prstGeom>
          <a:solidFill>
            <a:srgbClr val="5E706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2188216"/>
            <a:ext cx="9814255" cy="1107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チャットへ　落ち着かなかった方は「1」を送ってください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704064"/>
            <a:ext cx="10728655" cy="2623584"/>
          </a:xfrm>
          <a:prstGeom prst="roundRect">
            <a:avLst>
              <a:gd name="adj" fmla="val 34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80160" y="4112177"/>
            <a:ext cx="9631375" cy="2098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たった10秒でも、落ち着かないですよね。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この居心地の悪さが、あなたが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患者さんの沈黙をつぶしている理由です。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聴き比べてみてください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10728655" cy="1960474"/>
          </a:xfrm>
          <a:prstGeom prst="roundRect">
            <a:avLst>
              <a:gd name="adj" fmla="val 466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712476"/>
            <a:ext cx="963137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患者さんの、同じ一言に対して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63859"/>
            <a:ext cx="963137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「最近、夜眠れなくて……仕事も、まあ、いろいろあって」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795479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2通りの応対を、音声で聴いていただきます。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目を閉じて聴いてください。顔が見えないぶん、声に集中できます。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9447"/>
            <a:ext cx="10728655" cy="1157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何が、違いましたか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40165"/>
            <a:ext cx="5227168" cy="3305908"/>
          </a:xfrm>
          <a:prstGeom prst="roundRect">
            <a:avLst>
              <a:gd name="adj" fmla="val 27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462550"/>
            <a:ext cx="457200" cy="45720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415657"/>
            <a:ext cx="45720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415657"/>
            <a:ext cx="403844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聴けていない応対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87036"/>
            <a:ext cx="4587088" cy="137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「そうですか、不眠ですね。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何時ごろお休みですか？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肩こりはあります？」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674694"/>
            <a:ext cx="458708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患者さんの話は、そこで終わる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140165"/>
            <a:ext cx="5227168" cy="3305908"/>
          </a:xfrm>
          <a:prstGeom prst="roundRect">
            <a:avLst>
              <a:gd name="adj" fmla="val 27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462550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415657"/>
            <a:ext cx="45720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47408" y="2415657"/>
            <a:ext cx="403844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傾聴の応対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187036"/>
            <a:ext cx="4587088" cy="137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「……いろいろ、あって」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（そして、黙る）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674694"/>
            <a:ext cx="458708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患者さんが、自分から続きを話し出す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776663"/>
            <a:ext cx="1072865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Aで取れた情報と、Bで取れた情報。どちらが多かったですか？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傾聴は、優しさの話ではありません。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情報量の話です。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8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1197"/>
            <a:ext cx="10728655" cy="1126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最後に、ひとつだけ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37629"/>
            <a:ext cx="10728655" cy="1447881"/>
          </a:xfrm>
          <a:prstGeom prst="roundRect">
            <a:avLst>
              <a:gd name="adj" fmla="val 6315"/>
            </a:avLst>
          </a:prstGeom>
          <a:solidFill>
            <a:srgbClr val="9C54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2037629"/>
            <a:ext cx="9814255" cy="14478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あなたが最後に「ちゃんと聴いてもらえた」のは、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いつ、誰にですか？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807262"/>
            <a:ext cx="10728655" cy="1716008"/>
          </a:xfrm>
          <a:prstGeom prst="roundRect">
            <a:avLst>
              <a:gd name="adj" fmla="val 532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80160" y="4182638"/>
            <a:ext cx="9631375" cy="101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チャットに打ってください。でも、まだ送らないでください。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私が 3・2・1 と数えたら、全員 同時に送信します。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898646"/>
            <a:ext cx="10728655" cy="429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全部は読めません。3つだけ拾わせてください。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いまのは、全部で 13分です。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あなたの施術は、40分あります。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778240" y="338328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35302A"/>
          </a:solidFill>
          <a:ln w="12700">
            <a:solidFill>
              <a:srgbClr val="A2937F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869680" y="365760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ここに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公式LINEのQRを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貼ってください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5029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先に撮っておきたい方はどうぞ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明日からできる、3つの型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75561" y="2935224"/>
            <a:ext cx="768096" cy="7680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75561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遮らない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7738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51780" y="2935224"/>
            <a:ext cx="768096" cy="768096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51780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反復＋一拍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相手の言葉のまま返す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3957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27998" y="2935224"/>
            <a:ext cx="768096" cy="7680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27998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12557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締めを閉じない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12557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開いた質問で終わる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全部やらなくていいです。ひとつだけ選んでください。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最初の90秒は、遮らない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ペンを、いったん置く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「今日はどうされましたか？」のあと、90秒 何も足さない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90秒です。1日10人でも15分。それだけです。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反復して、一拍おく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「ずっと、しんどかったんですね」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要約もリフレーミングもしない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言い換えた瞬間、それは自分の言葉になります。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施術後を、閉じない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✕　「軽くなりましたか？」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◯　「いま、どんな感じですか？」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閉じた質問は、情報を閉じる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最後のひとことで、次回の情報量が決まります。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3898"/>
            <a:ext cx="10728655" cy="1136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実際に、こう変わりました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1372"/>
            <a:ext cx="10728655" cy="3354664"/>
          </a:xfrm>
          <a:prstGeom prst="roundRect">
            <a:avLst>
              <a:gd name="adj" fmla="val 272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540124"/>
            <a:ext cx="9631375" cy="486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ご自身の症例を1つ（個人が特定されない形で）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081199"/>
            <a:ext cx="9631375" cy="227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語るのは、症状の改善ではなく——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・関係が、どう変わったか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・通院が、どう続くようになったか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・その方が、何を話せるようになったか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786573"/>
            <a:ext cx="10728655" cy="54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鍼灸症例データベース構築プロジェクト（株式会社ケアクル／東京有明医療大学／玉川大学／ここちめいど）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ただ、私は一度 失敗しています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83202"/>
            <a:ext cx="10728655" cy="2708127"/>
          </a:xfrm>
          <a:prstGeom prst="roundRect">
            <a:avLst>
              <a:gd name="adj" fmla="val 3377"/>
            </a:avLst>
          </a:prstGeom>
          <a:solidFill>
            <a:srgbClr val="3530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854181"/>
            <a:ext cx="9631375" cy="1883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聴きすぎて、自分が消耗した時期があります。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カウンセラーになろうとして、施術がぶれた時期もありました。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傾聴には、自分を守る技術がセットで必要です。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03435"/>
            <a:ext cx="10728655" cy="82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ひとりでやると、壊れます。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傾聴が、独学で伸びない3つの理由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1829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02675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62545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81829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自分の聴き方は、自分では見えない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181829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フィードバックしてくれる人が要る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98011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518857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78727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98011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聴きっぱなしだと、消耗する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298011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受け止めてもらう側が要る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4414193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635039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594908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414193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3週間で、元に戻る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414193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続ける仕組みが要る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才能の話ではありません。環境の話です。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だから、場をつくりました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78164"/>
            <a:ext cx="5578901" cy="3166712"/>
          </a:xfrm>
          <a:prstGeom prst="roundRect">
            <a:avLst>
              <a:gd name="adj" fmla="val 288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560353"/>
            <a:ext cx="4664501" cy="1037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オンラインサロン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ここちめいど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761520"/>
            <a:ext cx="4664501" cy="873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傾聴を学ぶ、鍼灸師のコミュニティ</a:t>
            </a:r>
            <a:endParaRPr lang="en-US" sz="14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2020年4月から、5年目です。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744292"/>
            <a:ext cx="4664501" cy="382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cocochimade.me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7621" y="2433847"/>
            <a:ext cx="384048" cy="384048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7621" y="2396558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6261" y="2363799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学ぶだけでは、終わらせない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767621" y="3471218"/>
            <a:ext cx="384048" cy="384048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7621" y="3433929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6261" y="3401170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書く・出す・立つ　まで伴走する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767621" y="4508589"/>
            <a:ext cx="384048" cy="384048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7621" y="4471300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6261" y="4438541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5年間で、学会発表の体制をつくった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767621" y="5563269"/>
            <a:ext cx="4692554" cy="76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 全日本鍼灸学会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「鍼灸師コミュニティの学会発表体制構築 ―5年間の分析―」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4253"/>
            <a:ext cx="10728655" cy="1212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メンバーに、起きたこと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学会発表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はじめての演題を、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自分の名前で出した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7738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書籍出版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サロンから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著者が生まれた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83957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院が変わった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予約が埋まり、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紹介が増えた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34740"/>
            <a:ext cx="10728655" cy="692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全部、私ではなく、メンバーがやったことです。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1対1で伴走してほしい方へ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10728655" cy="3369564"/>
          </a:xfrm>
          <a:prstGeom prst="roundRect">
            <a:avLst>
              <a:gd name="adj" fmla="val 27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773741"/>
            <a:ext cx="3657600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ここちはり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570183"/>
            <a:ext cx="5029200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施術者育成・コンサル／2025年11月開始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234440" y="4453037"/>
            <a:ext cx="868680" cy="8686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0" y="4453037"/>
            <a:ext cx="868680" cy="86868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8600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37560" y="4453037"/>
            <a:ext cx="868680" cy="8686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3756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4453037"/>
            <a:ext cx="868680" cy="86868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8912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技術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4244096"/>
            <a:ext cx="505937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この4つの軸で、あなたの臨床を一緒に見ていきます。</a:t>
            </a:r>
            <a:endParaRPr lang="en-US" sz="15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症例データベースも、公開して運用しています。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9738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今日、ひとつだけ持ち帰るなら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731520" y="2628900"/>
            <a:ext cx="10728655" cy="1600200"/>
          </a:xfrm>
          <a:prstGeom prst="roundRect">
            <a:avLst>
              <a:gd name="adj" fmla="val 6857"/>
            </a:avLst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28900"/>
            <a:ext cx="1072865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最初の90秒、遮らない。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0342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これだけです。明日の、1人目からできます。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558146"/>
            <a:ext cx="5760720" cy="5760720"/>
          </a:xfrm>
          <a:prstGeom prst="ellipse">
            <a:avLst/>
          </a:prstGeom>
          <a:solidFill>
            <a:srgbClr val="342F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108584"/>
            <a:ext cx="9418320" cy="174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000" dirty="0"/>
          </a:p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126397"/>
            <a:ext cx="9418320" cy="55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それが、私たちの持っているチカラです。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98768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その質問、そのまま送ってください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834005"/>
            <a:ext cx="6008047" cy="3405709"/>
          </a:xfrm>
          <a:prstGeom prst="roundRect">
            <a:avLst>
              <a:gd name="adj" fmla="val 26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234440" y="2212417"/>
            <a:ext cx="5002207" cy="2459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「うちの院では、どうしたらいいんだろう」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今日の話で、そう思った方。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その質問を、そのまま送ってください。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私が、全部読みます。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42487" y="1834005"/>
            <a:ext cx="4217688" cy="3405709"/>
          </a:xfrm>
          <a:prstGeom prst="roundRect">
            <a:avLst>
              <a:gd name="adj" fmla="val 2685"/>
            </a:avLst>
          </a:prstGeom>
          <a:solidFill>
            <a:srgbClr val="FCFAF4"/>
          </a:solidFill>
          <a:ln w="19050">
            <a:solidFill>
              <a:srgbClr val="9C544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516807" y="3016542"/>
            <a:ext cx="3669048" cy="851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公式LINEのQRコードを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ここに大きく貼ってください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16807" y="4482889"/>
            <a:ext cx="3669048" cy="37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短縮URLをここに（口頭でも読み上げる）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5428919"/>
            <a:ext cx="10728655" cy="898729"/>
          </a:xfrm>
          <a:prstGeom prst="roundRect">
            <a:avLst>
              <a:gd name="adj" fmla="val 10174"/>
            </a:avLst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5428919"/>
            <a:ext cx="9997135" cy="89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録画でご覧の方も、同じように送ってください。全部読みます。　／　本日のスライドをお送りします。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経絡に触れ、こころに耳を傾ける</dc:title>
  <dc:subject>APNET 講演 60分 / 鍼灸師のための傾聴トレーニング</dc:subject>
  <dc:creator>米倉まな</dc:creator>
  <cp:lastModifiedBy>米倉まな</cp:lastModifiedBy>
  <cp:revision>1</cp:revision>
  <dcterms:created xsi:type="dcterms:W3CDTF">2026-09-13T11:26:04Z</dcterms:created>
  <dcterms:modified xsi:type="dcterms:W3CDTF">2026-09-13T11:26:04Z</dcterms:modified>
</cp:coreProperties>
</file>