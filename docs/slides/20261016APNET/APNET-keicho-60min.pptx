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PHQ-9</c:v>
                </c:pt>
              </c:strCache>
            </c:strRef>
          </c:tx>
          <c:spPr>
            <a:solidFill>
              <a:srgbClr val="C92A78"/>
            </a:solidFill>
            <a:ln w="31750" cap="flat">
              <a:solidFill>
                <a:srgbClr val="C92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2A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初診</c:v>
                  </c:pt>
                  <c:pt idx="1">
                    <c:v>5診目</c:v>
                  </c:pt>
                  <c:pt idx="2">
                    <c:v>10診目</c:v>
                  </c:pt>
                  <c:pt idx="3">
                    <c:v>15診目</c:v>
                  </c:pt>
                  <c:pt idx="4">
                    <c:v>20診目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17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CDD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6F6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D2EB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6F60"/>
                </a:solidFill>
                <a:latin typeface="游ゴシック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0FAF5"/>
        </a:solidFill>
        <a:ln w="12700" cap="flat">
          <a:solidFill>
            <a:srgbClr val="F0FAF5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【0:00-0:20】
開始前アナウンスで「紙とペンをご用意ください」を流してもらう。
カメラオフでOKと最初に明言する。
自分のカメラは必ずONにする。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【0:20-1:20】最重要スライド。
ゆっくり読み上げて、5秒黙る。
ここで主語が「私」から「あなた」に移る。刺さらないと最後のCTAが効かない。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【1:20-2:50】
「これは医師を対象にした研究です」と必ず断る。鍼灸師のデータではない。
最後の一行で、問題提起から一転して『鍼灸師は聴ける職種』という誇りを立てる。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【2:50-4:10】
★非常に個人的な開示です。話すかどうかは、ご自身で決めてください。
　削除しても講演は成立します。ただ、この講演では最も強い一枚になり得ます。
淡々と言う。同情を求めない。事実だけ置いて、最後の一行に重心をかける。
★ここが、41枚目のワーク④『最後にちゃんと聴いてもらえたのはいつ？』への伏線になります。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【4:10-5:20】
自己開示。ここが弱いと、後半すべてが『上手い人の話』になって他人事になる。
エピソードは1つだけ。具体的に、短く。
※ここに当時の写真を1枚入れてもよい。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【5:20-6:15】
傾聴で何が変わったかを、症状の改善ではなく『関係・継続・自分の消耗度』で語る。
数字は信頼の担保として置くだけ。誇らない。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【6:15-7:20】20秒で流す。
「詳しくは最後に」と言って進む＝最後まで残る理由をつくる。
実績の羅列にならないよう、早口にならず淡々と。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【7:20-8:30】
★『40分あります』（3枚目）を受けて、「実際、医師の先生方からもこう言われます」と繋ぐ。
★これは調査データではなく、ご自身が言われてきた実感として話すこと。
　「私が言われるのは」「よく言われるのは」という言い方で。データとして提示しない。
誇らしい気持ちで読み上げてよい。次のスライドの落差が効きます。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【8:30-9:25】
★講演でいちばん空気が変わる場所。ここは急がない。
2つの問いを読んだあと、必ず3秒黙る。会場（画面の向こう）に考えさせる。
最後の一行は、自分のこととして静かに言う。責める調子にしない。
※ここで『私も聴けていませんでした』（4枚目）を思い出してもらえると効く。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【9:25-9:55】
★テーマ宣言。ここで聴衆に今日の地図を渡す。
『東洋医学の話はしません』と絞ることで、話が締まる。欲張らない。
★『技法です』と言い切ることが、後半の『訓練』『環境』の話への伏線になる。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【9:55-11:05】
★8枚目の「東洋医学、できていますか？」への答えを、ここで返す。
四診のうち「問」だけを朱にしているのがポイント。望・聞・切は自分で取れるが、
問診だけは患者さんに話してもらわないと1ミリも進まない。
★最後の一行は、責めずに、自分の実感として。ここで会場が静かになります。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【11:05-12:25】
★東洋医学（前スライド）と現代の疼痛診療が、同じ結論に着地することを見せる。
「古い/新しい」の話ではなく、どちらも入口は対話だ、と。
★出典は必ず明示すること。原典のスライドをそのまま複写せず、要約で提示しています。
　もし図表をそのまま使う場合は、事前に許諾を取ってください。
読み上げは5つ全部やらない。①と③だけ読んで、「全部そうです」と締めるとテンポが保てます。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【12:25-13:45】
★ご自身の学会発表からの引用なので、堂々と出せます。
★②と④は傾聴そのもの。①も、聴かなければ異変に気づけない。③も、
　困りごとを聞き出せなければ どの資源に繋ぐか決められない。
　→「4つとも入口は聴くこと」という締めに説得力が出ます。
読み上げは①と②だけ。③④は「こういうこともします」と流す。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【13:45-15:30】
★この講演でいちばん強い実例。ここを丁寧に。
会話を実際に演じる（患者役と自分役で声色を変える）と一気に引き込めます。
★言いたいのは「傾聴＝優しさ」ではなく「傾聴＝安全性」。
　聴いていなければ、幻視も手の震えも出てこなかった。
　うつの薬を出し続けられていたかもしれない、という重さ。
下段の診断名リストは読み上げない。目で見せるだけで十分効きます。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【15:30-16:50】自覚のスイッチ。
★Zoom投票をここで使う（カメラオフ100名の参加感をつくる）。
投票を締めて結果を画面共有し、「8割の方が③ですね」と読み上げる。
その数字が次のスライドに直結する。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【16:50-17:30】
★ここで責めると問合せは来ない。必ず逃げ道を用意する。
「習っていないだけ」＝『習えば変わる』への伏線。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【17:30-18:45】
★ご自身の第4報のデータ。数字はPDFの記載どおりです。発表前に最新値をご確認ください。
★締めの一行がこのスライドの主役。
　「受診を迷っている方が来る」＝だからレッドフラッグを拾う耳が要る、
　という13枚目への回収になります。
数字は読み上げず、「うつ病が3割弱、10年以上の方が4分の1」くらいで流す。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【18:45-19:20】
この講演を貫く一行。ここで一度置いて、最後（53枚目）で同じ言葉に戻る。
読んだあと一拍おいてから次へ。急がない。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【19:20-20:25】
言い切る。ここで『え、違うの？』という顔をさせたい。
特に③は多くの人が『我慢すること』だと思っている。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【20:25-21:45】
ロジャーズをそのまま説明すると眠くなる。必ず鍼灸の言葉に翻訳して話す。
『証を立てる前に』のくだりが、この講演でいちばん鍼灸師に刺さる言い回し。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【21:45-22:50】沈黙は『気を待つ』のと同じ、と重ねると鍼灸師には一発で伝わる。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【22:50-23:55】その場で1回、声に出して実演してみせるとよい。
★実例を足すなら：「薬が怖い」と言われたとき、
　『どんなところが怖いですか？』『どうしてそう思うんですか？』と返すだけ。
　それで出てきた不安を、主治医に相談できる形に整理して渡す。
　（服薬アドヒアランスの支援＝反復と問い返しだけで成立します）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【23:55-24:55】ここで『訓練』という言葉を初めて出す。後半のサロンの話への伏線。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【24:55-25:20】
ワークへの切り替え。ここで声のトーンを一段上げる。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【25:20-26:00】
★制約を『わざとそうした』に変える。ここで場の空気が一段変わる。
『カメラはオフのままで大丈夫』は必ず言う。言うほど参加率が上がる。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【26:00-27:00】
★カメラオフでも100%全員が当事者になる、唯一のワーク。絶対に削らない。
『紙とペン』は開始前アナウンスでも流してもらうこと。
録画で見ている方へ：「ここで一時停止してください」と一言添える。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【27:00-28:30】
ここは黙る。BGMを小さくかけてもよい。
タイマーはスマホか腕時計で計る（PowerPointは自動カウントダウンできません）。
途中で話しかけない。60秒過ぎたら次のスライドへ。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【28:30-29:00】
無言でこのスライドに切り替えるだけ。声はかけない。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【29:00-30:20】
★数字1文字なら100名でも一気に流れる。
「0」「1」が並ぶ光景そのものがメッセージ。『ほら、みなさん同じです』と拾う。
★サロンメンバー1〜2名に、最初に投げる役を頼んでおくこと（口火を切る役）。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【30:20-30:50】
次の10枚が1秒ずつのカウントダウンスライドです。
★事前設定：カウントダウン10枚を選択 →「画面切り替え」→「自動的に切り替え 00:01」
　クリック時のチェックは外す。これで自動で10秒進みます。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★このスライドから10枚が、10秒のカウントダウンです。
【設定方法】
1. スライド一覧でこの10枚を選択
2.「画面切り替え」タブ →「自動的に切り替え」に 00:01 と入力
3.「クリック時」のチェックを外す
これで自動的に10秒進みます。数字を画面に出すことで、
アーカイブ視聴者に『配信事故』と誤解されるのを防げます。
この10秒、絶対に話しかけないこと。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無言。（自動切り替え 1秒）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【31:00-31:50】
『あなたが沈黙をつぶしている理由』——ここは責めるトーンにしない。
自分もそうだった、という言い方で。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【31:50-32:30】
★音声は事前録音しておく（パターンA・B 各60秒）。生の実演はぶれる。
相方はサロンメンバーに依頼。音量を揃えること。
★Zoomの画面共有で「コンピューターの音声を共有」を必ずON。リハで要テスト。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【32:30-36:10】
2本の音声を流したあと、このスライドで問いかける。
答えは待たなくていい。次のスライドで言い切る。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【36:10-36:40】
この講演でいちばん強いメッセージ。ゆっくり、間を空けて言う。
『優しくしましょう』では鍼灸師は動かない。『情報が取れる』なら動く。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【36:40-39:00】
★一斉送信にすることで『自分だけ書く』恥ずかしさが消える。
★共同ホストに事前依頼：流れてきた投稿を3つコピーしておいてもらう。
★『全部は読めません、3つだけ』を先に宣言（読まれない不満を防ぐ）。
拾った言葉に短くコメントする。ここで出た言葉が、この講演で一番強いコピーになる。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【39:00-39:30】
★希望のピーク。ここで聴衆は『やってみたい』状態。
『あとで出しますが、先に撮っておきたい方はどうぞ』と一言だけ。売り込まない。
★QR画像を貼り替えてください（点線枠を削除して画像を配置）。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【39:30-40:10】
先に3つ見せてから、1枚ずつ展開する（地図を渡してから歩く）。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【40:10-41:50】『90秒』という具体的な数字が、持ち帰りやすさを決める。ここを一番ゆっくり話す。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【41:50-43:10】その場で1回、声に出して実演してみせるとよい。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【43:10-44:30】✕と◯の対比は音読する。耳だけで聴いている人がいる。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【44:30-45:40】
★共同演者（松浦悠人先生・柴田健一先生）のお名前と学会名・年をご確認ください。
『目標：働くこと』を必ず読む。これが傾聴で聴き取った治療目標です。
症状ではなく、その人が何をしたいのか。ここが後半の型②③に繋がります。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【45:40-46:50】
★ここを丁寧にやると、鍼灸師の聴衆が『自分にもできる』と思えます。
　奇をてらった手技は使っていない、と言い切ること。
★締めの一行が重要：差は鍼灸の腕ではなく、上に乗せた傾聴にある、という含み。
　言い過ぎない。「特別なことはしていません」で止めて、次のスライドへ。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【46:50-48:20】
★この講演の核心スライド。いちばん時間をかけてよい場所です。
受容共感 → 情報整理 → 行動と問題の焦点化 → 感情の認知。
いきなり4段目をやると失敗します。信頼ができる前に感情に触れない。
★「順番がある」＝「学べる」ということ。
　才能の話ではないという、この講演全体の主張がここで実証されます。
　57枚目『独学で伸びない理由』への最短の橋になります。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【48:20-49:30】
★5診目で いったん上がっている（13→17）ことを隠さない。
　「最初はむしろ上がりました」と正直に言うほうが、信頼されます。
　※理由は症例報告では述べられていないので、推測を語らないこと。
★PHQ-15（身体症状）がほぼ横ばいであることも、そのまま伝える。
　過大に言わないことが、この講演全体の誠実さを担保します。
締めの一行は、静かに。「入院は、回避できました」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【49:30-50:10】
★「症状が良くなりました」ではなく「生活が動きました」で語る。
　鍼灸師の聴衆には、こちらのほうが圧倒的に刺さります。
★締めの2行が、次の『私の失敗（ひとりでやると壊れます）』への橋です。
　抱え込まないこと、外に繋ぐこと。ここを言っておくと、
　後半のサロン／ここちはりの話が『仲間が要る』という文脈で通ります。
※個別の症例を語る場合は、個人が特定されない形で。掲載許可の確認を。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【50:10-51:30】
★ここが、後半への唯一の橋。飛ばすと最後がただの宣伝になる。
弱さを見せることで、次のスライドの提案が『売り込み』でなく『招待』になる。
声を落として、ゆっくり。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【51:30-52:40】
★『できない自分が悪い』を『環境がなかっただけ』に変える。
ここまで来て初めて、場の提案が自然になる。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【52:40-53:50】
★『学ぶ場』ではなく『伴走する場』と言い切る。ここが差別化。
※サロンの様子の写真（salon-zoom.png / training-workshop.jpg）を入れてもよい。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【53:50-54:45】
★主語を必ずメンバーにする。自分の実績にしない。
『あの人にできたなら、私にも』という自己投影が、問合せを生む。
※許可済みの写真や声を1〜2つ入れると、さらに効きます。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【54:45-55:45】
★ここで初めて『メンター』という言葉を出す。
「1対1で伴走してほしい、という方には こちらがあります」
売り込まない。選択肢として置くだけ。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【55:45-56:40】
★持ち帰りは必ず1つに絞る。3つ渡すと0個になる。
数字（90秒）が入っていることが重要。抽象的な標語は持ち帰れない。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【56:40-57:30】
冒頭（12枚目）と同じ言葉で閉じる。
読んだあと、3秒 黙る。ここで拍手が来る設計。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【57:30-60:00】
★このスライドを30秒 黙って映す。読み取り待ち。ここを急ぐと激減します。
★Q&amp;Aの間も、このスライドを出しっぱなしにする。
★チャットにも同じリンクを投下（事前にメモ帳に用意してコピペ／共同ホストに依頼）。
　ただしチャットは録画に残らないので、画面表示が本体です。
★短縮URLは口頭でも読み上げる（音声だけで聴いている人がいます）。
【Q&amp;Aのコツ】
質問には即答せず、まず「その患者さん、なんて仰ってました？」と聴き返す。
傾聴の実演が、いちばん強い営業になります。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005840"/>
            <a:ext cx="4846320" cy="4846320"/>
          </a:xfrm>
          <a:prstGeom prst="ellipse">
            <a:avLst/>
          </a:prstGeom>
          <a:solidFill>
            <a:srgbClr val="1B4E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APNET 講演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鍼灸師のための傾聴トレーニング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00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米倉まな（よねくら まな）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認定鍼灸師／はりきゅう処ここちめいど 院長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 主宰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00200"/>
            <a:ext cx="10728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最後に患者さんの話を、</a:t>
            </a:r>
            <a:endParaRPr lang="en-US" sz="4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最後まで遮らずに聴いたのは</a:t>
            </a:r>
            <a:endParaRPr lang="en-US" sz="4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いつですか？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892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いまは答えなくて大丈夫です。思い出しながら、聞いてください。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4937760" y="2834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医師が、患者の話を遮るまでの時間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2606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話し始めてから遮られるまでの中央値。</a:t>
            </a:r>
            <a:endParaRPr lang="en-US" sz="14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先行研究では平均18秒と報告されている。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Singh Ospina et al., 2019 ／ Beckman &amp; Frankel, 1984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120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では、私たち鍼灸師は？　――　私たちには 40分 あります。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私は、聴いてもらう側でした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7417"/>
            <a:ext cx="5793474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896271"/>
            <a:ext cx="4879074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うつ病・パニック障害・双極性障害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508919"/>
            <a:ext cx="4879074" cy="1715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最重症期は、1日30錠。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患者だった期間は、8年。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いまは16年間、寛解。投薬もありません。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73634" y="2896271"/>
            <a:ext cx="4386541" cy="147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あのとき私がいちばん欲しかったのは、</a:t>
            </a:r>
            <a:endParaRPr lang="en-US" sz="2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正しい助言では、ありませんでした。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73634" y="4489155"/>
            <a:ext cx="438654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ただ、話を最後まで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聴いてもらうことでした。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1179"/>
            <a:ext cx="10728655" cy="1201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私も、聴けていませんでした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66912"/>
            <a:ext cx="10728655" cy="3317221"/>
          </a:xfrm>
          <a:prstGeom prst="roundRect">
            <a:avLst>
              <a:gd name="adj" fmla="val 2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724460"/>
            <a:ext cx="9814255" cy="251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開業してしばらく、私は「主訴を聞き出す」ことに必死でした。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患者さんの話を、情報として処理していたんです。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いま思い出しても苦しいのは、涙をこぼした方に、</a:t>
            </a:r>
            <a:endParaRPr lang="en-US" sz="16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次の質問をかぶせてしまったこと。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70100"/>
            <a:ext cx="10728655" cy="457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いまの私の話ではありません。これから話すことは、全部そこから始まっています。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9296"/>
            <a:ext cx="10728655" cy="1231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変わったのは、症状ではありませんでした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通院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続くようになった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7738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73498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紹介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増えた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83957" y="2433766"/>
            <a:ext cx="3256178" cy="2169784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9717" y="2785622"/>
            <a:ext cx="2570378" cy="527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49717" y="3430693"/>
            <a:ext cx="2570378" cy="820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消耗しなくなった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11年目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鍼灸院 開業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07738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20,000人+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のべ臨床患者数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83957" y="5189978"/>
            <a:ext cx="3256178" cy="703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修士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883957" y="5917148"/>
            <a:ext cx="3256178" cy="41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武蔵野大学大学院 人間学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4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8164"/>
            <a:ext cx="10728655" cy="1189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いま、やっていること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74716"/>
            <a:ext cx="548640" cy="5486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臨床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はりきゅう処ここちめいど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三重県四日市市／2015年開院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2026年夏 町田院オープン予定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7738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2574716"/>
            <a:ext cx="548640" cy="54864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13578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学び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オンラインサロン ここちめいど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27778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傾聴を学ぶ鍼灸師コミュニティ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2020年4月開始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3957" y="2191839"/>
            <a:ext cx="3256178" cy="2946056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03997" y="2574716"/>
            <a:ext cx="548640" cy="5486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03997" y="2509107"/>
            <a:ext cx="548640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89797" y="2588424"/>
            <a:ext cx="1976018" cy="509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育成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03997" y="3415585"/>
            <a:ext cx="261609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ここちはり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03997" y="4140768"/>
            <a:ext cx="2616098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感情・心・身体・技術の4軸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2025年11月開始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477824"/>
            <a:ext cx="10728655" cy="84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研究：全日本鍼灸学会「鍼灸院におけるうつと不安症状を有する患者の実態調査」第3報・第4報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2026.06 日本精神神経学会 鍼灸シンポジウム シンポジスト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鍼灸師は、どう見られているか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医師の先生方から、こう言われます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906146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「患者さんと、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時間がある」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07738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27778" y="2906146"/>
            <a:ext cx="274320" cy="27432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7778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27778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「身体全体を、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見てくれる」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83957" y="2467417"/>
            <a:ext cx="3256178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03997" y="2906146"/>
            <a:ext cx="274320" cy="27432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03997" y="2859512"/>
            <a:ext cx="274320" cy="36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03997" y="3508919"/>
            <a:ext cx="2616098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「東洋医学の、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　専門家だから」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69392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これが、外から見た私たちです。期待されている、ということでもあります。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4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鍼灸師は、どう見られているか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81945"/>
            <a:ext cx="10728655" cy="793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では、できているでしょうか。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848847"/>
            <a:ext cx="566928" cy="566928"/>
          </a:xfrm>
          <a:prstGeom prst="ellipse">
            <a:avLst/>
          </a:prstGeom>
          <a:solidFill>
            <a:srgbClr val="2C644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781050"/>
            <a:ext cx="566928" cy="70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758388"/>
            <a:ext cx="9814255" cy="7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東洋医学、できていますか？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4151910"/>
            <a:ext cx="566928" cy="566928"/>
          </a:xfrm>
          <a:prstGeom prst="ellipse">
            <a:avLst/>
          </a:prstGeom>
          <a:solidFill>
            <a:srgbClr val="34D39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084113"/>
            <a:ext cx="566928" cy="70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？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061451"/>
            <a:ext cx="9814255" cy="77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対話、できていますか？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04444"/>
            <a:ext cx="10728655" cy="623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B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私は、胸を張って「はい」とは言えませんでした。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今日のテーマ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今日は、対話の話をします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21423"/>
            <a:ext cx="10728655" cy="2681886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3062744"/>
            <a:ext cx="274320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　話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062744"/>
            <a:ext cx="73152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2689612"/>
            <a:ext cx="5486400" cy="443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そのための、ひとつの技法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062744"/>
            <a:ext cx="5486400" cy="104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　聴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345385"/>
            <a:ext cx="9448495" cy="524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東洋医学の話は、今日はしません。対話だけに、絞ります。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686328"/>
            <a:ext cx="10728655" cy="64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対話は、才能ではありません。学べる技法です。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「証」は、聞かなければ立ちません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63121"/>
            <a:ext cx="182880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013657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望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3013657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聞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聞く・嗅ぐ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013657"/>
            <a:ext cx="914400" cy="9144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2608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問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尋ねる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3013657"/>
            <a:ext cx="914400" cy="914400"/>
          </a:xfrm>
          <a:prstGeom prst="ellipse">
            <a:avLst/>
          </a:prstGeom>
          <a:solidFill>
            <a:srgbClr val="CDEB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23360" y="2887838"/>
            <a:ext cx="914400" cy="1166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切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205460"/>
            <a:ext cx="1097280" cy="40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触れる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2479725"/>
            <a:ext cx="5973775" cy="2915093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2829536"/>
            <a:ext cx="5059375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主訴の、その裏にあること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412555"/>
            <a:ext cx="5059375" cy="991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睡眠　／　食欲　／　便通　／　月経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情志　／　生活リズム　／　仕事と家族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520290"/>
            <a:ext cx="5059375" cy="466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どれも、聞かなければ出てきません。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686328"/>
            <a:ext cx="10728655" cy="64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東洋医学ができていない、のではなく ――　聞けていないだけ、かもしれません。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現代の慢性疼痛診療でも、同じです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219456" cy="21945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患者教育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965960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医療者と患者の信頼関係を築く／痛みへの捉え方を是正する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60904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843784"/>
            <a:ext cx="219456" cy="21945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843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609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目標設定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660904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QOLにつながる目標を、患者と協働で設定する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355848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538728"/>
            <a:ext cx="219456" cy="219456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538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3558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協働的意思決定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355848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患者の主体性と参加を引き出す（shared decision-making）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050792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233672"/>
            <a:ext cx="219456" cy="21945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233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0507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ペーシングの管理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050792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「0か100か」という患者さんの思考パターンをつかむ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745736"/>
            <a:ext cx="10728655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4928616"/>
            <a:ext cx="219456" cy="21945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05840" y="4928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74573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アドヒアランスの管理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4745736"/>
            <a:ext cx="670529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続けられない理由を、一緒に分析する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864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慢性疼痛診療研修会「痛みの治療」（日本いたみ財団）より要約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5つとも、患者さんから話を聴かなければ、始まりません。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2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3562"/>
            <a:ext cx="10728655" cy="105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地域の鍼灸師に、求められている4つの役割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87655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63816"/>
            <a:ext cx="457200" cy="4572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40036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9750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レッドフラッグのアセスメント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814511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器質的疾患・神経疾患・精神疾患の可能性を念頭に問診し、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専門医への早期紹介を判断する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2087655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7328" y="2363816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2340036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01688" y="2309750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話を聴き、困りごとを整理する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25616" y="2814511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症状そのものより「症状によって できなくなったこと」に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焦点を当てる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52414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3928575"/>
            <a:ext cx="457200" cy="4572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904795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4509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医療・福祉等に繋げる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379270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精神科、訪問看護、ハローワーク、地域包括支援センター。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多様な資源への橋渡し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652414"/>
            <a:ext cx="5227168" cy="1362855"/>
          </a:xfrm>
          <a:prstGeom prst="roundRect">
            <a:avLst>
              <a:gd name="adj" fmla="val 6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7328" y="3928575"/>
            <a:ext cx="457200" cy="45720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07328" y="3904795"/>
            <a:ext cx="457200" cy="504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01688" y="3874509"/>
            <a:ext cx="4084168" cy="4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服薬アドヒアランスの向上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25616" y="4379270"/>
            <a:ext cx="4641952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薬への不安・不満を傾聴して言語化。医師・薬剤師と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共有できる形に整理する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368602"/>
            <a:ext cx="10728655" cy="55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4つとも、入口は同じです。――　聴くこと。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974315"/>
            <a:ext cx="10728655" cy="35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米倉まな「地域医療における鍼灸師と精神科医との連携の実際」（2026.06）より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6692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聴いていたから、気づけました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最近、気分が落ち込んでいて、眠れません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6397" y="2532888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123C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6437" y="2532888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落ち込みと、眠れない。日中の眠気はありますか？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91256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3191256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眠気はないんですが、時々ぼーっとして、誰かいるように感じたり、虫が見えるような気がして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06397" y="3849624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6437" y="3849624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（あれっ）手が震えたり、お薬が効きすぎることはありませんか？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507992"/>
            <a:ext cx="815377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51560" y="4507992"/>
            <a:ext cx="751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あります。うつのお薬を飲むと、逆効果に感じるんです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035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神経内科にご高診を依頼　→　レビー小体型認知症でした。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521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抑うつを訴えて来院され、ご高診後に判明した診断名（当院事例）：パーキンソン病／レビー小体型認知症／アルツハイマー病／脳腫瘍／甲状腺機能亢進症・低下症／更年期障害／月経前不快気分障害／産後うつ／糖尿病／微小血管狭心症　など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1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なぜ、鍼灸師に傾聴か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3898"/>
            <a:ext cx="10728655" cy="1136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でも、こうなっていませんか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69587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87184"/>
            <a:ext cx="484632" cy="484632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42731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69587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問診票を見ながら「他には？」と聞いている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405844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3623442"/>
            <a:ext cx="484632" cy="484632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578988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05844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話が長い患者さんに、内心あせっている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542101"/>
            <a:ext cx="10728655" cy="919827"/>
          </a:xfrm>
          <a:prstGeom prst="roundRect">
            <a:avLst>
              <a:gd name="adj" fmla="val 9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759699"/>
            <a:ext cx="484632" cy="484632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715245"/>
            <a:ext cx="484632" cy="5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542101"/>
            <a:ext cx="9448495" cy="919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沈黙が怖くて、つい説明を始めてしまう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4788"/>
            <a:ext cx="10728655" cy="43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2A7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Zoom投票：当てはまるもの全部（複数選択可）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なぜ、鍼灸師に傾聴か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「聴けない」のは、性格ではありません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時間の圧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次の患者さんが待っている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7738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経営の圧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1人あたりの単価と回転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83957" y="2383202"/>
            <a:ext cx="3256178" cy="2001659"/>
          </a:xfrm>
          <a:prstGeom prst="roundRect">
            <a:avLst>
              <a:gd name="adj" fmla="val 4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736436"/>
            <a:ext cx="2616098" cy="529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職業的責任感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3348708"/>
            <a:ext cx="2616098" cy="76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「治さなければ」という思い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55840"/>
            <a:ext cx="10728655" cy="58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構造の問題です。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21180"/>
            <a:ext cx="10728655" cy="706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悪いのは、あなたではありません。習っていないだけです。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なぜ、対話が要るのか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5954"/>
            <a:ext cx="10728655" cy="1068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鍼灸院に、どんな方が来ているか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診断名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うつ病　28%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うつ状態　20%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不眠症・睡眠障害　15%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自律神経失調症　15%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07738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病　歴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10年以上　25%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5〜10年　22%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慢性的な経過の方が多い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83957" y="2102687"/>
            <a:ext cx="3256178" cy="2799673"/>
          </a:xfrm>
          <a:prstGeom prst="roundRect">
            <a:avLst>
              <a:gd name="adj" fmla="val 32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408106"/>
            <a:ext cx="2616098" cy="427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来院の背景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2968040"/>
            <a:ext cx="2616098" cy="17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精神科で治療中の方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他科から受診を勧められた方</a:t>
            </a:r>
            <a:endParaRPr lang="en-US" sz="13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受診を迷っている・未受診の方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56876"/>
            <a:ext cx="10728655" cy="61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受診を迷っている方が、鍼灸院には来ます。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69520"/>
            <a:ext cx="10728655" cy="45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米倉まな・松浦悠人ら「鍼灸院におけるうつと不安症状を有する患者の実態調査（第4報）電子システムを用いた集積」第74回 全日本鍼灸学会学術大会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558146"/>
            <a:ext cx="5760720" cy="5760720"/>
          </a:xfrm>
          <a:prstGeom prst="ellipse">
            <a:avLst/>
          </a:prstGeom>
          <a:solidFill>
            <a:srgbClr val="1845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2200303"/>
            <a:ext cx="9418320" cy="174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000" dirty="0"/>
          </a:p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218116"/>
            <a:ext cx="9418320" cy="45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これこそが、鍼灸のチカラだと思っています。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0551"/>
            <a:ext cx="10728655" cy="1273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傾聴の、3つの誤解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577" y="3014718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577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黙って聞くこと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07738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79796" y="3014718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79796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共感して、同意すること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883957" y="2567178"/>
            <a:ext cx="3256178" cy="2304804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56014" y="3014718"/>
            <a:ext cx="512064" cy="512064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56014" y="2931094"/>
            <a:ext cx="512064" cy="679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3840886"/>
            <a:ext cx="2707538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アドバイスを我慢すること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78510"/>
            <a:ext cx="10728655" cy="84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全部、ちがいます。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鍼灸師の言葉に、翻訳すると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7361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87361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自己一致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87361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287361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術者が整っていないと、鍼はぶれる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33929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97280" y="3433929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無条件の肯定的関心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433929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433929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証を立てる前に、まず在るものに触れる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580497"/>
            <a:ext cx="10728655" cy="960933"/>
          </a:xfrm>
          <a:prstGeom prst="roundRect">
            <a:avLst>
              <a:gd name="adj" fmla="val 9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97280" y="4580497"/>
            <a:ext cx="310896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共感的理解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580497"/>
            <a:ext cx="457200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580497"/>
            <a:ext cx="6248095" cy="96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相手の世界の「内側」から聴く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0860"/>
            <a:ext cx="10728655" cy="43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カール・ロジャーズが示した3条件（1957）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沈黙を待つ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「置鍼の待ち時間、あなたは待てますよね。あれと同じです。」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相手が言い終わってから、心のなかで 1・2・3。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たった3秒。ここで多くの人が、自分の言葉をかぶせています。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解釈を置く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「頭に浮かんだ「証」を、いったん脇に置く。」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早すぎる解釈は、患者さんの話を止めます。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診立てはあとからでも間に合う。まず、最後まで。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傾聴の正体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77480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50551"/>
            <a:ext cx="777240" cy="1031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50551"/>
            <a:ext cx="2743200" cy="42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原則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87251"/>
            <a:ext cx="7315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自分を整える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2688483"/>
            <a:ext cx="10728655" cy="1637624"/>
          </a:xfrm>
          <a:prstGeom prst="roundRect">
            <a:avLst>
              <a:gd name="adj" fmla="val 5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188720" y="2688483"/>
            <a:ext cx="9814255" cy="163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「疲れている日は、聴けません。」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0677"/>
            <a:ext cx="10728655" cy="157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傾聴は知識ではなく「状態」です。</a:t>
            </a:r>
            <a:endParaRPr lang="en-US" sz="16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だからこそ、一度学べば終わりではなく、訓練なのです。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ここまでは、知識です。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知識では、1ミリも変わりません。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D3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では、やってみましょう。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今日は、顔が見えないほうが好都合です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63121"/>
            <a:ext cx="10728655" cy="2973395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771235"/>
            <a:ext cx="9631375" cy="2215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表情という情報がない分、声そのものを聴くしかない。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これは、電話相談とまったく同じ条件です。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カメラは、オフのままで大丈夫です。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44629"/>
            <a:ext cx="10728655" cy="58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使うもの：紙とペン ／ チャット ／ 耳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思い出せますか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78164"/>
            <a:ext cx="10728655" cy="3330507"/>
          </a:xfrm>
          <a:prstGeom prst="roundRect">
            <a:avLst>
              <a:gd name="adj" fmla="val 2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56628"/>
            <a:ext cx="411480" cy="411480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516674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451156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紙とペンを用意してください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3342846"/>
            <a:ext cx="411480" cy="411480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02892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237374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直近に施術した患者さんを、1人 思い浮かべてください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143000" y="4129064"/>
            <a:ext cx="411480" cy="41148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89111"/>
            <a:ext cx="411480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4023592"/>
            <a:ext cx="9082735" cy="6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その方が言った「言葉そのもの」を、3つ書き出してください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689694"/>
            <a:ext cx="9082735" cy="49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要約ではなく、口にした言葉のまま。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81663"/>
            <a:ext cx="10728655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時間は 90秒 です。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348740"/>
            <a:ext cx="3291840" cy="3291840"/>
          </a:xfrm>
          <a:prstGeom prst="ellipse">
            <a:avLst/>
          </a:prstGeom>
          <a:solidFill>
            <a:srgbClr val="123C2A"/>
          </a:solidFill>
          <a:ln w="38100">
            <a:solidFill>
              <a:srgbClr val="34D39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3487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32232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50520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患者さんが言った「言葉そのもの」を、3つ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3128" y="1783080"/>
            <a:ext cx="3291840" cy="3291840"/>
          </a:xfrm>
          <a:prstGeom prst="ellipse">
            <a:avLst/>
          </a:prstGeom>
          <a:solidFill>
            <a:srgbClr val="123C2A"/>
          </a:solidFill>
          <a:ln w="38100">
            <a:solidFill>
              <a:srgbClr val="8FB8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53128" y="178308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657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のこり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25204"/>
            <a:ext cx="10728655" cy="1178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症状は、書けたはずです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05914"/>
            <a:ext cx="10728655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でも「言葉」は、書けましたか？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40695"/>
            <a:ext cx="10728655" cy="1739919"/>
          </a:xfrm>
          <a:prstGeom prst="roundRect">
            <a:avLst>
              <a:gd name="adj" fmla="val 5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80160" y="3689706"/>
            <a:ext cx="9631375" cy="1010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私たちは、聴いたつもりで「情報」に変換しています。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人の言葉としては、残っていないんです。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261246"/>
            <a:ext cx="10728655" cy="1066402"/>
          </a:xfrm>
          <a:prstGeom prst="roundRect">
            <a:avLst>
              <a:gd name="adj" fmla="val 8575"/>
            </a:avLst>
          </a:prstGeom>
          <a:solidFill>
            <a:srgbClr val="34D39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5261246"/>
            <a:ext cx="9814255" cy="106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チャットへ　「何個 書けましたか？」　数字だけ送ってください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3839"/>
            <a:ext cx="10728655" cy="124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10秒、黙ってみます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3679"/>
            <a:ext cx="10728655" cy="2794341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819858"/>
            <a:ext cx="9631375" cy="208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今から10秒、私は何も話しません。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みなさんも、何もしないでください。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スマホも、見ないでください。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14199"/>
            <a:ext cx="10728655" cy="713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では、いきます。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10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7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6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2C644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F15C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F15C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600200"/>
            <a:ext cx="2743200" cy="2743200"/>
          </a:xfrm>
          <a:prstGeom prst="ellipse">
            <a:avLst/>
          </a:prstGeom>
          <a:solidFill>
            <a:srgbClr val="123C2A"/>
          </a:solidFill>
          <a:ln w="31750">
            <a:solidFill>
              <a:srgbClr val="F15C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727448" y="1600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92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沈黙のワーク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7386"/>
            <a:ext cx="10728655" cy="1224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どうでしたか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8216"/>
            <a:ext cx="10728655" cy="1107735"/>
          </a:xfrm>
          <a:prstGeom prst="roundRect">
            <a:avLst>
              <a:gd name="adj" fmla="val 8255"/>
            </a:avLst>
          </a:prstGeom>
          <a:solidFill>
            <a:srgbClr val="34D39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188216"/>
            <a:ext cx="9814255" cy="110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チャットへ　落ち着かなかった方は「1」を送ってください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704064"/>
            <a:ext cx="10728655" cy="2623584"/>
          </a:xfrm>
          <a:prstGeom prst="roundRect">
            <a:avLst>
              <a:gd name="adj" fmla="val 3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4112177"/>
            <a:ext cx="9631375" cy="209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たった10秒でも、落ち着かないですよね。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この居心地の悪さが、あなたが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患者さんの沈黙をつぶしている理由です。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聴き比べてみてください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6152"/>
            <a:ext cx="10728655" cy="1960474"/>
          </a:xfrm>
          <a:prstGeom prst="roundRect">
            <a:avLst>
              <a:gd name="adj" fmla="val 46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712476"/>
            <a:ext cx="9631375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患者さんの、同じ一言に対して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63859"/>
            <a:ext cx="963137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「最近、夜眠れなくて……仕事も、まあ、いろいろあって」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95479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2通りの応対を、音声で聴いていただきます。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30657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目を閉じて聴いてください。顔が見えないぶん、声に集中できます。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9447"/>
            <a:ext cx="10728655" cy="115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何が、違いましたか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40165"/>
            <a:ext cx="5227168" cy="3305908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62550"/>
            <a:ext cx="457200" cy="457200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415657"/>
            <a:ext cx="45720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15657"/>
            <a:ext cx="403844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聴けていない応対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87036"/>
            <a:ext cx="4587088" cy="137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「そうですか、不眠ですね。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何時ごろお休みですか？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肩こりはあります？」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674694"/>
            <a:ext cx="458708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患者さんの話は、そこで終わる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140165"/>
            <a:ext cx="5227168" cy="3305908"/>
          </a:xfrm>
          <a:prstGeom prst="roundRect">
            <a:avLst>
              <a:gd name="adj" fmla="val 27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3048" y="2462550"/>
            <a:ext cx="457200" cy="45720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3048" y="2415657"/>
            <a:ext cx="457200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2415657"/>
            <a:ext cx="403844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傾聴の応対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187036"/>
            <a:ext cx="4587088" cy="137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「……いろいろ、あって」</a:t>
            </a: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endParaRPr lang="en-US" sz="14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（そして、黙る）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674694"/>
            <a:ext cx="4587088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患者さんが、自分から続きを話し出す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776663"/>
            <a:ext cx="10728655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Aで取れた情報と、Bで取れた情報。どちらが多かったですか？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傾聴は、優しさの話ではありません。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情報量の話です。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8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体験ワーク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1197"/>
            <a:ext cx="10728655" cy="112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最後に、ひとつだけ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37629"/>
            <a:ext cx="10728655" cy="1447881"/>
          </a:xfrm>
          <a:prstGeom prst="roundRect">
            <a:avLst>
              <a:gd name="adj" fmla="val 6315"/>
            </a:avLst>
          </a:prstGeom>
          <a:solidFill>
            <a:srgbClr val="177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037629"/>
            <a:ext cx="9814255" cy="1447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あなたが最後に「ちゃんと聴いてもらえた」のは、</a:t>
            </a:r>
            <a:endParaRPr lang="en-US" sz="2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いつ、誰にですか？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807262"/>
            <a:ext cx="10728655" cy="1716008"/>
          </a:xfrm>
          <a:prstGeom prst="roundRect">
            <a:avLst>
              <a:gd name="adj" fmla="val 5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4182638"/>
            <a:ext cx="9631375" cy="101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チャットに打ってください。でも、まだ送らないでください。</a:t>
            </a:r>
            <a:endParaRPr lang="en-US" sz="1800" dirty="0"/>
          </a:p>
          <a:p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私が 3・2・1 と数えたら、全員 同時に送信します。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98646"/>
            <a:ext cx="10728655" cy="429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全部は読めません。3つだけ拾わせてください。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B8A2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いまのは、全部で 13分です。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あなたの施術は、40分あります。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778240" y="3383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1B4E36"/>
          </a:solidFill>
          <a:ln w="12700">
            <a:solidFill>
              <a:srgbClr val="8FB8A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8696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ここに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公式LINEのQRを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貼ってください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5029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先に撮っておきたい方はどうぞ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9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3839"/>
            <a:ext cx="10728655" cy="124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明日からできる、3つの型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5561" y="2935224"/>
            <a:ext cx="768096" cy="76809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5561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遮らない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7738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1780" y="2935224"/>
            <a:ext cx="768096" cy="768096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51780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反復＋一拍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36338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相手の言葉のまま返す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83957" y="2463133"/>
            <a:ext cx="3256178" cy="2734887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27998" y="2935224"/>
            <a:ext cx="768096" cy="768096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27998" y="2819858"/>
            <a:ext cx="768096" cy="99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型3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112557" y="4008939"/>
            <a:ext cx="2798978" cy="535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締めを閉じない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12557" y="4544026"/>
            <a:ext cx="2798978" cy="475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開いた質問で終わる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33107"/>
            <a:ext cx="10728655" cy="59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全部やらなくていいです。ひとつだけ選んでください。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最初の90秒は、遮らない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問診票を見ない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ペンを、いったん置く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「今日はどうされましたか？」のあと、90秒 何も足さない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90秒です。1日10人でも15分。それだけです。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反復して、一拍おく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相手の言葉を、相手の言葉のまま返す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「ずっと、しんどかったんですね」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要約もリフレーミングもしない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言い換えた瞬間、それは自分の言葉になります。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91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31520" y="713658"/>
            <a:ext cx="777240" cy="77724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625204"/>
            <a:ext cx="777240" cy="954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625204"/>
            <a:ext cx="2743200" cy="392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 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29314"/>
            <a:ext cx="8686800" cy="695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施術後を、閉じない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398799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691731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662593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398799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✕　「軽くなりましたか？」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431525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724457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95319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1525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◯　「いま、どんな感じですか？」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464251"/>
            <a:ext cx="10728655" cy="841896"/>
          </a:xfrm>
          <a:prstGeom prst="roundRect">
            <a:avLst>
              <a:gd name="adj" fmla="val 10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57183"/>
            <a:ext cx="256032" cy="256032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728045"/>
            <a:ext cx="256032" cy="314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●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4251"/>
            <a:ext cx="9539935" cy="84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閉じた質問は、情報を閉じる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10257"/>
            <a:ext cx="10728655" cy="6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最後のひとことで、次回の情報量が決まります。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6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8386"/>
            <a:ext cx="10728655" cy="1078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標準治療で、難渋していた方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17975"/>
            <a:ext cx="6008047" cy="2823561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426000"/>
            <a:ext cx="5093647" cy="41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42歳　女性　主婦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39375"/>
            <a:ext cx="5093647" cy="184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主訴：全身倦怠感・頭痛・睡眠障害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うつ病の発症から17年。再発をくり返してきた。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2ヶ月前、任意入院を勧められた。</a:t>
            </a:r>
            <a:endParaRPr lang="en-US" sz="14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4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けれど子どもは3歳。入院は、難しかった。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242487" y="2220650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初診時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42487" y="2549210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PHQ-9　13点　／　PHQ-15　20点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42487" y="3165260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東洋医学的病態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42487" y="3493819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脾陽虚・胃熱・肝鬱気滞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242487" y="4109869"/>
            <a:ext cx="4217688" cy="308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ご本人の目標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42487" y="4438429"/>
            <a:ext cx="4217688" cy="431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「働くこと」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49561"/>
            <a:ext cx="10728655" cy="56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入院を避けたい。それが、来院の理由でした。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68286"/>
            <a:ext cx="10728655" cy="35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米倉まな・松浦悠人・柴田健一「標準治療で難渋したうつ病患者に鍼灸と傾聴が奏功した一症例」日本うつ病学会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3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5938"/>
            <a:ext cx="10728655" cy="110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鍼灸で、やっていたこと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65447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65447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温補脾陽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65447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全身倦怠感・めまい・冷え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24126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2924126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清胃熱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924126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胃のむかつき・便秘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682806"/>
            <a:ext cx="6222620" cy="632233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3682806"/>
            <a:ext cx="146304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疏肝理気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682806"/>
            <a:ext cx="4028060" cy="63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頭痛・睡眠障害・イライラ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9900" y="2165447"/>
            <a:ext cx="4140275" cy="2465709"/>
          </a:xfrm>
          <a:prstGeom prst="roundRect">
            <a:avLst>
              <a:gd name="adj" fmla="val 37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39940" y="2428877"/>
            <a:ext cx="3500195" cy="3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使った経穴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39940" y="2818754"/>
            <a:ext cx="3500195" cy="895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百会　風池　完骨　肩井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足三里　三陰交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639940" y="3798715"/>
            <a:ext cx="3500195" cy="42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2A7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＋　腹部の散鍼（鍼による擦過刺激）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99751"/>
            <a:ext cx="10728655" cy="84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使用鍼：0.12〜0.20mm ステンレス鍼　／　灸：温筒灸・棒灸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10診目〜 頭部に電気鍼（1Hz・15分）　／　15診目〜 頭痛にセルフケアの耳灸を指導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748101"/>
            <a:ext cx="10728655" cy="579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鍼灸は、特別なことをしていません。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同じように、聴いていたわけではありません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72873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72873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2–4診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072873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受容と共感で、まず信頼関係をつくる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072873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072873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頭痛薬と頓服が、止まった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33839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51560" y="2933839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5–10診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933839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家族の課題について、情報を整理する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933839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33839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抑うつを感じにくくなり、出かけるように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806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51560" y="3794806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11–15診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794806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行動と問題に焦点を当て、できる範囲を明確に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794806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794806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主治医も親も「回復に驚いている」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655772"/>
            <a:ext cx="10728655" cy="740831"/>
          </a:xfrm>
          <a:prstGeom prst="roundRect">
            <a:avLst>
              <a:gd name="adj" fmla="val 123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51560" y="4655772"/>
            <a:ext cx="100584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16–20診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655772"/>
            <a:ext cx="44805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どう感じているかを聴き、感情の認知を促す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655772"/>
            <a:ext cx="365760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655772"/>
            <a:ext cx="3916375" cy="740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「次回も鍼灸、楽しみにしている」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726974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傾聴にも、順番があります。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5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88898"/>
            <a:ext cx="10728655" cy="104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20診　184日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08692"/>
            <a:ext cx="6437193" cy="317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PHQ-9（うつ症状）の推移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356195"/>
          <a:ext cx="6437193" cy="25814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83286" y="2157622"/>
            <a:ext cx="4076889" cy="297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PHQ-9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83286" y="2455481"/>
            <a:ext cx="4076889" cy="94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13　→　5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383286" y="3547631"/>
            <a:ext cx="4076889" cy="1489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身体症状（PHQ-15）は 20 → 19。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大きくは変わっていません。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変わったのは、気分と睡眠、</a:t>
            </a: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そして日常生活でした。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85141"/>
            <a:ext cx="10728655" cy="59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入院は、回避できました。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980146"/>
            <a:ext cx="10728655" cy="347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米倉まな・松浦悠人・柴田健一「標準治療で難渋したうつ病患者に鍼灸と傾聴が奏功した一症例」日本うつ病学会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60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591211"/>
            <a:ext cx="10728655" cy="105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続けて来られた方に、起きたこと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72873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293120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復職・転職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753637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鍼灸を続けながら復職、または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より自分に合った職場へ移った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3008" y="2072873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98768" y="2293120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起業・就労形態の変更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753637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新しい働き方を選び、自分の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ペースで社会参加を続けている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574558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794806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2A78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日常生活の安定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255322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就労形態を調整しながら、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安定した生活を継続している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3008" y="3574558"/>
            <a:ext cx="5227168" cy="130146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98768" y="3794806"/>
            <a:ext cx="4495648" cy="42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多職種連携による支援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98768" y="4255322"/>
            <a:ext cx="4495648" cy="550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医師・薬剤師・行政制度を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組み合わせて社会復帰を目指す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226412"/>
            <a:ext cx="10728655" cy="60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鍼灸院の中だけで、支援を完結させない。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877142"/>
            <a:ext cx="10728655" cy="45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医師・行政制度・地域の医療資源を、組み合わせて使う。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6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明日からの臨床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40581"/>
            <a:ext cx="10728655" cy="1236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ただ、私は一度 失敗しています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83202"/>
            <a:ext cx="10728655" cy="2708127"/>
          </a:xfrm>
          <a:prstGeom prst="roundRect">
            <a:avLst>
              <a:gd name="adj" fmla="val 3377"/>
            </a:avLst>
          </a:prstGeom>
          <a:solidFill>
            <a:srgbClr val="1B4E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854181"/>
            <a:ext cx="9631375" cy="188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聴きすぎて、自分が消耗した時期があります。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カウンセラーになろうとして、施術がぶれた時期もありました。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傾聴には、自分を守る技術がセットで必要です。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503435"/>
            <a:ext cx="10728655" cy="824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ひとりでやると、壊れます。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7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08545"/>
            <a:ext cx="10728655" cy="1116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傾聴が、独学で伸びない3つの理由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81829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02675"/>
            <a:ext cx="493776" cy="493776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62545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81829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自分の聴き方は、自分では見えない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81829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フィードバックしてくれる人が要る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8011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518857"/>
            <a:ext cx="493776" cy="493776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3478727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98011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聴きっぱなしだと、消耗する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298011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受け止めてもらう側が要る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414193"/>
            <a:ext cx="10728655" cy="935467"/>
          </a:xfrm>
          <a:prstGeom prst="roundRect">
            <a:avLst>
              <a:gd name="adj" fmla="val 9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635039"/>
            <a:ext cx="493776" cy="493776"/>
          </a:xfrm>
          <a:prstGeom prst="ellipse">
            <a:avLst/>
          </a:prstGeom>
          <a:solidFill>
            <a:srgbClr val="123C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94908"/>
            <a:ext cx="493776" cy="574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14193"/>
            <a:ext cx="4937760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3週間で、元に戻る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414193"/>
            <a:ext cx="4419295" cy="935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　続ける仕組みが要る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689830"/>
            <a:ext cx="10728655" cy="63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才能の話ではありません。環境の話です。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283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16647"/>
            <a:ext cx="10728655" cy="114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だから、場をつくりました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78164"/>
            <a:ext cx="5578901" cy="3166712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2560353"/>
            <a:ext cx="4664501" cy="1037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オンラインサロン</a:t>
            </a:r>
            <a:endParaRPr lang="en-US" sz="25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5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ここちめいど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761520"/>
            <a:ext cx="4664501" cy="873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傾聴を学ぶ、鍼灸師のコミュニティ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2020年4月から、5年目です。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744292"/>
            <a:ext cx="4664501" cy="38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2A7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cocochimade.me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7621" y="2433847"/>
            <a:ext cx="384048" cy="38404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7621" y="2396558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6261" y="2363799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学ぶだけでは、終わらせない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67621" y="3471218"/>
            <a:ext cx="384048" cy="384048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7621" y="3433929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6261" y="3401170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書く・出す・立つ　まで伴走する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67621" y="4508589"/>
            <a:ext cx="384048" cy="384048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7621" y="4471300"/>
            <a:ext cx="384048" cy="458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◯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6261" y="4438541"/>
            <a:ext cx="4143914" cy="545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5年間で、学会発表の体制をつくった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767621" y="5563269"/>
            <a:ext cx="4692554" cy="76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 全日本鍼灸学会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「鍼灸師コミュニティの学会発表体制構築 ―5年間の分析―」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0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34253"/>
            <a:ext cx="10728655" cy="1212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メンバーに、起きたこと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学会発表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はじめての演題を、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自分の名前で出した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7738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27778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書籍出版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27778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サロンから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著者が生まれた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83957" y="2401169"/>
            <a:ext cx="3256178" cy="2713890"/>
          </a:xfrm>
          <a:prstGeom prst="roundRect">
            <a:avLst>
              <a:gd name="adj" fmla="val 33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03997" y="2805365"/>
            <a:ext cx="2616098" cy="57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784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院が変わった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03997" y="3498273"/>
            <a:ext cx="2616098" cy="12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予約が埋まり、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紹介が増えた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34740"/>
            <a:ext cx="10728655" cy="692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全部、私ではなく、メンバーがやったことです。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10896"/>
            <a:ext cx="10728655" cy="318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7784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続けるために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3979"/>
            <a:ext cx="1072865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1対1で伴走してほしい方へ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06152"/>
            <a:ext cx="10728655" cy="3369564"/>
          </a:xfrm>
          <a:prstGeom prst="roundRect">
            <a:avLst>
              <a:gd name="adj" fmla="val 2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2773741"/>
            <a:ext cx="3657600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ここちはり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570183"/>
            <a:ext cx="5029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施術者育成・コンサル／2025年11月開始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4453037"/>
            <a:ext cx="868680" cy="86868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感情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4453037"/>
            <a:ext cx="868680" cy="86868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37560" y="4453037"/>
            <a:ext cx="868680" cy="868680"/>
          </a:xfrm>
          <a:prstGeom prst="ellipse">
            <a:avLst/>
          </a:prstGeom>
          <a:solidFill>
            <a:srgbClr val="1778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3756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身体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89120" y="4453037"/>
            <a:ext cx="868680" cy="868680"/>
          </a:xfrm>
          <a:prstGeom prst="ellipse">
            <a:avLst/>
          </a:prstGeom>
          <a:solidFill>
            <a:srgbClr val="C92A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0" y="4305361"/>
            <a:ext cx="868680" cy="11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技術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244096"/>
            <a:ext cx="5059375" cy="1347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この4つの軸で、あなたの臨床を一緒に見ていきます。</a:t>
            </a:r>
            <a:endParaRPr lang="en-US" sz="15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症例データベースも、公開して運用しています。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973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B8A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今日、ひとつだけ持ち帰るなら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731520" y="2628900"/>
            <a:ext cx="10728655" cy="1600200"/>
          </a:xfrm>
          <a:prstGeom prst="roundRect">
            <a:avLst>
              <a:gd name="adj" fmla="val 6857"/>
            </a:avLst>
          </a:prstGeom>
          <a:solidFill>
            <a:srgbClr val="F15C9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628900"/>
            <a:ext cx="10728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最初の90秒、遮らない。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034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E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これだけです。明日の、1人目からできます。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2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7680" y="558146"/>
            <a:ext cx="5760720" cy="5760720"/>
          </a:xfrm>
          <a:prstGeom prst="ellipse">
            <a:avLst/>
          </a:prstGeom>
          <a:solidFill>
            <a:srgbClr val="1845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71600" y="2108584"/>
            <a:ext cx="9418320" cy="174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経絡に触れ、</a:t>
            </a:r>
            <a:endParaRPr lang="en-US" sz="4000" dirty="0"/>
          </a:p>
          <a:p>
            <a:pPr algn="ctr" indent="0" marL="0">
              <a:lnSpc>
                <a:spcPts val="6600"/>
              </a:lnSpc>
              <a:buNone/>
            </a:pPr>
            <a:r>
              <a:rPr lang="en-US" sz="4000" b="1" dirty="0">
                <a:solidFill>
                  <a:srgbClr val="E8F5E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こころに耳を傾ける。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26397"/>
            <a:ext cx="9418320" cy="55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5C9E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それが、私たちの持っているチカラです。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45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98768"/>
            <a:ext cx="10728655" cy="993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23C2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その質問、そのまま送ってください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34005"/>
            <a:ext cx="6008047" cy="3405709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" dir="5400000">
              <a:srgbClr val="7FA795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234440" y="2212417"/>
            <a:ext cx="5002207" cy="2459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「うちの院では、どうしたらいいんだろう」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今日の話で、そう思った方。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その質問を、そのまま送ってください。</a:t>
            </a: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endParaRPr lang="en-US" sz="18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私が、全部読みます。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42487" y="1834005"/>
            <a:ext cx="4217688" cy="3405709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9050">
            <a:solidFill>
              <a:srgbClr val="17784A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516807" y="3016542"/>
            <a:ext cx="3669048" cy="851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公式LINEのQRコードを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ここに大きく貼ってください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16807" y="4482889"/>
            <a:ext cx="3669048" cy="37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F6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▶ 短縮URLをここに（口頭でも読み上げる）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5428919"/>
            <a:ext cx="10728655" cy="898729"/>
          </a:xfrm>
          <a:prstGeom prst="roundRect">
            <a:avLst>
              <a:gd name="adj" fmla="val 10174"/>
            </a:avLst>
          </a:prstGeom>
          <a:solidFill>
            <a:srgbClr val="34D39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5428919"/>
            <a:ext cx="9997135" cy="898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C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録画でご覧の方も、同じように送ってください。全部読みます。　／　本日のスライドをお送りします。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D2C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経絡に触れ、こころに耳を傾ける</dc:title>
  <dc:subject>APNET 講演 60分 / 鍼灸師のための傾聴トレーニング</dc:subject>
  <dc:creator>米倉まな</dc:creator>
  <cp:lastModifiedBy>米倉まな</cp:lastModifiedBy>
  <cp:revision>1</cp:revision>
  <dcterms:created xsi:type="dcterms:W3CDTF">2026-09-15T14:24:42Z</dcterms:created>
  <dcterms:modified xsi:type="dcterms:W3CDTF">2026-09-15T14:24:42Z</dcterms:modified>
</cp:coreProperties>
</file>