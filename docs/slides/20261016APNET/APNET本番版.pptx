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1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</p:sldIdLst>
  <p:notesMasterIdLst>
    <p:notesMasterId r:id="rId6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notesMaster" Target="notesMasters/notesMaster1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PHQ-9</c:v>
                </c:pt>
              </c:strCache>
            </c:strRef>
          </c:tx>
          <c:spPr>
            <a:solidFill>
              <a:srgbClr val="C92A78"/>
            </a:solidFill>
            <a:ln w="31750" cap="flat">
              <a:solidFill>
                <a:srgbClr val="C92A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C92A78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初診</c:v>
                  </c:pt>
                  <c:pt idx="1">
                    <c:v>5診目</c:v>
                  </c:pt>
                  <c:pt idx="2">
                    <c:v>10診目</c:v>
                  </c:pt>
                  <c:pt idx="3">
                    <c:v>15診目</c:v>
                  </c:pt>
                  <c:pt idx="4">
                    <c:v>20診目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</c:v>
                </c:pt>
                <c:pt idx="1">
                  <c:v>17</c:v>
                </c:pt>
                <c:pt idx="2">
                  <c:v>10</c:v>
                </c:pt>
                <c:pt idx="3">
                  <c:v>6</c:v>
                </c:pt>
                <c:pt idx="4">
                  <c:v>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CDDCC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F6F60"/>
                </a:solidFill>
                <a:latin typeface="游ゴシック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12700" cap="flat">
              <a:solidFill>
                <a:srgbClr val="D2EBD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F6F60"/>
                </a:solidFill>
                <a:latin typeface="游ゴシック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0FAF5"/>
        </a:solidFill>
        <a:ln w="12700" cap="flat">
          <a:solidFill>
            <a:srgbClr val="F0FAF5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【0:00-0:30】
開始前に「紙とペンをご用意ください」を案内。
後半にワークがあることを先に伝えておくと、離脱が減ります。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【0:30-2:00】
4つとも読み上げて、「ひとつでも心当たりがある方？」と手を挙げてもらう
（オンラインならリアクションかチャットに数字）。
★ここで全員を当事者にする。急がない。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【2:00-2:20】
言い切って、一拍おく。ここでフックが効きます。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【2:20-3:50】
★当事者経験は、話すかどうかご自身で決めてください。削除しても成立します。
淡々と。同情を求めない。最後の一行に重心を置く。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【3:50-4:40】
★5つのセクションを、名前と一文で渡します。
　このあと各セクションの頭に同じ一文の中扉が入るので、
　聴いている方は「いま何の話か」を見失いません。
★読み上げは名前だけで足ります。一文は目で追ってもらう。
★②が今日のいちばん長いセクションです、と添えておくと構えができます。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【4:40-4:50】
セクション1。10秒で流してよい。読み上げるのは見出しだけ。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【4:50-5:50】
★ここを最初に置くと、後の全部が楽になります。
「分かってあげなきゃ」と思っている人ほど疲れている。
その前提を外してあげるのが、このスライドの役目。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【5:50-6:30】
「分からない」を認めることが出発点。
分かったふりをした瞬間に、情報は取れなくなります。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【6:30-7:10】
3つの✕は、みんなやっていること。だから責めない。
「私もやっていました」と添えると角が立ちません。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【7:10-7:50】
★「時間は増えません」が効きます。忙しい人ほど身構えているので、
　最初に負担が増えないことを保証する。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【7:50-8:00】
セクション2。ここが今日のいちばん長いブロックです。
次のスライドで4つを具体的に出します。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【8:00-8:55】
★このセミナーの背骨です。ここで地図を渡しておくと、
　以降のスライドが全部「4つのどれか」として受け取ってもらえます。
★左上のラベル（① 情報が集まる ② 危険に気づける…）が、
　いま どこの話をしているかの目印になっています。
★最後に50枚目「聴けたから、できたこと」で、この4つを実例で回収します。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【8:55-10:00】
★このセミナーの一番の売り。
　「傾聴＝優しさ」ではなく「傾聴＝情報収集」だと最初に位置づける。
　鍼灸師が動くのは、優しさではなく情報です。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【10:00-11:00】
四診のうち「問」だけ色を変えているのがポイント。
証が立たないのは腕のせいではなく、情報が足りないだけ、という視点の転換。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【11:00-12:40】
★このセミナーで一番強い実例。声色を変えて演じると引き込めます。
傾聴＝優しさ ではなく 傾聴＝安全性。
聴いていなければ、幻視も手の震えも出てこなかった。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【12:40-13:25】
読み上げない。目で見せるだけで十分効きます。
「うつだと思っていた方が、これだけ違う病気だった」という事実だけ伝える。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【13:25-14:30】
★11秒は医師対象の研究だと必ず断る。鍼灸師のデータではありません。
「時間があるのに使えていない」のがもったいない、という話に持っていく。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【14:30-15:15】
★調査データではなく、ご自身が言われてきた実感として話すこと。
誇らしい気持ちで読み上げてよい。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【15:15-16:20】
1週間＝10,080分。うち45分が院にいる時間。残りは患者さんがひとりで過ごす。
★ここで「じゃあ残りの時間に、私たちは何ができるのか」と問いを立てる。
答えが、このあとの『依存先を増やす』です。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【16:20-17:20】
★問診の焦点を変える一枚。
「痛みは10段階でいくつですか」ではなく「痛くて、何ができなくなりましたか」。
これだけで、出てくる情報が変わります。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【17:20-18:20】
★「全部なんとかしてあげたい」が一番危ない。
分けた瞬間、自分がやることと、人に渡すことが見えます。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【18:20-19:15】
★このセミナーの背骨になる一行。ゆっくり読む。
自分ひとりが支えると思うから、距離が近くなりすぎる。
依存先が1つしかない状態が、いちばん危ない。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【19:15-20:10】
★「こんなに覚えられない」と思わせないこと。
自分の地域で使ったことがある先を1つずつ増やしていけばいい、と伝える。
※地域包括支援センターなど、ご自身が実際に連携した先を口頭で足すと生々しくなります。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【20:10-21:35】
★「どんなことが困りますか？」――これが開かれた質問。
　ここで“お金”が出てこなければ、傷病手当金の話にはたどり着けません。
★制度を教えるのが仕事ではありません。相談先を示すところまで。
　加入条件の確認だけはしてから話すこと。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【21:35-22:35】
★返すのは、たった2つの問いだけ。説得しない。
　出てきた不安を、主治医に相談できる形に整理して渡す。それが仕事です。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【22:35-23:20】
★ここは必ず入れてください。傾聴を教えると、必ず踏み越える人が出ます。
聴くことと、介入することは別。境界線をはっきり引いておく。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【23:20-24:05】
会場に「いますよね」と確認する。ほぼ全員が頷きます。
ここから距離感の話に入ります。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【24:05-25:15】
★ここは誤解されやすいので丁寧に。
「長く通ってもらうのが悪い」と言っているのではない。
依存先がひとつきりになることが危ない、という話です。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【25:15-26:45】
★このセミナーで一番、聴衆の心が動く場所です。
　具体的なエピソードを1つだけ、短く。相手を悪く言わない。
「応えれば応えるほど、期待は上がります。上がりきると、応えられない日が必ず来ます」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【26:45-27:45】
★冒頭のあるある④「施術後に疲れてしまう」の回収です。
必ず「冒頭の4つめ、覚えていますか」と言ってから見せること。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【27:45-28:45】
★「枠をつくる」が一番実務的。枠を先に伝えるのも傾聴です。
無制限に聴くことが傾聴ではない、と明確に言っておく。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【28:45-29:45】
★責めない。「私もそうでした」から入ること。
自己理解が進むと、患者さんとの距離が自然に適正化します。
ここがサロンで一番時間をかけている部分でもあります。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【29:45-29:55】
セクション3。「ここまでの話が、実際にどう動いたか」と繋ぐ。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【29:55-31:00】
★共同演者（松浦悠人先生・柴田健一先生）のお名前と学会名・年をご確認ください。
『目標：働くこと』を必ず読む。これが傾聴で聴き取った治療目標です。
症状ではなく、その人が何をしたいのか。ここが後半の型②③に繋がります。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【31:00-32:00】
★ここを丁寧にやると、鍼灸師の聴衆が『自分にもできる』と思えます。
　奇をてらった手技は使っていない、と言い切ること。
★締めの一行が重要：差は鍼灸の腕ではなく、上に乗せた傾聴にある、という含み。
　言い過ぎない。「特別なことはしていません」で止めて、次のスライドへ。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【32:00-33:30】
★この講演の核心スライド。いちばん時間をかけてよい場所です。
受容共感 → 情報整理 → 行動と問題の焦点化 → 感情の認知。
いきなり4段目をやると失敗します。信頼ができる前に感情に触れない。
★「順番がある」＝「学べる」ということ。
　才能の話ではないという、この講演全体の主張がここで実証されます。
　57枚目『独学で伸びない理由』への最短の橋になります。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【33:30-34:35】
★5診目で いったん上がっている（13→17）ことを隠さない。
　「最初はむしろ上がりました」と正直に言うほうが、信頼されます。
　※理由は症例報告では述べられていないので、推測を語らないこと。
★PHQ-15（身体症状）がほぼ横ばいであることも、そのまま伝える。
　過大に言わないことが、この講演全体の誠実さを担保します。
締めの一行は、静かに。「入院は、回避できました」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【34:35-34:45】
セクション4。「では、どうやるか」に切り替わる合図。声のトーンを上げる。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【34:45-35:35】
先に全体を見せてから、1つずつ展開する（地図を渡してから歩く）。
★8つ全部を今日で身につける必要はない、と最初に言っておくこと。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【35:35-36:45】①〜③は「受け取る」段階。ここができていないと④以降は全部すべります。
②の繰り返しは、実際に会場で1回やってみせると伝わります。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【36:45-37:45】⑤の沈黙がいちばん難しい。置鍼で待てるのだから待てます、と重ねる。
④は問い返しなので、慣れないうちは②③のあとに1つだけ。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【37:45-38:50】⑥⑦⑧は、話を相手に返していく段階。
★⑧が抜けやすい。「もうやれていること」を言葉にして返すだけで、表情が変わります。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【38:50-40:05】
★技法①「相手の気持ちを汲み取る」の、いちばん大きな落とし穴です。
　共感しているつもりが、決めつけになっている。
★「辛かったですね」と先に言ってしまうと、
　もしその方の気持ちが 怒り だったり 安堵 だったりしたとき、
　もう訂正できなくなります。「違うんだけどな」で終わってしまう。
★先回りは、こちらが早く楽になりたいから出ます。そこも正直に言ってよい。
　「私は、沈黙が怖くて先に言ってしまっていました」
★繰り返し（技法②）が、追い越しを防ぐ一番の安全装置です。ここで②に戻って結びつける。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【40:05-40:45】
★傾聴で「感情」を扱うときの土台になる知識。
ここを知らずに感情に触ると、相手を否定してしまいます。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【40:45-41:55】
★遅刻の例は誰でも自分ごとにできます。
「自分はダメだ」という自動思考に、私たちがさらに「そんなこと考えちゃダメ」と
乗せてしまうのがジャッジ。まずはそれを外す、という話につなげます。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【41:55-42:10】
★このワークがセミナーの山場です。必ずやってください。
「覚えてください」としか言わないこと。目的は言わない。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【42:10-42:30】
10秒きっちり見せて、すぐ次へ。長く見せない。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【42:30-43:05】
答え：向かって右（象から見て左）。※本番前にイラストでご確認ください。
★ここでは正解を言わない。「覚えておいてください」で次へ。
　思い出そうとさせることが、次のワークの仕込みになります。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【43:05-43:25】
★ゆっくり読む。「思い出さないでください」を強調する。
次のスライドで3分計ります。時計かスマホのタイマーを使ってください。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【43:25-46:25】
★3分は長いです。途中で話しかけないこと。
PowerPointは自動カウントできないので、時計かスマホで計測。
30秒残ったところで「あと30秒です」とだけ声をかけてもよい。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【46:25-46:55】
挙手やチャットで確認。ほぼ全員が「浮かんだ」と答えます。
笑いが起きるところなので、間をとる。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【46:55-47:15】
★ここで腑に落ちます。理屈で説明するより、体験させたほうが速い。
患者さんの「変なことを考えてしまう」も、これと同じだと繋げる。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【47:15-48:15】
★ワークを臨床につなげる、いちばん大事な一枚です。
　自分たちが3分間できなかったことを、患者さんには毎日お願いしている——
　この気づきが、傾聴の必要性を一発で腑に落とします。
★3つの言葉は、誰もが言ったことがあるものです。責めない口調で。
　「私も言っていました」と添えると、素直に受け取ってもらえます。
★では何と言えばいいのか？ ―― の答えが、次のスライドと『8つの技法』です。
　ここでは答えを出さず、「無理なんです」で止めて次へ。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【48:15-49:00】
★患者さんに向ける前に、まず自分に向ける。
「疲れた自分はダメだ」と思っている施術者が本当に多いです。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【49:00-50:30】
★このセミナーの結論スライドです。いちばんゆっくり読んでください。
★6つとも、今日の中で実際に出てきた話です。
　抽象論ではなく「さっき見たあれ」として並べているのがポイント。
　番号は9枚目の地図（①〜④）と対応しています。
★読み上げるのは①②④の3つで足ります。残りは目で追ってもらう。
★最後の「だから、聴くんです。」の前で、必ず一拍おく。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【50:30-50:40】
セクション5。ここから先は明日の行動の話、と明示する。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【50:40-51:15】
先に3つ見せてから、1枚ずつ展開する（地図を渡してから歩く）。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【51:15-52:35】『90秒』という具体的な数字が、持ち帰りやすさを決める。ここを一番ゆっくり話す。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【52:35-53:45】その場で1回、声に出して実演してみせるとよい。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【53:45-54:55】✕と◯の対比は音読する。耳だけで聴いている人がいる。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【54:55-56:05】
★持ち帰りは3つまで。最後の一行で行動を1つに絞る。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【56:05-57:15】
★「募集していない」を先に言うのが大事です。売り込みに聞こえなくなります。
★開始時期は予定です。確定していない旨を一言添えてください。
　年（2027年7月）が違っていたら直してください。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【57:15-60:00】
★このスライドを30秒 黙って映す。読み取り待ち。ここを急ぐと激減します。
★Q&amp;Aの間も、このスライドを出しっぱなしに。
★オンラインならチャットにもリンクを投下（事前にメモ帳へ用意してコピペ）。
　ただし録画にチャットは残らないので、画面表示が本体です。
【Q&amp;Aのコツ】
質問には即答せず、まず「その患者さん、なんて仰ってました？」と聴き返す。
傾聴の実演が、いちばん強い案内になります。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【付録・時間があれば】
★配布資料としても渡せるスライドです。
会場では「だいたいで構いません」と言って1分ほど数えてもらう。
自分の点数を知ると、患者さんの背景を想像できるようになります。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【付録・時間があれば】
★自分の点数と照らすと、患者さんの背景が想像できるようになります。
「聞かないと分からない」に戻して締める。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868680"/>
            <a:ext cx="5120640" cy="5120640"/>
          </a:xfrm>
          <a:prstGeom prst="ellipse">
            <a:avLst/>
          </a:prstGeom>
          <a:solidFill>
            <a:srgbClr val="18452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1783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鍼灸師のための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402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傾聴セミナー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6118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4D39B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患者さんから、情報が集まるようになる。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52628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米倉まな（よねくら まな）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はりきゅう処ここちめいど 院長／オンラインサロン ここちめいど 主宰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はり師・きゅう師／産業カウンセラー／修士（人間学）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7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2528"/>
            <a:ext cx="10728655" cy="1243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こんなこと、ありませんか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95440"/>
            <a:ext cx="10728655" cy="876456"/>
          </a:xfrm>
          <a:prstGeom prst="roundRect">
            <a:avLst>
              <a:gd name="adj" fmla="val 10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650788"/>
            <a:ext cx="365760" cy="36576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596788"/>
            <a:ext cx="365760" cy="473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395440"/>
            <a:ext cx="9539935" cy="876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患者さんへ かける言葉が、見つからない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31520" y="3414024"/>
            <a:ext cx="10728655" cy="876456"/>
          </a:xfrm>
          <a:prstGeom prst="roundRect">
            <a:avLst>
              <a:gd name="adj" fmla="val 10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05840" y="3669372"/>
            <a:ext cx="365760" cy="36576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3615372"/>
            <a:ext cx="365760" cy="473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3414024"/>
            <a:ext cx="9539935" cy="876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なぜ鍼灸院に来ているんだろう？という方がいる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432608"/>
            <a:ext cx="10728655" cy="876456"/>
          </a:xfrm>
          <a:prstGeom prst="roundRect">
            <a:avLst>
              <a:gd name="adj" fmla="val 10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1005840" y="4687956"/>
            <a:ext cx="365760" cy="36576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4633956"/>
            <a:ext cx="365760" cy="473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4432608"/>
            <a:ext cx="9539935" cy="876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患者さんに「良くなった」と言われたい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31520" y="5451192"/>
            <a:ext cx="10728655" cy="876456"/>
          </a:xfrm>
          <a:prstGeom prst="roundRect">
            <a:avLst>
              <a:gd name="adj" fmla="val 104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05840" y="5706540"/>
            <a:ext cx="365760" cy="36576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05840" y="5652540"/>
            <a:ext cx="365760" cy="473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5451192"/>
            <a:ext cx="9539935" cy="876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患者さんの施術後、自分が疲れてしまう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14600"/>
            <a:ext cx="107286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答えは、あります。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88620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D39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4つとも、同じひとつの技術で変わります。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3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7386"/>
            <a:ext cx="10728655" cy="12243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私は、聴いてもらう側でした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63121"/>
            <a:ext cx="5793474" cy="2856791"/>
          </a:xfrm>
          <a:prstGeom prst="roundRect">
            <a:avLst>
              <a:gd name="adj" fmla="val 320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736253"/>
            <a:ext cx="4879074" cy="466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うつ病・パニック障害・双極性障害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3319272"/>
            <a:ext cx="4879074" cy="13992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最重症期は、1日30錠。患者だった期間は8年。</a:t>
            </a:r>
            <a:endParaRPr lang="en-US" sz="145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いまは16年間、寛解。投薬もありません。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073634" y="2538027"/>
            <a:ext cx="4386541" cy="233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三重県四日市市／東京都町田市</a:t>
            </a:r>
            <a:endParaRPr lang="en-US" sz="130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はりきゅう処ここちめいど 院長</a:t>
            </a:r>
            <a:endParaRPr lang="en-US" sz="130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オンラインサロン ここちめいど 主宰</a:t>
            </a:r>
            <a:endParaRPr lang="en-US" sz="130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精神疾患臨床家グループ ここちはり 代表</a:t>
            </a:r>
            <a:endParaRPr lang="en-US" sz="1300" dirty="0"/>
          </a:p>
          <a:p>
            <a:pPr algn="l" indent="0" marL="0">
              <a:lnSpc>
                <a:spcPts val="2500"/>
              </a:lnSpc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産業カウンセラー／修士（人間学）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628026"/>
            <a:ext cx="10728655" cy="699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だから、聴いてもらえないつらさを知っています。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66928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今日、お話しすること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10728655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33272" y="2039112"/>
            <a:ext cx="457200" cy="45720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33272" y="2039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920240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なぜ、聴くのか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920240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人は分かり合えない。だから、聞くしかない。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" y="2724912"/>
            <a:ext cx="10728655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33272" y="2843784"/>
            <a:ext cx="457200" cy="45720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33272" y="2843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2724912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聴けると、できること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5760720" y="2724912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情報が集まる ／ 危険に気づける ／ つなげる ／ 自分が潰れない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31520" y="3529584"/>
            <a:ext cx="10728655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33272" y="3648456"/>
            <a:ext cx="457200" cy="45720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33272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737360" y="3529584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症例 ― 鍼灸と傾聴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3529584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入院を回避できた、一例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31520" y="4334256"/>
            <a:ext cx="10728655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33272" y="4453128"/>
            <a:ext cx="457200" cy="45720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33272" y="44531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737360" y="4334256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傾聴のやり方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5760720" y="4334256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8つの技法と、やってしまいがちなこと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31520" y="5138928"/>
            <a:ext cx="10728655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33272" y="5257800"/>
            <a:ext cx="457200" cy="45720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33272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737360" y="5138928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明日から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5760720" y="5138928"/>
            <a:ext cx="53794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まず、最初の90秒から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608076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各セクションの頭で、この一文をもう一度お見せします。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0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35906"/>
            <a:ext cx="1828800" cy="727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B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763320"/>
            <a:ext cx="10728655" cy="12469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なぜ、聴くのか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166190"/>
            <a:ext cx="10728655" cy="519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人は分かり合えない。だから、聞くしかない。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34D39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　なぜ、聴くのか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922971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2C644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922971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　聴けると、できること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68702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2C644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68702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　症例 ― 鍼灸と傾聴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14433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2C644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14433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　傾聴のやり方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360164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2C644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360164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　明日から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9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なぜ、傾聴なのか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641496"/>
            <a:ext cx="10728655" cy="1189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人は、分かり合えない。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068393"/>
            <a:ext cx="10728655" cy="1189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FB8A2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察するなんて、無理。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33107"/>
            <a:ext cx="10728655" cy="594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4D39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これが、今日の前提です。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53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なぜ、傾聴なのか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0551"/>
            <a:ext cx="10728655" cy="1273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分からないから、教えてもらう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506525"/>
            <a:ext cx="10728655" cy="2547415"/>
          </a:xfrm>
          <a:prstGeom prst="roundRect">
            <a:avLst>
              <a:gd name="adj" fmla="val 35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371600" y="3234358"/>
            <a:ext cx="2743200" cy="97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F6F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分からない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4297680" y="3234358"/>
            <a:ext cx="731520" cy="97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212080" y="3234358"/>
            <a:ext cx="3108960" cy="97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教えてほしい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8412480" y="3234358"/>
            <a:ext cx="548640" cy="97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＝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144000" y="3234358"/>
            <a:ext cx="2194560" cy="970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対　話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599815"/>
            <a:ext cx="10728655" cy="7278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察するのをやめて、聞く。それだけで臨床は変わります。</a:t>
            </a:r>
            <a:endParaRPr lang="en-US" sz="2300" dirty="0"/>
          </a:p>
        </p:txBody>
      </p:sp>
      <p:sp>
        <p:nvSpPr>
          <p:cNvPr id="11" name="Text 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なぜ、傾聴なのか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患者さんが求めていることは、どうすれば分かる？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528682"/>
            <a:ext cx="3256178" cy="1837944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21865" y="2915839"/>
            <a:ext cx="475488" cy="475488"/>
          </a:xfrm>
          <a:prstGeom prst="ellipse">
            <a:avLst/>
          </a:prstGeom>
          <a:solidFill>
            <a:srgbClr val="4F6F6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121865" y="2835006"/>
            <a:ext cx="475488" cy="637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✕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631448"/>
            <a:ext cx="279897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経験でなんとなく察する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07738" y="2528682"/>
            <a:ext cx="3256178" cy="1837944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698084" y="2915839"/>
            <a:ext cx="475488" cy="475488"/>
          </a:xfrm>
          <a:prstGeom prst="ellipse">
            <a:avLst/>
          </a:prstGeom>
          <a:solidFill>
            <a:srgbClr val="4F6F6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98084" y="2835006"/>
            <a:ext cx="475488" cy="637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✕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36338" y="3631448"/>
            <a:ext cx="279897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問診票から推測する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883957" y="2528682"/>
            <a:ext cx="3256178" cy="1837944"/>
          </a:xfrm>
          <a:prstGeom prst="roundRect">
            <a:avLst>
              <a:gd name="adj" fmla="val 49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274302" y="2915839"/>
            <a:ext cx="475488" cy="475488"/>
          </a:xfrm>
          <a:prstGeom prst="ellipse">
            <a:avLst/>
          </a:prstGeom>
          <a:solidFill>
            <a:srgbClr val="4F6F6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74302" y="2835006"/>
            <a:ext cx="475488" cy="637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✕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112557" y="3631448"/>
            <a:ext cx="279897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同じ主訴の人と同じだと考える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918009"/>
            <a:ext cx="10728655" cy="1347826"/>
          </a:xfrm>
          <a:prstGeom prst="roundRect">
            <a:avLst>
              <a:gd name="adj" fmla="val 6784"/>
            </a:avLst>
          </a:prstGeom>
          <a:solidFill>
            <a:srgbClr val="34D39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4918009"/>
            <a:ext cx="10728655" cy="1347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聞くしか、ありません。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6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なぜ、傾聴なのか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0581"/>
            <a:ext cx="10728655" cy="1236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鍼灸師にできる、カウンセリング技法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500947"/>
            <a:ext cx="10728655" cy="2354893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500947"/>
            <a:ext cx="10728655" cy="23548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　聴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326818"/>
            <a:ext cx="3210458" cy="470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資格は要りません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856669"/>
            <a:ext cx="3210458" cy="470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ただし練習は必要です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307738" y="5326818"/>
            <a:ext cx="3210458" cy="470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診断ではありません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307738" y="5856669"/>
            <a:ext cx="3210458" cy="470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情報を集める技術です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883957" y="5326818"/>
            <a:ext cx="3210458" cy="470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時間は増えません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883957" y="5856669"/>
            <a:ext cx="3210458" cy="470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使い方が変わるだけです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0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35906"/>
            <a:ext cx="1828800" cy="727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B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763320"/>
            <a:ext cx="10728655" cy="12469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聴けると、できること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166190"/>
            <a:ext cx="10728655" cy="519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4つのことが、できるようになります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2C644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　なぜ、聴くのか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922971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34D39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922971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　聴けると、できること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68702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2C644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68702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　症例 ― 鍼灸と傾聴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14433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2C644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14433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　傾聴のやり方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360164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2C644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360164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　明日から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4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今日の地図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8164"/>
            <a:ext cx="10728655" cy="11897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聴けると、4つのことができます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05149"/>
            <a:ext cx="5227168" cy="1416373"/>
          </a:xfrm>
          <a:prstGeom prst="roundRect">
            <a:avLst>
              <a:gd name="adj" fmla="val 6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712875"/>
            <a:ext cx="566928" cy="566928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2645079"/>
            <a:ext cx="566928" cy="702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①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554431"/>
            <a:ext cx="3901288" cy="509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情報が集まる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783080" y="3098318"/>
            <a:ext cx="3901288" cy="4532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東洋医学的にも、西洋医学的にも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33008" y="2305149"/>
            <a:ext cx="5227168" cy="1416373"/>
          </a:xfrm>
          <a:prstGeom prst="roundRect">
            <a:avLst>
              <a:gd name="adj" fmla="val 6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3048" y="2712875"/>
            <a:ext cx="566928" cy="566928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53048" y="2645079"/>
            <a:ext cx="566928" cy="702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7284568" y="2554431"/>
            <a:ext cx="3901288" cy="509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危険に気づける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7284568" y="3098318"/>
            <a:ext cx="3901288" cy="4532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見落としてはいけないものを拾える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948142"/>
            <a:ext cx="5227168" cy="1416373"/>
          </a:xfrm>
          <a:prstGeom prst="roundRect">
            <a:avLst>
              <a:gd name="adj" fmla="val 6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51560" y="4355868"/>
            <a:ext cx="566928" cy="566928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51560" y="4288071"/>
            <a:ext cx="566928" cy="702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③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4197423"/>
            <a:ext cx="3901288" cy="509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つなげる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1783080" y="4741310"/>
            <a:ext cx="3901288" cy="4532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困りごとを整理して、次の依存先へ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33008" y="3948142"/>
            <a:ext cx="5227168" cy="1416373"/>
          </a:xfrm>
          <a:prstGeom prst="roundRect">
            <a:avLst>
              <a:gd name="adj" fmla="val 6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3048" y="4355868"/>
            <a:ext cx="566928" cy="566928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53048" y="4288071"/>
            <a:ext cx="566928" cy="7025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④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7284568" y="4197423"/>
            <a:ext cx="3901288" cy="509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自分が潰れない</a:t>
            </a:r>
            <a:endParaRPr lang="en-US" sz="2100" dirty="0"/>
          </a:p>
        </p:txBody>
      </p:sp>
      <p:sp>
        <p:nvSpPr>
          <p:cNvPr id="23" name="Text 21"/>
          <p:cNvSpPr txBox="1"/>
          <p:nvPr/>
        </p:nvSpPr>
        <p:spPr>
          <a:xfrm>
            <a:off x="7284568" y="4741310"/>
            <a:ext cx="3901288" cy="4532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患者さんとの距離が、適切になる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5704444"/>
            <a:ext cx="10728655" cy="623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今日は、この4つを順に見ていきます。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情報が集まる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2299"/>
            <a:ext cx="10728655" cy="1167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傾聴すると、2種類の情報が同時に集まります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23894"/>
            <a:ext cx="5227168" cy="2835992"/>
          </a:xfrm>
          <a:prstGeom prst="roundRect">
            <a:avLst>
              <a:gd name="adj" fmla="val 3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43000" y="2657540"/>
            <a:ext cx="4404208" cy="50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東洋医学的な情報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3324833"/>
            <a:ext cx="4404208" cy="1557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睡眠　食欲　便通　月経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情志　冷え　のぼせ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生活リズム　仕事と家族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33008" y="2323894"/>
            <a:ext cx="5227168" cy="2835992"/>
          </a:xfrm>
          <a:prstGeom prst="roundRect">
            <a:avLst>
              <a:gd name="adj" fmla="val 32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644488" y="2657540"/>
            <a:ext cx="4404208" cy="50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西洋医学的な情報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6644488" y="3324833"/>
            <a:ext cx="4404208" cy="1557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レッドフラッグの兆候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服薬状況と、薬への不安</a:t>
            </a:r>
            <a:endParaRPr lang="en-US" sz="15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生活機能・就労の状況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660356"/>
            <a:ext cx="10728655" cy="667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一度の問診で、両方が取れます。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情報が集まる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5204"/>
            <a:ext cx="10728655" cy="11786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「証」は、聞かなければ立ちません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86546"/>
            <a:ext cx="182880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四診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31520" y="2895748"/>
            <a:ext cx="914400" cy="914400"/>
          </a:xfrm>
          <a:prstGeom prst="ellipse">
            <a:avLst/>
          </a:prstGeom>
          <a:solidFill>
            <a:srgbClr val="CDEBD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791684"/>
            <a:ext cx="914400" cy="11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望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060141"/>
            <a:ext cx="109728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見る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828800" y="2895748"/>
            <a:ext cx="914400" cy="914400"/>
          </a:xfrm>
          <a:prstGeom prst="ellipse">
            <a:avLst/>
          </a:prstGeom>
          <a:solidFill>
            <a:srgbClr val="CDEBD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828800" y="2791684"/>
            <a:ext cx="914400" cy="11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聞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4060141"/>
            <a:ext cx="109728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聞く・嗅ぐ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2895748"/>
            <a:ext cx="914400" cy="91440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26080" y="2791684"/>
            <a:ext cx="914400" cy="11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問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4060141"/>
            <a:ext cx="109728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尋ねる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23360" y="2895748"/>
            <a:ext cx="914400" cy="914400"/>
          </a:xfrm>
          <a:prstGeom prst="ellipse">
            <a:avLst/>
          </a:prstGeom>
          <a:solidFill>
            <a:srgbClr val="CDEBD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023360" y="2791684"/>
            <a:ext cx="914400" cy="11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切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3931920" y="4060141"/>
            <a:ext cx="109728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触れる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0" y="2398799"/>
            <a:ext cx="5973775" cy="2694068"/>
          </a:xfrm>
          <a:prstGeom prst="roundRect">
            <a:avLst>
              <a:gd name="adj" fmla="val 339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943600" y="2735557"/>
            <a:ext cx="5059375" cy="4490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望・聞・切は、自分で取れる。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3296821"/>
            <a:ext cx="5059375" cy="13470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けれど「問」だけは、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患者さんに話してもらわないと</a:t>
            </a:r>
            <a:endParaRPr lang="en-US" sz="15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1ミリも進みません。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5654131"/>
            <a:ext cx="10728655" cy="673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東洋医学ができていない、のではなく ―― 聞けていないだけ、かもしれません。</a:t>
            </a:r>
            <a:endParaRPr lang="en-US" sz="2100" dirty="0"/>
          </a:p>
        </p:txBody>
      </p:sp>
      <p:sp>
        <p:nvSpPr>
          <p:cNvPr id="21" name="Text 1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5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危険に気づける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88898"/>
            <a:ext cx="10728655" cy="1042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聴いていたから、気づけました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008692"/>
            <a:ext cx="8153778" cy="595718"/>
          </a:xfrm>
          <a:prstGeom prst="roundRect">
            <a:avLst>
              <a:gd name="adj" fmla="val 153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008692"/>
            <a:ext cx="7513698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最近、気分が落ち込んでいて、眠れません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06397" y="2723554"/>
            <a:ext cx="8153778" cy="595718"/>
          </a:xfrm>
          <a:prstGeom prst="roundRect">
            <a:avLst>
              <a:gd name="adj" fmla="val 15350"/>
            </a:avLst>
          </a:prstGeom>
          <a:solidFill>
            <a:srgbClr val="123C2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26437" y="2723554"/>
            <a:ext cx="7513698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落ち込みと、眠れない。日中の眠気はありますか？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3438416"/>
            <a:ext cx="8153778" cy="595718"/>
          </a:xfrm>
          <a:prstGeom prst="roundRect">
            <a:avLst>
              <a:gd name="adj" fmla="val 153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51560" y="3438416"/>
            <a:ext cx="7513698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眠気はないんですが、時々ぼーっとして、誰かいるように感じたり、虫が見えるような気がして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306397" y="4153277"/>
            <a:ext cx="8153778" cy="595718"/>
          </a:xfrm>
          <a:prstGeom prst="roundRect">
            <a:avLst>
              <a:gd name="adj" fmla="val 15350"/>
            </a:avLst>
          </a:prstGeom>
          <a:solidFill>
            <a:srgbClr val="123C2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26437" y="4153277"/>
            <a:ext cx="7513698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（あれっ）手が震えたり、お薬が効きすぎることはありませんか？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868139"/>
            <a:ext cx="8153778" cy="595718"/>
          </a:xfrm>
          <a:prstGeom prst="roundRect">
            <a:avLst>
              <a:gd name="adj" fmla="val 153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51560" y="4868139"/>
            <a:ext cx="7513698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あります。うつのお薬を飲むと、逆効果に感じるんです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731930"/>
            <a:ext cx="10728655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神経内科にご高診を依頼　→　レビー小体型認知症でした。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4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危険に気づける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75784"/>
            <a:ext cx="10728655" cy="993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抑うつを訴えて来られた方の、ご高診後の診断名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023211"/>
            <a:ext cx="10728655" cy="662221"/>
          </a:xfrm>
          <a:prstGeom prst="roundRect">
            <a:avLst>
              <a:gd name="adj" fmla="val 138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7280" y="2023211"/>
            <a:ext cx="2651760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脳神経系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2023211"/>
            <a:ext cx="7162495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パーキンソン病／レビー小体型認知症／アルツハイマー病／脳腫瘍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31520" y="2798955"/>
            <a:ext cx="10728655" cy="662221"/>
          </a:xfrm>
          <a:prstGeom prst="roundRect">
            <a:avLst>
              <a:gd name="adj" fmla="val 138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97280" y="2798955"/>
            <a:ext cx="2651760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内分泌系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931920" y="2798955"/>
            <a:ext cx="7162495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甲状腺機能亢進症／甲状腺機能低下症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31520" y="3574700"/>
            <a:ext cx="10728655" cy="662221"/>
          </a:xfrm>
          <a:prstGeom prst="roundRect">
            <a:avLst>
              <a:gd name="adj" fmla="val 138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097280" y="3574700"/>
            <a:ext cx="2651760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性ホルモン系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931920" y="3574700"/>
            <a:ext cx="7162495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更年期障害／月経前不快気分障害／産後うつ／男性更年期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31520" y="4350445"/>
            <a:ext cx="10728655" cy="662221"/>
          </a:xfrm>
          <a:prstGeom prst="roundRect">
            <a:avLst>
              <a:gd name="adj" fmla="val 138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1097280" y="4350445"/>
            <a:ext cx="2651760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生活習慣・循環器系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931920" y="4350445"/>
            <a:ext cx="7162495" cy="6622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高血圧／糖尿病／虚血性心疾患／微小血管狭心症　など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381618"/>
            <a:ext cx="10728655" cy="5676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聴かなければ、どれも見つかりません。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996537"/>
            <a:ext cx="10728655" cy="33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当院事例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5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鍼灸師だから、できる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88898"/>
            <a:ext cx="10728655" cy="1042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情報を集められることが、実費診療の強みです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279391"/>
            <a:ext cx="292608" cy="292608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2266837"/>
            <a:ext cx="292608" cy="31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127836"/>
            <a:ext cx="4541368" cy="496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40〜60分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654054"/>
            <a:ext cx="4541368" cy="4467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ふたりきりの時間がある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41568" y="2279391"/>
            <a:ext cx="292608" cy="292608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141568" y="2266837"/>
            <a:ext cx="292608" cy="31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644488" y="2127836"/>
            <a:ext cx="4541368" cy="496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身体に触れる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6644488" y="2654054"/>
            <a:ext cx="4541368" cy="4467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言葉の前に、からだの情報がある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3520470"/>
            <a:ext cx="292608" cy="292608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3507916"/>
            <a:ext cx="292608" cy="31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368915"/>
            <a:ext cx="4541368" cy="496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会い続ける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895133"/>
            <a:ext cx="4541368" cy="4467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一度きりではない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41568" y="3520470"/>
            <a:ext cx="292608" cy="292608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41568" y="3507916"/>
            <a:ext cx="292608" cy="31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644488" y="3368915"/>
            <a:ext cx="4541368" cy="496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制約が少ない</a:t>
            </a:r>
            <a:endParaRPr lang="en-US" sz="2100" dirty="0"/>
          </a:p>
        </p:txBody>
      </p:sp>
      <p:sp>
        <p:nvSpPr>
          <p:cNvPr id="19" name="Text 17"/>
          <p:cNvSpPr txBox="1"/>
          <p:nvPr/>
        </p:nvSpPr>
        <p:spPr>
          <a:xfrm>
            <a:off x="6644488" y="3895133"/>
            <a:ext cx="4541368" cy="4467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時間の使い方を自分で決められる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1520" y="4838353"/>
            <a:ext cx="10728655" cy="992863"/>
          </a:xfrm>
          <a:prstGeom prst="roundRect">
            <a:avLst>
              <a:gd name="adj" fmla="val 921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1188720" y="4838353"/>
            <a:ext cx="9814255" cy="9928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医師が患者の話を遮るまで、中央値 11秒。　私たちには、40分あります。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5980146"/>
            <a:ext cx="10728655" cy="347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Singh Ospina et al., 2019 ／ Beckman &amp; Frankel, 1984（いずれも医師を対象とした研究）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22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鍼灸師だから、できる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7162"/>
            <a:ext cx="10728655" cy="12609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医師の先生方から、こう言われます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84613"/>
            <a:ext cx="3256178" cy="2401897"/>
          </a:xfrm>
          <a:prstGeom prst="roundRect">
            <a:avLst>
              <a:gd name="adj" fmla="val 38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887880"/>
            <a:ext cx="274320" cy="27432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2844897"/>
            <a:ext cx="274320" cy="360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505419"/>
            <a:ext cx="2616098" cy="1140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「患者さんと、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　時間がある」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07738" y="2484613"/>
            <a:ext cx="3256178" cy="2401897"/>
          </a:xfrm>
          <a:prstGeom prst="roundRect">
            <a:avLst>
              <a:gd name="adj" fmla="val 38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27778" y="2887880"/>
            <a:ext cx="274320" cy="27432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7778" y="2844897"/>
            <a:ext cx="274320" cy="360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627778" y="3505419"/>
            <a:ext cx="2616098" cy="1140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「身体全体を、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　見てくれる」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883957" y="2484613"/>
            <a:ext cx="3256178" cy="2401897"/>
          </a:xfrm>
          <a:prstGeom prst="roundRect">
            <a:avLst>
              <a:gd name="adj" fmla="val 380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03997" y="2887880"/>
            <a:ext cx="274320" cy="27432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03997" y="2844897"/>
            <a:ext cx="274320" cy="360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3997" y="3505419"/>
            <a:ext cx="2616098" cy="1140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「東洋医学の、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　専門家だから」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607079"/>
            <a:ext cx="10728655" cy="7205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期待されている、ということでもあります。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74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つなげる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1179"/>
            <a:ext cx="10728655" cy="1201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鍼灸院にいる時間は、人生のごく一部です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38493"/>
            <a:ext cx="4720608" cy="2630899"/>
          </a:xfrm>
          <a:prstGeom prst="roundRect">
            <a:avLst>
              <a:gd name="adj" fmla="val 34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838847"/>
            <a:ext cx="3806208" cy="571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週に1回・45分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3467975"/>
            <a:ext cx="3806208" cy="457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院にいる時間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6701" y="2438493"/>
            <a:ext cx="5793474" cy="2630899"/>
          </a:xfrm>
          <a:prstGeom prst="roundRect">
            <a:avLst>
              <a:gd name="adj" fmla="val 3476"/>
            </a:avLst>
          </a:prstGeom>
          <a:solidFill>
            <a:srgbClr val="123C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123901" y="2838847"/>
            <a:ext cx="4879074" cy="571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4D39B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残りの 10,035分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123901" y="3467975"/>
            <a:ext cx="4879074" cy="457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患者さんが、ひとりで生きている時間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123901" y="4097103"/>
            <a:ext cx="4879074" cy="457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私たちが触れられるのは、0.4%です。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641326"/>
            <a:ext cx="10728655" cy="6863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治すことだけが、全てではありません。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つなげる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2299"/>
            <a:ext cx="10728655" cy="11677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患者さんが困っているのは、症状ではありません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323894"/>
            <a:ext cx="10728655" cy="1668231"/>
          </a:xfrm>
          <a:prstGeom prst="roundRect">
            <a:avLst>
              <a:gd name="adj" fmla="val 54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280160" y="2323894"/>
            <a:ext cx="9631375" cy="166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「うつ病の症状で困っているのではなく、</a:t>
            </a:r>
            <a:endParaRPr lang="en-US" sz="21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　症状があることで、できなくなった何かに困っている」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381379"/>
            <a:ext cx="10728655" cy="1000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・仕事に行けない　・家事ができない　・人と会えなくなった</a:t>
            </a:r>
            <a:endParaRPr lang="en-US" sz="150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・以前できていた趣味が、できなくなった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660356"/>
            <a:ext cx="10728655" cy="667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聴くのは、症状より「できなくなったこと」。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6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つなげる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8545"/>
            <a:ext cx="10728655" cy="1116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困りごとは、2つに分けて整理する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34981"/>
            <a:ext cx="5227168" cy="3029637"/>
          </a:xfrm>
          <a:prstGeom prst="roundRect">
            <a:avLst>
              <a:gd name="adj" fmla="val 3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43000" y="2553890"/>
            <a:ext cx="4404208" cy="478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個人の課題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3053514"/>
            <a:ext cx="4404208" cy="372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内省のサポートに、傾聴を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3563769"/>
            <a:ext cx="4404208" cy="1488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・働く不安</a:t>
            </a:r>
            <a:endParaRPr lang="en-US" sz="14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・自信喪失</a:t>
            </a:r>
            <a:endParaRPr lang="en-US" sz="14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・職業適性</a:t>
            </a:r>
            <a:endParaRPr lang="en-US" sz="14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・家族・友人との関係性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33008" y="2234981"/>
            <a:ext cx="5227168" cy="3029637"/>
          </a:xfrm>
          <a:prstGeom prst="roundRect">
            <a:avLst>
              <a:gd name="adj" fmla="val 3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644488" y="2553890"/>
            <a:ext cx="4404208" cy="4783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社会の課題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644488" y="3053514"/>
            <a:ext cx="4404208" cy="372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社会への働きかけへ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44488" y="3563769"/>
            <a:ext cx="4404208" cy="1488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・偏見</a:t>
            </a:r>
            <a:endParaRPr lang="en-US" sz="14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・職場環境（人材不足・受入体制）</a:t>
            </a:r>
            <a:endParaRPr lang="en-US" sz="14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・知られていない公的資源</a:t>
            </a:r>
            <a:endParaRPr lang="en-US" sz="14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・医療資源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689830"/>
            <a:ext cx="10728655" cy="637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分けると、抱え込まなくて済みます。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つなげる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12476"/>
            <a:ext cx="10728655" cy="9802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FB8A2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自立とは、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815243"/>
            <a:ext cx="10728655" cy="1347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依存先を増やすこと。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530657"/>
            <a:ext cx="107286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D39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患者さんを抱えるのではありません。つなぐのです。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3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つなげる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5938"/>
            <a:ext cx="10728655" cy="1106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連携先は、こんなにあります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18133"/>
            <a:ext cx="3256178" cy="3055793"/>
          </a:xfrm>
          <a:prstGeom prst="roundRect">
            <a:avLst>
              <a:gd name="adj" fmla="val 29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7280" y="2534249"/>
            <a:ext cx="2524658" cy="421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医療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061110"/>
            <a:ext cx="2524658" cy="2002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・精神科・心療内科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・その他の医療機関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・訪問看護ステーション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・薬剤師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・訪問鍼灸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07738" y="2218133"/>
            <a:ext cx="3256178" cy="3055793"/>
          </a:xfrm>
          <a:prstGeom prst="roundRect">
            <a:avLst>
              <a:gd name="adj" fmla="val 29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673498" y="2534249"/>
            <a:ext cx="2524658" cy="421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生活・福祉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673498" y="3061110"/>
            <a:ext cx="2524658" cy="2002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・地域包括支援センター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・保健所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・社会福祉協議会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・全国健康保険協会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・療育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883957" y="2218133"/>
            <a:ext cx="3256178" cy="3055793"/>
          </a:xfrm>
          <a:prstGeom prst="roundRect">
            <a:avLst>
              <a:gd name="adj" fmla="val 29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49717" y="2534249"/>
            <a:ext cx="2524658" cy="421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就労・法律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249717" y="3061110"/>
            <a:ext cx="2524658" cy="2002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・ハローワーク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・地域若者サポートステーション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・社会保険労務士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・法律相談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695415"/>
            <a:ext cx="10728655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全部知らなくて大丈夫。ひとつずつ増やしていけます。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498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つなげる ― 事例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80016"/>
            <a:ext cx="10728655" cy="100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聴いたから、つなげました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54450"/>
            <a:ext cx="8368351" cy="634354"/>
          </a:xfrm>
          <a:prstGeom prst="roundRect">
            <a:avLst>
              <a:gd name="adj" fmla="val 14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1954450"/>
            <a:ext cx="7728271" cy="634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病院に行きたくない。休職と言われたら困る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091824" y="2704141"/>
            <a:ext cx="8368351" cy="634354"/>
          </a:xfrm>
          <a:prstGeom prst="roundRect">
            <a:avLst>
              <a:gd name="adj" fmla="val 14415"/>
            </a:avLst>
          </a:prstGeom>
          <a:solidFill>
            <a:srgbClr val="123C2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11864" y="2704141"/>
            <a:ext cx="7728271" cy="634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休職すると困りますよね。〇〇さんにとって、どんなことが困りますか？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31520" y="3453832"/>
            <a:ext cx="8368351" cy="634354"/>
          </a:xfrm>
          <a:prstGeom prst="roundRect">
            <a:avLst>
              <a:gd name="adj" fmla="val 14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51560" y="3453832"/>
            <a:ext cx="7728271" cy="634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働けなくなったらお金がなくなる。家族もいるから、自分は働かないと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091824" y="4203523"/>
            <a:ext cx="8368351" cy="634354"/>
          </a:xfrm>
          <a:prstGeom prst="roundRect">
            <a:avLst>
              <a:gd name="adj" fmla="val 14415"/>
            </a:avLst>
          </a:prstGeom>
          <a:solidFill>
            <a:srgbClr val="123C2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11864" y="4203523"/>
            <a:ext cx="7728271" cy="634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（加入条件を確認したうえで）それならお休みになった場合に、使える制度があるかもしれません。人事や協会けんぽで伺ってみては？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4953214"/>
            <a:ext cx="8368351" cy="634354"/>
          </a:xfrm>
          <a:prstGeom prst="roundRect">
            <a:avLst>
              <a:gd name="adj" fmla="val 1441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51560" y="4953214"/>
            <a:ext cx="7728271" cy="634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そういう制度があるって知らなかった！　それなら休むことも出来るかもしれない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750963"/>
            <a:ext cx="10728655" cy="5766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人事に相談され、通院・投薬を続けながら、仕事を続けられました。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0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つなげる ― 事例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1211"/>
            <a:ext cx="10728655" cy="1051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「薬が怖い」と言われたら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22929"/>
            <a:ext cx="10728655" cy="1201348"/>
          </a:xfrm>
          <a:prstGeom prst="roundRect">
            <a:avLst>
              <a:gd name="adj" fmla="val 76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122929"/>
            <a:ext cx="10728655" cy="1201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「薬が怖い！」　「薬をやめたい！」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731520" y="3574558"/>
            <a:ext cx="5227168" cy="1852078"/>
          </a:xfrm>
          <a:prstGeom prst="roundRect">
            <a:avLst>
              <a:gd name="adj" fmla="val 49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143000" y="3824839"/>
            <a:ext cx="4404208" cy="400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どんなところが怖い？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4295367"/>
            <a:ext cx="4404208" cy="10011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・家族・友人からの誤った情報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・ネットからの誤った情報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・障害者になりたくない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33008" y="3574558"/>
            <a:ext cx="5227168" cy="1852078"/>
          </a:xfrm>
          <a:prstGeom prst="roundRect">
            <a:avLst>
              <a:gd name="adj" fmla="val 49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644488" y="3824839"/>
            <a:ext cx="4404208" cy="400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どうしてそう思うの？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644488" y="4295367"/>
            <a:ext cx="4404208" cy="10011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・いつまで飲み続けるのだろう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・そもそも医師に減薬の相談をしていない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726974"/>
            <a:ext cx="10728655" cy="60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言語化を手伝って、主治医に相談するようお伝えしています。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15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つなげる ― 安全のために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3377"/>
            <a:ext cx="10728655" cy="1096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薬は、止めないよう指導します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01577"/>
            <a:ext cx="10728655" cy="887889"/>
          </a:xfrm>
          <a:prstGeom prst="roundRect">
            <a:avLst>
              <a:gd name="adj" fmla="val 102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31288"/>
            <a:ext cx="438912" cy="43891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400046"/>
            <a:ext cx="438912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2201577"/>
            <a:ext cx="4206240" cy="887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離脱症状の可能性がある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201577"/>
            <a:ext cx="5150815" cy="887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自己判断の中断は危険です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246152"/>
            <a:ext cx="10728655" cy="887889"/>
          </a:xfrm>
          <a:prstGeom prst="roundRect">
            <a:avLst>
              <a:gd name="adj" fmla="val 102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05840" y="3475863"/>
            <a:ext cx="438912" cy="43891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3444621"/>
            <a:ext cx="438912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3246152"/>
            <a:ext cx="4206240" cy="887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越権行為になる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3246152"/>
            <a:ext cx="5150815" cy="887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薬の判断は医師の領域です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290727"/>
            <a:ext cx="10728655" cy="887889"/>
          </a:xfrm>
          <a:prstGeom prst="roundRect">
            <a:avLst>
              <a:gd name="adj" fmla="val 102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05840" y="4520438"/>
            <a:ext cx="438912" cy="43891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4489196"/>
            <a:ext cx="438912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4290727"/>
            <a:ext cx="4206240" cy="887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自分を守るため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4290727"/>
            <a:ext cx="5150815" cy="887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何かあったとき、責任を負えません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00903"/>
            <a:ext cx="10728655" cy="6267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減薬の話が出たら、お伝えするのは「主治医に相談してみては」まで。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自分が潰れない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こんな患者さん、いませんか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589947"/>
            <a:ext cx="10728655" cy="1960474"/>
          </a:xfrm>
          <a:prstGeom prst="roundRect">
            <a:avLst>
              <a:gd name="adj" fmla="val 46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589947"/>
            <a:ext cx="10728655" cy="19604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「今まで、話を聴いてもらえなかった」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979274"/>
            <a:ext cx="10728655" cy="1347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・前の院では、すぐ説明が始まった</a:t>
            </a:r>
            <a:endParaRPr lang="en-US" sz="15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・病院では3分で終わった</a:t>
            </a:r>
            <a:endParaRPr lang="en-US" sz="15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・家族にも、職場にも言えない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69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自分が潰れない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8386"/>
            <a:ext cx="10728655" cy="1078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その方は、長く続く患者さんになります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20650"/>
            <a:ext cx="2936138" cy="1129424"/>
          </a:xfrm>
          <a:prstGeom prst="roundRect">
            <a:avLst>
              <a:gd name="adj" fmla="val 8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220650"/>
            <a:ext cx="2936138" cy="112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聴いてもらえた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713378" y="2220650"/>
            <a:ext cx="548640" cy="112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307738" y="2220650"/>
            <a:ext cx="2936138" cy="1129424"/>
          </a:xfrm>
          <a:prstGeom prst="roundRect">
            <a:avLst>
              <a:gd name="adj" fmla="val 8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307738" y="2220650"/>
            <a:ext cx="2936138" cy="112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ここなら話せる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289597" y="2220650"/>
            <a:ext cx="548640" cy="112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883957" y="2220650"/>
            <a:ext cx="2936138" cy="1129424"/>
          </a:xfrm>
          <a:prstGeom prst="roundRect">
            <a:avLst>
              <a:gd name="adj" fmla="val 8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883957" y="2220650"/>
            <a:ext cx="2936138" cy="1129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ここしかない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709437"/>
            <a:ext cx="10728655" cy="51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売上としては、ありがたい話です。けれど――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479499"/>
            <a:ext cx="10728655" cy="61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「ここしかない」は、患者さんにとって危うい状態です。</a:t>
            </a:r>
            <a:endParaRPr lang="en-US" sz="25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300899"/>
            <a:ext cx="10728655" cy="10267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治らないわけではありません。日常が動きはじめる方も、たくさんいます。</a:t>
            </a:r>
            <a:endParaRPr lang="en-US" sz="15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ただ、依存先がひとつしかないまま、というのが問題なのです。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22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自分が潰れない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7162"/>
            <a:ext cx="10728655" cy="12609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私の、失敗です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24565"/>
            <a:ext cx="10728655" cy="2642087"/>
          </a:xfrm>
          <a:prstGeom prst="roundRect">
            <a:avLst>
              <a:gd name="adj" fmla="val 3461"/>
            </a:avLst>
          </a:prstGeom>
          <a:solidFill>
            <a:srgbClr val="1B4E3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80160" y="2904945"/>
            <a:ext cx="9631375" cy="1921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最初は「ここに来ると、楽になる」と言ってくださっていました。</a:t>
            </a: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どんどん頼られて、私も応えていました。</a:t>
            </a: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endParaRPr lang="en-US" sz="18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180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それが、クレームになりました。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486984"/>
            <a:ext cx="10728655" cy="8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15C9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患者さんのせいではなく、私の距離感が間違っていたのです。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92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自分が潰れない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0860"/>
            <a:ext cx="10728655" cy="1087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距離が近すぎる、3つのサイン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85306"/>
            <a:ext cx="10728655" cy="911315"/>
          </a:xfrm>
          <a:prstGeom prst="roundRect">
            <a:avLst>
              <a:gd name="adj" fmla="val 100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12363"/>
            <a:ext cx="457200" cy="45720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382067"/>
            <a:ext cx="457200" cy="5177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!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185306"/>
            <a:ext cx="5486400" cy="91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施術後、自分が疲れている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2185306"/>
            <a:ext cx="3870655" cy="91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感情を受け取りすぎています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241603"/>
            <a:ext cx="10728655" cy="911315"/>
          </a:xfrm>
          <a:prstGeom prst="roundRect">
            <a:avLst>
              <a:gd name="adj" fmla="val 100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05840" y="3468661"/>
            <a:ext cx="457200" cy="45720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3438364"/>
            <a:ext cx="457200" cy="5177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!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241603"/>
            <a:ext cx="5486400" cy="91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患者さんの課題を、自分ごとにしている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241603"/>
            <a:ext cx="3870655" cy="91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その課題は、誰のものですか？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297900"/>
            <a:ext cx="10728655" cy="911315"/>
          </a:xfrm>
          <a:prstGeom prst="roundRect">
            <a:avLst>
              <a:gd name="adj" fmla="val 100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05840" y="4524958"/>
            <a:ext cx="457200" cy="45720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4494662"/>
            <a:ext cx="457200" cy="5177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!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297900"/>
            <a:ext cx="5486400" cy="91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時間外の連絡に、応じている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4297900"/>
            <a:ext cx="3870655" cy="9113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枠が消えると、関係は壊れます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06297"/>
            <a:ext cx="10728655" cy="6213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疲れるのは、優しいからではありません。近すぎるからです。</a:t>
            </a:r>
            <a:endParaRPr lang="en-US" sz="23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6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自分が潰れない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0581"/>
            <a:ext cx="10728655" cy="12363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依存させ切らない。次の依存先へ、つなぐ。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42074"/>
            <a:ext cx="3256178" cy="2708127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067001" y="2879483"/>
            <a:ext cx="585216" cy="585216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067001" y="2795308"/>
            <a:ext cx="585216" cy="753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737266"/>
            <a:ext cx="2707538" cy="49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受け止める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4325989"/>
            <a:ext cx="2707538" cy="70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まず、ちゃんと聴く。ここを飛ばすと繋がりません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07738" y="2442074"/>
            <a:ext cx="3256178" cy="2708127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643220" y="2879483"/>
            <a:ext cx="585216" cy="585216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43220" y="2795308"/>
            <a:ext cx="585216" cy="753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3737266"/>
            <a:ext cx="2707538" cy="49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枠をつくる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582058" y="4325989"/>
            <a:ext cx="2707538" cy="70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「今日は10分、じっくり伺います」と先に言う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883957" y="2442074"/>
            <a:ext cx="3256178" cy="2708127"/>
          </a:xfrm>
          <a:prstGeom prst="roundRect">
            <a:avLst>
              <a:gd name="adj" fmla="val 33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219438" y="2879483"/>
            <a:ext cx="585216" cy="585216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219438" y="2795308"/>
            <a:ext cx="585216" cy="753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158277" y="3737266"/>
            <a:ext cx="2707538" cy="494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渡していく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158277" y="4325989"/>
            <a:ext cx="2707538" cy="70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自分以外の依存先を、一緒に探す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621180"/>
            <a:ext cx="10728655" cy="706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適切な距離とは、冷たさではなく、渡す準備のことです。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3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自分が潰れない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16647"/>
            <a:ext cx="10728655" cy="1146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なぜ「良くなった」と言われたいのでしょう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87361"/>
            <a:ext cx="5227168" cy="1637954"/>
          </a:xfrm>
          <a:prstGeom prst="roundRect">
            <a:avLst>
              <a:gd name="adj" fmla="val 55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287361"/>
            <a:ext cx="5227168" cy="1637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なぜ、良くなったと</a:t>
            </a:r>
            <a:endParaRPr lang="en-US" sz="2100" dirty="0"/>
          </a:p>
          <a:p>
            <a:pPr algn="ctr"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言われたいのか？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33008" y="2287361"/>
            <a:ext cx="5227168" cy="1637954"/>
          </a:xfrm>
          <a:prstGeom prst="roundRect">
            <a:avLst>
              <a:gd name="adj" fmla="val 55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233008" y="2287361"/>
            <a:ext cx="5227168" cy="16379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なぜ、アドバイスを</a:t>
            </a:r>
            <a:endParaRPr lang="en-US" sz="2100" dirty="0"/>
          </a:p>
          <a:p>
            <a:pPr algn="ctr"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したいのか？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307504"/>
            <a:ext cx="10728655" cy="655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この2つは、根っこが似ています。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126482"/>
            <a:ext cx="10728655" cy="1201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15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どちらも「自分が認められたい」から出ていることがあります。</a:t>
            </a:r>
            <a:endParaRPr lang="en-US" sz="1550" dirty="0"/>
          </a:p>
          <a:p>
            <a:pPr algn="l" indent="0" marL="0">
              <a:lnSpc>
                <a:spcPts val="2900"/>
              </a:lnSpc>
              <a:buNone/>
            </a:pPr>
            <a:r>
              <a:rPr lang="en-US" sz="15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傾聴を実践していくと、そこに気づけます。腑に落ちると、ぐっと楽になります。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0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35906"/>
            <a:ext cx="1828800" cy="727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B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763320"/>
            <a:ext cx="10728655" cy="12469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症例 ― 鍼灸と傾聴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166190"/>
            <a:ext cx="10728655" cy="519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入院を回避できた、一例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2C644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　なぜ、聴くのか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922971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2C644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922971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　聴けると、できること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68702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34D39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68702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　症例 ― 鍼灸と傾聴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14433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2C644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14433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　傾聴のやり方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360164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2C644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360164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　明日から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69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症例 ― 鍼灸と傾聴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8386"/>
            <a:ext cx="10728655" cy="1078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標準治療で、難渋していた方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17975"/>
            <a:ext cx="6008047" cy="2823561"/>
          </a:xfrm>
          <a:prstGeom prst="roundRect">
            <a:avLst>
              <a:gd name="adj" fmla="val 32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426000"/>
            <a:ext cx="5093647" cy="410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42歳　女性　主婦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939375"/>
            <a:ext cx="5093647" cy="18481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主訴：全身倦怠感・頭痛・睡眠障害</a:t>
            </a:r>
            <a:endParaRPr lang="en-US" sz="1450" dirty="0"/>
          </a:p>
          <a:p>
            <a:pPr algn="l" indent="0" marL="0">
              <a:lnSpc>
                <a:spcPts val="2700"/>
              </a:lnSpc>
              <a:buNone/>
            </a:pPr>
            <a:endParaRPr lang="en-US" sz="145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うつ病の発症から17年。再発をくり返してきた。</a:t>
            </a:r>
            <a:endParaRPr lang="en-US" sz="145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2ヶ月前、任意入院を勧められた。</a:t>
            </a:r>
            <a:endParaRPr lang="en-US" sz="1450" dirty="0"/>
          </a:p>
          <a:p>
            <a:pPr algn="l" indent="0" marL="0">
              <a:lnSpc>
                <a:spcPts val="27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けれど子どもは3歳。入院は、難しかった。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242487" y="2220650"/>
            <a:ext cx="4217688" cy="308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初診時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242487" y="2549210"/>
            <a:ext cx="4217688" cy="4312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PHQ-9　13点　／　PHQ-15　20点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242487" y="3165260"/>
            <a:ext cx="4217688" cy="308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東洋医学的病態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242487" y="3493819"/>
            <a:ext cx="4217688" cy="4312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脾陽虚・胃熱・肝鬱気滞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242487" y="4109869"/>
            <a:ext cx="4217688" cy="308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ご本人の目標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242487" y="4438429"/>
            <a:ext cx="4217688" cy="4312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「働くこと」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249561"/>
            <a:ext cx="10728655" cy="56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入院を避けたい。それが、来院の理由でした。</a:t>
            </a:r>
            <a:endParaRPr lang="en-US" sz="2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968286"/>
            <a:ext cx="10728655" cy="35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米倉まな・松浦悠人・柴田健一「標準治療で難渋したうつ病患者に鍼灸と傾聴が奏功した一症例」日本うつ病学会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3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症例 ― 鍼灸と傾聴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5938"/>
            <a:ext cx="10728655" cy="1106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鍼灸で、やっていたこと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65447"/>
            <a:ext cx="6222620" cy="632233"/>
          </a:xfrm>
          <a:prstGeom prst="roundRect">
            <a:avLst>
              <a:gd name="adj" fmla="val 144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165447"/>
            <a:ext cx="146304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温補脾陽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651760" y="2165447"/>
            <a:ext cx="402806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全身倦怠感・めまい・冷え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924126"/>
            <a:ext cx="6222620" cy="632233"/>
          </a:xfrm>
          <a:prstGeom prst="roundRect">
            <a:avLst>
              <a:gd name="adj" fmla="val 144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51560" y="2924126"/>
            <a:ext cx="146304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清胃熱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2924126"/>
            <a:ext cx="402806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胃のむかつき・便秘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682806"/>
            <a:ext cx="6222620" cy="632233"/>
          </a:xfrm>
          <a:prstGeom prst="roundRect">
            <a:avLst>
              <a:gd name="adj" fmla="val 144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051560" y="3682806"/>
            <a:ext cx="146304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疏肝理気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3682806"/>
            <a:ext cx="4028060" cy="6322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頭痛・睡眠障害・イライラ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9900" y="2165447"/>
            <a:ext cx="4140275" cy="2465709"/>
          </a:xfrm>
          <a:prstGeom prst="roundRect">
            <a:avLst>
              <a:gd name="adj" fmla="val 370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639940" y="2428877"/>
            <a:ext cx="3500195" cy="3371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使った経穴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639940" y="2818754"/>
            <a:ext cx="3500195" cy="895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百会　風池　完骨　肩井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足三里　三陰交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7639940" y="3798715"/>
            <a:ext cx="3500195" cy="4214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2A7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＋　腹部の散鍼（鍼による擦過刺激）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799751"/>
            <a:ext cx="10728655" cy="842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使用鍼：0.12〜0.20mm ステンレス鍼　／　灸：温筒灸・棒灸</a:t>
            </a:r>
            <a:endParaRPr lang="en-US" sz="12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10診目〜 頭部に電気鍼（1Hz・15分）　／　15診目〜 頭痛にセルフケアの耳灸を指導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748101"/>
            <a:ext cx="10728655" cy="579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鍼灸は、特別なことをしていません。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02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症例 ― 鍼灸と傾聴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1211"/>
            <a:ext cx="10728655" cy="1051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同じように、聴いていたわけではありません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072873"/>
            <a:ext cx="10728655" cy="740831"/>
          </a:xfrm>
          <a:prstGeom prst="roundRect">
            <a:avLst>
              <a:gd name="adj" fmla="val 123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072873"/>
            <a:ext cx="100584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2–4診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2072873"/>
            <a:ext cx="44805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受容と共感で、まず信頼関係をつくる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766560" y="2072873"/>
            <a:ext cx="3657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223760" y="2072873"/>
            <a:ext cx="3916375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頭痛薬と頓服が、止まった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933839"/>
            <a:ext cx="10728655" cy="740831"/>
          </a:xfrm>
          <a:prstGeom prst="roundRect">
            <a:avLst>
              <a:gd name="adj" fmla="val 123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1051560" y="2933839"/>
            <a:ext cx="100584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5–10診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933839"/>
            <a:ext cx="44805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家族の課題について、情報を整理する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2933839"/>
            <a:ext cx="3657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933839"/>
            <a:ext cx="3916375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抑うつを感じにくくなり、出かけるように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794806"/>
            <a:ext cx="10728655" cy="740831"/>
          </a:xfrm>
          <a:prstGeom prst="roundRect">
            <a:avLst>
              <a:gd name="adj" fmla="val 123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1051560" y="3794806"/>
            <a:ext cx="100584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11–15診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3794806"/>
            <a:ext cx="44805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行動と問題に焦点を当て、できる範囲を明確に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3794806"/>
            <a:ext cx="3657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223760" y="3794806"/>
            <a:ext cx="3916375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主治医も親も「回復に驚いている」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4655772"/>
            <a:ext cx="10728655" cy="740831"/>
          </a:xfrm>
          <a:prstGeom prst="roundRect">
            <a:avLst>
              <a:gd name="adj" fmla="val 123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51560" y="4655772"/>
            <a:ext cx="100584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16–20診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4655772"/>
            <a:ext cx="44805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どう感じているかを聴き、感情の認知を促す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4655772"/>
            <a:ext cx="365760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4655772"/>
            <a:ext cx="3916375" cy="7408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「次回も鍼灸、楽しみにしている」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5726974"/>
            <a:ext cx="10728655" cy="6006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傾聴にも、順番があります。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58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症例 ― 鍼灸と傾聴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88898"/>
            <a:ext cx="10728655" cy="1042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20診　184日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008692"/>
            <a:ext cx="6437193" cy="317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PHQ-9（うつ症状）の推移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356195"/>
          <a:ext cx="6437193" cy="2581445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383286" y="2157622"/>
            <a:ext cx="4076889" cy="2978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PHQ-9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383286" y="2455481"/>
            <a:ext cx="4076889" cy="943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13　→　5</a:t>
            </a:r>
            <a:endParaRPr lang="en-US" sz="4600" dirty="0"/>
          </a:p>
        </p:txBody>
      </p:sp>
      <p:sp>
        <p:nvSpPr>
          <p:cNvPr id="8" name="Text 5"/>
          <p:cNvSpPr txBox="1"/>
          <p:nvPr/>
        </p:nvSpPr>
        <p:spPr>
          <a:xfrm>
            <a:off x="7383286" y="3547631"/>
            <a:ext cx="4076889" cy="14892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身体症状（PHQ-15）は 20 → 19。</a:t>
            </a:r>
            <a:endParaRPr lang="en-US" sz="13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大きくは変わっていません。</a:t>
            </a:r>
            <a:endParaRPr lang="en-US" sz="1350" dirty="0"/>
          </a:p>
          <a:p>
            <a:pPr algn="l" indent="0" marL="0">
              <a:lnSpc>
                <a:spcPts val="2400"/>
              </a:lnSpc>
              <a:buNone/>
            </a:pPr>
            <a:endParaRPr lang="en-US" sz="13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変わったのは、気分と睡眠、</a:t>
            </a:r>
            <a:endParaRPr lang="en-US" sz="135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そして日常生活でした。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285141"/>
            <a:ext cx="10728655" cy="59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入院は、回避できました。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980146"/>
            <a:ext cx="10728655" cy="347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米倉まな・松浦悠人・柴田健一「標準治療で難渋したうつ病患者に鍼灸と傾聴が奏功した一症例」日本うつ病学会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0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35906"/>
            <a:ext cx="1828800" cy="727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B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763320"/>
            <a:ext cx="10728655" cy="12469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傾聴のやり方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166190"/>
            <a:ext cx="10728655" cy="519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8つの技法と、やってしまいがちなこと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2C644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　なぜ、聴くのか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922971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2C644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922971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　聴けると、できること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68702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2C644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68702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　症例 ― 鍼灸と傾聴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14433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34D39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14433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　傾聴のやり方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360164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2C644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360164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　明日から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69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8386"/>
            <a:ext cx="10728655" cy="1078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傾聴の、8つの技法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69313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2354939"/>
            <a:ext cx="347472" cy="34747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333592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169313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相手の気持ちを汲み取る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33008" y="2169313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89040" y="2354939"/>
            <a:ext cx="347472" cy="34747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9040" y="2333592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010248" y="2169313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繰り返し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3011247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87552" y="3196873"/>
            <a:ext cx="347472" cy="34747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87552" y="3175527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3011247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パラフレーズ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33008" y="3011247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89040" y="3196873"/>
            <a:ext cx="347472" cy="34747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9040" y="3175527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10248" y="3011247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明確化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31520" y="3853182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87552" y="4038808"/>
            <a:ext cx="347472" cy="34747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87552" y="4017462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3853182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沈黙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33008" y="3853182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89040" y="4038808"/>
            <a:ext cx="347472" cy="34747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89040" y="4017462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10248" y="3853182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相手がもっとも問題と感じている所にスポットを当てる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731520" y="4695116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87552" y="4880743"/>
            <a:ext cx="347472" cy="34747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87552" y="4859396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508760" y="4695116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相手ができる範囲を明確化する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233008" y="4695116"/>
            <a:ext cx="5227168" cy="718725"/>
          </a:xfrm>
          <a:prstGeom prst="roundRect">
            <a:avLst>
              <a:gd name="adj" fmla="val 127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489040" y="4880743"/>
            <a:ext cx="347472" cy="34747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489040" y="4859396"/>
            <a:ext cx="347472" cy="390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8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010248" y="4695116"/>
            <a:ext cx="4221328" cy="7187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相手が主体的に行っている事柄に注目する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731520" y="5711598"/>
            <a:ext cx="10728655" cy="616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今日は、この8つを順に見ていきます。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7408"/>
            <a:ext cx="3108960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① ②　③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840480" y="597408"/>
            <a:ext cx="7619695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まず、受け取る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2250362"/>
            <a:ext cx="10728655" cy="1212166"/>
          </a:xfrm>
          <a:prstGeom prst="roundRect">
            <a:avLst>
              <a:gd name="adj" fmla="val 7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188720" y="2448716"/>
            <a:ext cx="9814255" cy="462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① 相手の気持ちを汲み取る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933583"/>
            <a:ext cx="9814255" cy="440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「つらかったですね」――事実ではなく、感情に返す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682922"/>
            <a:ext cx="10728655" cy="1212166"/>
          </a:xfrm>
          <a:prstGeom prst="roundRect">
            <a:avLst>
              <a:gd name="adj" fmla="val 7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188720" y="3881276"/>
            <a:ext cx="9814255" cy="462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② 繰り返し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4366143"/>
            <a:ext cx="9814255" cy="440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相手の言葉を、相手の言葉のまま返す。言い換えない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5115482"/>
            <a:ext cx="10728655" cy="1212166"/>
          </a:xfrm>
          <a:prstGeom prst="roundRect">
            <a:avLst>
              <a:gd name="adj" fmla="val 7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1188720" y="5313836"/>
            <a:ext cx="9814255" cy="462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③ パラフレーズ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5798703"/>
            <a:ext cx="9814255" cy="440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長い話を、短く言い直して確認する。「つまり〇〇ということですか？」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29473"/>
            <a:ext cx="31089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④　⑤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840480" y="629473"/>
            <a:ext cx="76196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深める、待つ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2467417"/>
            <a:ext cx="10728655" cy="1347826"/>
          </a:xfrm>
          <a:prstGeom prst="roundRect">
            <a:avLst>
              <a:gd name="adj" fmla="val 67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188720" y="2687970"/>
            <a:ext cx="9814255" cy="514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④ 明確化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3227100"/>
            <a:ext cx="9814255" cy="490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あいまいなところを聞き返す。その『しんどい』は、どんな感じですか？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4060302"/>
            <a:ext cx="10728655" cy="1347826"/>
          </a:xfrm>
          <a:prstGeom prst="roundRect">
            <a:avLst>
              <a:gd name="adj" fmla="val 67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188720" y="4280855"/>
            <a:ext cx="9814255" cy="514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⑤ 沈黙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4819985"/>
            <a:ext cx="9814255" cy="490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言い終わってから、心のなかで1・2・3。置鍼の待ち時間と同じです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6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7408"/>
            <a:ext cx="3108960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⑥ ⑦　⑧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3840480" y="597408"/>
            <a:ext cx="7619695" cy="5509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焦点を当て、返していく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2250362"/>
            <a:ext cx="10728655" cy="1212166"/>
          </a:xfrm>
          <a:prstGeom prst="roundRect">
            <a:avLst>
              <a:gd name="adj" fmla="val 7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188720" y="2448716"/>
            <a:ext cx="9814255" cy="462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⑥ もっとも問題と感じている所にスポットを当てる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933583"/>
            <a:ext cx="9814255" cy="440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全部は扱えません。本人がいちばん困っている一点へ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682922"/>
            <a:ext cx="10728655" cy="1212166"/>
          </a:xfrm>
          <a:prstGeom prst="roundRect">
            <a:avLst>
              <a:gd name="adj" fmla="val 7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188720" y="3881276"/>
            <a:ext cx="9814255" cy="462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⑦ 相手ができる範囲を明確化する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4366143"/>
            <a:ext cx="9814255" cy="440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「どこまでならできそうですか？」――主語を相手に戻す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5115482"/>
            <a:ext cx="10728655" cy="1212166"/>
          </a:xfrm>
          <a:prstGeom prst="roundRect">
            <a:avLst>
              <a:gd name="adj" fmla="val 754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1188720" y="5313836"/>
            <a:ext cx="9814255" cy="462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⑧ 主体的に行っている事柄に注目する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5798703"/>
            <a:ext cx="9814255" cy="440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すでにやれていることを見つけて、言葉にして返す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66928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感情を、追い越さない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7724632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1920240"/>
            <a:ext cx="708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こういうことが、あったんです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735543" y="2633472"/>
            <a:ext cx="7724632" cy="603504"/>
          </a:xfrm>
          <a:prstGeom prst="roundRect">
            <a:avLst>
              <a:gd name="adj" fmla="val 15152"/>
            </a:avLst>
          </a:prstGeom>
          <a:solidFill>
            <a:srgbClr val="123C2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055583" y="2633472"/>
            <a:ext cx="70845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ああ、それは辛かったですね。大変でしたね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474720"/>
            <a:ext cx="10728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その方の気持ちが「辛い」ではなかったとき、</a:t>
            </a:r>
            <a:endParaRPr lang="en-US" sz="2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患者さんは「分かってもらえない」になります。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731520" y="4572000"/>
            <a:ext cx="10728655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1188720" y="47548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まず、繰り返す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4754880"/>
            <a:ext cx="7345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「そういうことが、あったんですね」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5303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そのあと、聞く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5303520"/>
            <a:ext cx="7345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「そのとき、どんなお気持ちでしたか？」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6126480"/>
            <a:ext cx="107286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感情は、こちらが決めるものではありません。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81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327321"/>
            <a:ext cx="10728655" cy="1192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自動思考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628240"/>
            <a:ext cx="10728655" cy="54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4D39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無意識に浮かんでくる思考のこと。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441315"/>
            <a:ext cx="4937760" cy="54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・無意識的で、瞬間的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852160" y="4441315"/>
            <a:ext cx="5608015" cy="54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自分の意志で考えたわけではなく、反射のように浮かぶ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113457"/>
            <a:ext cx="4937760" cy="54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・本人は「絶対的な真実」と捉えがち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5113457"/>
            <a:ext cx="5608015" cy="54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疑うことなく、客観的な事実だと信じ込みやすい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785598"/>
            <a:ext cx="4937760" cy="54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F5EE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・感情と身体反応を、直接動かす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5785598"/>
            <a:ext cx="5608015" cy="542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不安・落ち込み、緊張・動悸などが引き起こされる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3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37386"/>
            <a:ext cx="10728655" cy="12243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自己認知してもらうための、傾聴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21423"/>
            <a:ext cx="2936138" cy="2448678"/>
          </a:xfrm>
          <a:prstGeom prst="roundRect">
            <a:avLst>
              <a:gd name="adj" fmla="val 3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2712933"/>
            <a:ext cx="2387498" cy="466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6F60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出来事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295951"/>
            <a:ext cx="2387498" cy="1399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遅刻した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713378" y="2421423"/>
            <a:ext cx="548640" cy="2448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307738" y="2421423"/>
            <a:ext cx="2936138" cy="2448678"/>
          </a:xfrm>
          <a:prstGeom prst="roundRect">
            <a:avLst>
              <a:gd name="adj" fmla="val 3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82058" y="2712933"/>
            <a:ext cx="2387498" cy="466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自動思考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82058" y="3295951"/>
            <a:ext cx="2387498" cy="1399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「なんで起こしてくれないの」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「自分はダメだ」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「あの人はできてるのに」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289597" y="2421423"/>
            <a:ext cx="548640" cy="2448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883957" y="2421423"/>
            <a:ext cx="2936138" cy="2448678"/>
          </a:xfrm>
          <a:prstGeom prst="roundRect">
            <a:avLst>
              <a:gd name="adj" fmla="val 3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158277" y="2712933"/>
            <a:ext cx="2387498" cy="4664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感情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158277" y="3295951"/>
            <a:ext cx="2387498" cy="1399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焦り・悲しみ</a:t>
            </a:r>
            <a:endParaRPr lang="en-US" sz="13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情けなさ・怒り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219913"/>
            <a:ext cx="10728655" cy="1107735"/>
          </a:xfrm>
          <a:prstGeom prst="roundRect">
            <a:avLst>
              <a:gd name="adj" fmla="val 8255"/>
            </a:avLst>
          </a:prstGeom>
          <a:solidFill>
            <a:srgbClr val="34D39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" y="5219913"/>
            <a:ext cx="10728655" cy="11077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ここに「それはダメだ」と評価を入れてしまうのが、ジャッジメント。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ワーク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ワーク①　イラストを覚えてください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712476"/>
            <a:ext cx="10728655" cy="2205533"/>
          </a:xfrm>
          <a:prstGeom prst="roundRect">
            <a:avLst>
              <a:gd name="adj" fmla="val 41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712476"/>
            <a:ext cx="10728655" cy="22055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次の画面に出るイラストを、10秒間しっかり見て、覚えてください。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ayonekura/9d042e6e-db53-56ae-891b-2f39c336e1c1/scratchpad/assets/pink-eleph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417320"/>
            <a:ext cx="3200400" cy="32004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4892040"/>
            <a:ext cx="10728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10秒間、しっかり見てください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ワーク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ピンクの象が挙げていた足は、向かって右？　左？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835006"/>
            <a:ext cx="10728655" cy="2328062"/>
          </a:xfrm>
          <a:prstGeom prst="roundRect">
            <a:avLst>
              <a:gd name="adj" fmla="val 39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835006"/>
            <a:ext cx="10728655" cy="23280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右　or　左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653187"/>
            <a:ext cx="107286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答えは、あとで出します。いまは覚えておいてください。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ワーク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ワーク②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589947"/>
            <a:ext cx="10728655" cy="2450592"/>
          </a:xfrm>
          <a:prstGeom prst="roundRect">
            <a:avLst>
              <a:gd name="adj" fmla="val 4478"/>
            </a:avLst>
          </a:prstGeom>
          <a:solidFill>
            <a:srgbClr val="F15C9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589947"/>
            <a:ext cx="10728655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3分間、目を閉じて</a:t>
            </a:r>
            <a:endParaRPr lang="en-US" sz="30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ピンクの象を思い出さないでください。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530657"/>
            <a:ext cx="107286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4D39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では、目を閉じてください。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53128" y="1371600"/>
            <a:ext cx="3291840" cy="3291840"/>
          </a:xfrm>
          <a:prstGeom prst="ellipse">
            <a:avLst/>
          </a:prstGeom>
          <a:solidFill>
            <a:srgbClr val="123C2A"/>
          </a:solidFill>
          <a:ln w="38100">
            <a:solidFill>
              <a:srgbClr val="34D39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453128" y="137160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7772400" y="32461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FB8A2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分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50292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目を閉じたまま、ピンクの象を思い出さないでください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185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ワーク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3979"/>
            <a:ext cx="10728655" cy="1286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3分の間、ピンクの象を思い浮かべなかった方はいますか？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835006"/>
            <a:ext cx="10728655" cy="2083003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835006"/>
            <a:ext cx="10728655" cy="20830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……たぶん、いませんよね。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408127"/>
            <a:ext cx="1072865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むしろ、思い出さないようにするほど、はっきり浮かんだはずです。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146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FB8A2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勝手に浮かんでくるのが、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37560"/>
            <a:ext cx="10728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自動思考です。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66928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「気にしないで」と、言っていませんか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25617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920240"/>
            <a:ext cx="27989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「気にしないでくださいね」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307738" y="1920240"/>
            <a:ext cx="325617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36338" y="1920240"/>
            <a:ext cx="27989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「考えすぎですよ」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883957" y="1920240"/>
            <a:ext cx="3256178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112557" y="1920240"/>
            <a:ext cx="279897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「大丈夫、すぐ良くなりますよ」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31520" y="3246120"/>
            <a:ext cx="10728655" cy="868680"/>
          </a:xfrm>
          <a:prstGeom prst="roundRect">
            <a:avLst>
              <a:gd name="adj" fmla="val 10526"/>
            </a:avLst>
          </a:prstGeom>
          <a:solidFill>
            <a:srgbClr val="34D39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3246120"/>
            <a:ext cx="107286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これは「ピンクの象を思い出さないでください」と、同じことをお願いしています。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480560"/>
            <a:ext cx="107286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気にしないなんて、無理なんです。</a:t>
            </a:r>
            <a:endParaRPr lang="en-US" sz="3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440680"/>
            <a:ext cx="10728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患者さんが気にしてしまうのは、意志が弱いからではありません。</a:t>
            </a:r>
            <a:endParaRPr lang="en-US" sz="15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私たちが「ピンクの象」を思い出してしまったのと、同じ仕組みです。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62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傾聴のやり方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93562"/>
            <a:ext cx="10728655" cy="1059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浮かぶのは「当たり前」です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88607"/>
            <a:ext cx="10728655" cy="1918092"/>
          </a:xfrm>
          <a:prstGeom prst="roundRect">
            <a:avLst>
              <a:gd name="adj" fmla="val 4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2188607"/>
            <a:ext cx="10728655" cy="19180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4400"/>
              </a:lnSpc>
              <a:buNone/>
            </a:pPr>
            <a:r>
              <a:rPr lang="en-US" sz="2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浮かんだ感情を「ダメ」と否定すること。</a:t>
            </a:r>
            <a:endParaRPr lang="en-US" sz="2600" dirty="0"/>
          </a:p>
          <a:p>
            <a:pPr algn="ctr" indent="0" marL="0">
              <a:lnSpc>
                <a:spcPts val="4400"/>
              </a:lnSpc>
              <a:buNone/>
            </a:pPr>
            <a:r>
              <a:rPr lang="en-US" sz="2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それが、ジャッジです。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4460032"/>
            <a:ext cx="5227168" cy="959046"/>
          </a:xfrm>
          <a:prstGeom prst="roundRect">
            <a:avLst>
              <a:gd name="adj" fmla="val 9534"/>
            </a:avLst>
          </a:prstGeom>
          <a:solidFill>
            <a:srgbClr val="34D39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4460032"/>
            <a:ext cx="5227168" cy="95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なんでダメなの？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33008" y="4460032"/>
            <a:ext cx="5227168" cy="959046"/>
          </a:xfrm>
          <a:prstGeom prst="roundRect">
            <a:avLst>
              <a:gd name="adj" fmla="val 9534"/>
            </a:avLst>
          </a:prstGeom>
          <a:solidFill>
            <a:srgbClr val="34D39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33008" y="4460032"/>
            <a:ext cx="5227168" cy="959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ほんとにダメなの？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721935"/>
            <a:ext cx="10728655" cy="605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この2つを、自分に向けられるようになると楽になります。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だから、聴くんです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66928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聴けたから、できたこと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1072865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2039112"/>
            <a:ext cx="310896" cy="310896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20391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①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9202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証が立った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669280" y="1920240"/>
            <a:ext cx="5470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睡眠・食欲・便通・情志が、出てきた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" y="2560320"/>
            <a:ext cx="1072865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87552" y="2679192"/>
            <a:ext cx="310896" cy="310896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87552" y="2679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②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5603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見落とさなかった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0" y="2560320"/>
            <a:ext cx="5470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幻視と手の震えに、気づけた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31520" y="3200400"/>
            <a:ext cx="1072865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87552" y="3319272"/>
            <a:ext cx="310896" cy="310896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87552" y="3319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②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2004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治療目標が分かった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3200400"/>
            <a:ext cx="5470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その方の目標は「働くこと」だった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31520" y="3840480"/>
            <a:ext cx="1072865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87552" y="3959352"/>
            <a:ext cx="310896" cy="310896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87552" y="3959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③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38404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制度につなげた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3840480"/>
            <a:ext cx="5470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傷病手当金を、知らない方だった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31520" y="4480560"/>
            <a:ext cx="1072865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87552" y="4599432"/>
            <a:ext cx="310896" cy="310896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7552" y="4599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③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508760" y="44805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薬をやめずに済んだ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0" y="4480560"/>
            <a:ext cx="5470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不安を言葉にして、主治医へ渡せた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731520" y="5120640"/>
            <a:ext cx="10728655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87552" y="5239512"/>
            <a:ext cx="310896" cy="310896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87552" y="5239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④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1508760" y="5120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入院を回避できた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0" y="5120640"/>
            <a:ext cx="5470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PHQ-9　13 → 5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5806440"/>
            <a:ext cx="66517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どれも、聴かなければ できませんでした。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7383286" y="5760720"/>
            <a:ext cx="40768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だから、聴くんです。</a:t>
            </a:r>
            <a:endParaRPr lang="en-US" sz="3000" dirty="0"/>
          </a:p>
        </p:txBody>
      </p:sp>
      <p:sp>
        <p:nvSpPr>
          <p:cNvPr id="36" name="Text 3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23C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0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35906"/>
            <a:ext cx="1828800" cy="7274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B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763320"/>
            <a:ext cx="10728655" cy="12469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明日から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166190"/>
            <a:ext cx="10728655" cy="519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FB8A2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まず、最初の90秒から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2C644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　なぜ、聴くのか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922971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2C644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922971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　聴けると、できること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68702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2C644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68702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　症例 ― 鍼灸と傾聴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14433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2C644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14433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　傾聴のやり方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360164" y="5776892"/>
            <a:ext cx="2054291" cy="62350"/>
          </a:xfrm>
          <a:prstGeom prst="roundRect">
            <a:avLst>
              <a:gd name="adj" fmla="val 43997"/>
            </a:avLst>
          </a:prstGeom>
          <a:solidFill>
            <a:srgbClr val="34D39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360164" y="5963941"/>
            <a:ext cx="2054291" cy="363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　明日から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A645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56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309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明日から、やってみる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43839"/>
            <a:ext cx="10728655" cy="12485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明日からできる、3つの型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463133"/>
            <a:ext cx="3256178" cy="2734887"/>
          </a:xfrm>
          <a:prstGeom prst="roundRect">
            <a:avLst>
              <a:gd name="adj" fmla="val 33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75561" y="2935224"/>
            <a:ext cx="768096" cy="768096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975561" y="2819858"/>
            <a:ext cx="768096" cy="998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型1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4008939"/>
            <a:ext cx="2798978" cy="535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最初の90秒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4544026"/>
            <a:ext cx="2798978" cy="47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遮らない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07738" y="2463133"/>
            <a:ext cx="3256178" cy="2734887"/>
          </a:xfrm>
          <a:prstGeom prst="roundRect">
            <a:avLst>
              <a:gd name="adj" fmla="val 33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551780" y="2935224"/>
            <a:ext cx="768096" cy="768096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551780" y="2819858"/>
            <a:ext cx="768096" cy="998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型2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36338" y="4008939"/>
            <a:ext cx="2798978" cy="535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反復＋一拍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36338" y="4544026"/>
            <a:ext cx="2798978" cy="47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相手の言葉のまま返す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883957" y="2463133"/>
            <a:ext cx="3256178" cy="2734887"/>
          </a:xfrm>
          <a:prstGeom prst="roundRect">
            <a:avLst>
              <a:gd name="adj" fmla="val 33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27998" y="2935224"/>
            <a:ext cx="768096" cy="768096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27998" y="2819858"/>
            <a:ext cx="768096" cy="9988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型3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112557" y="4008939"/>
            <a:ext cx="2798978" cy="5350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締めを閉じない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112557" y="4544026"/>
            <a:ext cx="2798978" cy="4756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開いた質問で終わる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33107"/>
            <a:ext cx="10728655" cy="5945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全部やらなくて大丈夫です。ひとつだけ選んでください。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57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明日から、やってみる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13658"/>
            <a:ext cx="777240" cy="77724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25204"/>
            <a:ext cx="777240" cy="954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25204"/>
            <a:ext cx="274320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型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29314"/>
            <a:ext cx="8686800" cy="69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最初の90秒は、遮らない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2398799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691731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662593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398799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問診票を見ない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431525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724457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3695319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31525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ペンを、いったん置く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464251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4757183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51560" y="4728045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4251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「今日はどうされましたか？」のあと、90秒 何も足さない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10257"/>
            <a:ext cx="10728655" cy="6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90秒です。1日10人でも15分。それだけです。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58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明日から、やってみる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13658"/>
            <a:ext cx="777240" cy="77724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25204"/>
            <a:ext cx="777240" cy="954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25204"/>
            <a:ext cx="274320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型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29314"/>
            <a:ext cx="8686800" cy="69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反復して、一拍おく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2398799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691731"/>
            <a:ext cx="256032" cy="25603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662593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398799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相手の言葉を、相手の言葉のまま返す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431525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724457"/>
            <a:ext cx="256032" cy="25603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3695319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31525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「ずっと、しんどかったんですね」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464251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4757183"/>
            <a:ext cx="256032" cy="256032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51560" y="4728045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4251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要約もリフレーミングもしない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10257"/>
            <a:ext cx="10728655" cy="6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言い換えた瞬間、それは自分の言葉になります。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59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91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明日から、やってみる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731520" y="713658"/>
            <a:ext cx="777240" cy="77724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25204"/>
            <a:ext cx="777240" cy="954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1783080" y="625204"/>
            <a:ext cx="2743200" cy="392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型 3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029314"/>
            <a:ext cx="8686800" cy="695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施術後を、閉じない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2398799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691731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662593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398799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✕　「軽くなりましたか？」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431525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51560" y="3724457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51560" y="3695319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31525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◯　「いま、どんな感じですか？」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31520" y="4464251"/>
            <a:ext cx="10728655" cy="841896"/>
          </a:xfrm>
          <a:prstGeom prst="roundRect">
            <a:avLst>
              <a:gd name="adj" fmla="val 108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051560" y="4757183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51560" y="4728045"/>
            <a:ext cx="256032" cy="314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464251"/>
            <a:ext cx="9539935" cy="841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閉じた質問は、情報を閉じる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5710257"/>
            <a:ext cx="10728655" cy="6173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最後のひとことで、次回の情報量が決まります。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60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38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まとめ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67709"/>
            <a:ext cx="10728655" cy="9630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今日、持ち帰っていただきたいこと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25147"/>
            <a:ext cx="10728655" cy="779610"/>
          </a:xfrm>
          <a:prstGeom prst="roundRect">
            <a:avLst>
              <a:gd name="adj" fmla="val 117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33272" y="2081765"/>
            <a:ext cx="457200" cy="45720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33272" y="2081068"/>
            <a:ext cx="457200" cy="45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1998522"/>
            <a:ext cx="9402775" cy="366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聴くと、情報が集まる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2365397"/>
            <a:ext cx="9402775" cy="302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東洋医学的にも、西洋医学的にも。それが実費診療の強み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842334"/>
            <a:ext cx="10728655" cy="779610"/>
          </a:xfrm>
          <a:prstGeom prst="roundRect">
            <a:avLst>
              <a:gd name="adj" fmla="val 117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033272" y="2998953"/>
            <a:ext cx="457200" cy="45720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33272" y="2998256"/>
            <a:ext cx="457200" cy="45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2915709"/>
            <a:ext cx="9402775" cy="366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聴くと、危険に気づける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3282584"/>
            <a:ext cx="9402775" cy="302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見落としてはいけないものが、会話の中に出てくる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3759522"/>
            <a:ext cx="10728655" cy="779610"/>
          </a:xfrm>
          <a:prstGeom prst="roundRect">
            <a:avLst>
              <a:gd name="adj" fmla="val 117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33272" y="3916141"/>
            <a:ext cx="457200" cy="457200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33272" y="3915444"/>
            <a:ext cx="457200" cy="45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737360" y="3832897"/>
            <a:ext cx="9402775" cy="366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抱えない。つなぐ。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4199772"/>
            <a:ext cx="9402775" cy="302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自立とは、依存先を増やすこと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4676710"/>
            <a:ext cx="10728655" cy="779610"/>
          </a:xfrm>
          <a:prstGeom prst="roundRect">
            <a:avLst>
              <a:gd name="adj" fmla="val 117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033272" y="4833329"/>
            <a:ext cx="457200" cy="457200"/>
          </a:xfrm>
          <a:prstGeom prst="ellipse">
            <a:avLst/>
          </a:prstGeom>
          <a:solidFill>
            <a:srgbClr val="C92A7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33272" y="4832632"/>
            <a:ext cx="457200" cy="4585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737360" y="4750085"/>
            <a:ext cx="9402775" cy="366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距離は、冷たさではない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1737360" y="5116960"/>
            <a:ext cx="9402775" cy="302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渡す準備をしておくこと。それが自分を守ります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5777335"/>
            <a:ext cx="10728655" cy="550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明日は、最初の90秒を遮らないところから。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61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6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ご案内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8545"/>
            <a:ext cx="10728655" cy="1116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オンラインサロン ここちめいど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181829"/>
            <a:ext cx="5578901" cy="3082788"/>
          </a:xfrm>
          <a:prstGeom prst="roundRect">
            <a:avLst>
              <a:gd name="adj" fmla="val 29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500739"/>
            <a:ext cx="4664501" cy="9567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傾聴を学ぶ、</a:t>
            </a:r>
            <a:endParaRPr lang="en-US" sz="23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鍼灸師のコミュニティ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3616921"/>
            <a:ext cx="4664501" cy="127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2020年4月から、6年目。</a:t>
            </a:r>
            <a:endParaRPr lang="en-US" sz="140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傾聴の練習と、症例の検討。</a:t>
            </a:r>
            <a:endParaRPr lang="en-US" sz="1400" dirty="0"/>
          </a:p>
          <a:p>
            <a:pPr algn="l" indent="0" marL="0">
              <a:lnSpc>
                <a:spcPts val="2600"/>
              </a:lnSpc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学会発表まで、一緒にやっています。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67621" y="2181829"/>
            <a:ext cx="4692554" cy="1381940"/>
          </a:xfrm>
          <a:prstGeom prst="roundRect">
            <a:avLst>
              <a:gd name="adj" fmla="val 6617"/>
            </a:avLst>
          </a:prstGeom>
          <a:solidFill>
            <a:srgbClr val="123C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7621" y="2181829"/>
            <a:ext cx="4692554" cy="1381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8F5EE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いまは、募集していません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767621" y="3776375"/>
            <a:ext cx="4692554" cy="1488243"/>
          </a:xfrm>
          <a:prstGeom prst="roundRect">
            <a:avLst>
              <a:gd name="adj" fmla="val 6144"/>
            </a:avLst>
          </a:prstGeom>
          <a:solidFill>
            <a:srgbClr val="34D39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767621" y="3776375"/>
            <a:ext cx="4692554" cy="14882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次の募集は</a:t>
            </a:r>
            <a:endParaRPr lang="en-US" sz="2200" dirty="0"/>
          </a:p>
          <a:p>
            <a:pPr algn="ctr" indent="0" marL="0">
              <a:lnSpc>
                <a:spcPts val="3600"/>
              </a:lnSpc>
              <a:buNone/>
            </a:pPr>
            <a:r>
              <a:rPr lang="en-US" sz="2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2027年7月スタート予定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689830"/>
            <a:ext cx="10728655" cy="637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先に知りたい方は、LINEにご登録ください。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62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51467"/>
            <a:ext cx="10728655" cy="993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まずは、LINEにご登録ください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786703"/>
            <a:ext cx="5149754" cy="3311106"/>
          </a:xfrm>
          <a:prstGeom prst="roundRect">
            <a:avLst>
              <a:gd name="adj" fmla="val 2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1188720" y="2070512"/>
            <a:ext cx="4235354" cy="3311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登録された方へ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234440" y="2642558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34440" y="2638130"/>
            <a:ext cx="256032" cy="264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1737360" y="2543527"/>
            <a:ext cx="3686714" cy="473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本日のスライドをお送りします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1234440" y="3352081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234440" y="3347653"/>
            <a:ext cx="256032" cy="264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3253050"/>
            <a:ext cx="3686714" cy="473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無料セミナーのご案内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1234440" y="4061604"/>
            <a:ext cx="256032" cy="256032"/>
          </a:xfrm>
          <a:prstGeom prst="ellipse">
            <a:avLst/>
          </a:prstGeom>
          <a:solidFill>
            <a:srgbClr val="1778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234440" y="4057176"/>
            <a:ext cx="256032" cy="264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●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3962573"/>
            <a:ext cx="3686714" cy="4730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サロン募集開始のお知らせ（先行）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338474" y="1786703"/>
            <a:ext cx="5121701" cy="3311106"/>
          </a:xfrm>
          <a:prstGeom prst="roundRect">
            <a:avLst>
              <a:gd name="adj" fmla="val 2762"/>
            </a:avLst>
          </a:prstGeom>
          <a:solidFill>
            <a:srgbClr val="FFFFFF"/>
          </a:solidFill>
          <a:ln w="19050">
            <a:solidFill>
              <a:srgbClr val="1778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6612794" y="2921939"/>
            <a:ext cx="4573061" cy="8514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公式LINEのQRコードを</a:t>
            </a:r>
            <a:endParaRPr lang="en-US" sz="1300" dirty="0"/>
          </a:p>
          <a:p>
            <a:pPr algn="ctr"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ここに大きく貼ってください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612794" y="4340985"/>
            <a:ext cx="4573061" cy="3784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▶ 短縮URLをここに（口頭でも読み上げる）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31520" y="5334316"/>
            <a:ext cx="10728655" cy="993332"/>
          </a:xfrm>
          <a:prstGeom prst="roundRect">
            <a:avLst>
              <a:gd name="adj" fmla="val 9205"/>
            </a:avLst>
          </a:prstGeom>
          <a:solidFill>
            <a:srgbClr val="34D39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31520" y="5334316"/>
            <a:ext cx="10728655" cy="993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近日、無料セミナーを開催します。日程はLINEでお知らせします。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63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付録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66928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過去1年に、自分に起きた出来事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0020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合計が何点になるか、数えてみてください。（だいたいで構いません）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5181448" cy="388620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51560" y="2286000"/>
            <a:ext cx="385556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配偶者の死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離婚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夫婦の別居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刑務所などへの拘留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家族の死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怪我や病気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結婚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解雇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配偶者との和解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退職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家族の健康や行動の変化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妊娠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性的な問題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新しい家族を迎える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仕事場の大きな再調整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経済状態の変化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親友の死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違う仕事への異動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配偶者との口論の数の変化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抵当に入れる（借金をする）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担保やローンの損失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998568" y="2286000"/>
            <a:ext cx="594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100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73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65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63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63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53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50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47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45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45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44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40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38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37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278728" y="2103120"/>
            <a:ext cx="5181448" cy="388620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385556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仕事場の責任の変化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子供が家を出る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親戚とのトラブル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素晴らしい成功を収める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配偶者の就職や離職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学校へ入る／学校を辞める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生活環境の大きな変化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生活習慣の改訂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上司とのトラブル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勤務時間や勤務条件の変化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住居の変化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転校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趣味や娯楽の変化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宗教活動の変化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社会活動の変化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ローンを組む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睡眠習慣の変化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家族団欒回数の変化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食習慣の変化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長期休暇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クリスマス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23C2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軽微な法律違反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10545775" y="2286000"/>
            <a:ext cx="594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25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23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19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6126480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社会再適応評価尺度（ホームズとレイ）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64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0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10896"/>
            <a:ext cx="10728655" cy="276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7784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付録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08545"/>
            <a:ext cx="10728655" cy="11161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2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その点数が、意味すること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2288133"/>
            <a:ext cx="10728655" cy="1328788"/>
          </a:xfrm>
          <a:prstGeom prst="roundRect">
            <a:avLst>
              <a:gd name="adj" fmla="val 68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188720" y="2288133"/>
            <a:ext cx="2743200" cy="132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200〜300点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2288133"/>
            <a:ext cx="1828800" cy="132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784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50%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2288133"/>
            <a:ext cx="5150815" cy="132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の確率で健康上の問題が起きたとの報告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882678"/>
            <a:ext cx="10728655" cy="1328788"/>
          </a:xfrm>
          <a:prstGeom prst="roundRect">
            <a:avLst>
              <a:gd name="adj" fmla="val 68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508" dir="5400000">
              <a:srgbClr val="7FA795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188720" y="3882678"/>
            <a:ext cx="2743200" cy="132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300点以上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3882678"/>
            <a:ext cx="1828800" cy="132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2A78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約80%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3882678"/>
            <a:ext cx="5150815" cy="1328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F6F6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の確率で、なんらかの病気に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5689830"/>
            <a:ext cx="10728655" cy="637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C2A"/>
                </a:solidFill>
                <a:latin typeface="游明朝" pitchFamily="34" charset="0"/>
                <a:ea typeface="游明朝" pitchFamily="34" charset="-122"/>
                <a:cs typeface="游明朝" pitchFamily="34" charset="-120"/>
              </a:rPr>
              <a:t>患者さんは、この点数を抱えて来院されています。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141445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FD2C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65</Slides>
  <Notes>65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鍼灸師のための傾聴セミナー</dc:title>
  <dc:subject>オンラインサロン ここちめいど</dc:subject>
  <dc:creator>米倉まな</dc:creator>
  <cp:lastModifiedBy>米倉まな</cp:lastModifiedBy>
  <cp:revision>1</cp:revision>
  <dcterms:created xsi:type="dcterms:W3CDTF">2026-09-28T16:39:17Z</dcterms:created>
  <dcterms:modified xsi:type="dcterms:W3CDTF">2026-09-28T16:39:17Z</dcterms:modified>
</cp:coreProperties>
</file>