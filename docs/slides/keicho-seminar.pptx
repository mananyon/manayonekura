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【0:00-0:30】
開始前に「紙とペンをご用意ください」を案内。
後半にワークがあることを先に伝えておくと、離脱が減ります。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【0:30-2:30】
4つとも読み上げて、「ひとつでも心当たりがある方？」と手を挙げてもらう
（オンラインならリアクションかチャットに数字）。
★ここで全員を当事者にする。急がない。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【2:30-2:50】
言い切って、一拍おく。ここでフックが効きます。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【2:50-5:00】
★当事者経験は、話すかどうかご自身で決めてください。削除しても成立します。
淡々と。同情を求めない。最後の一行に重心を置く。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【5:00-6:30】
★ここを最初に置くと、後の全部が楽になります。
「分かってあげなきゃ」と思っている人ほど疲れている。
その前提を外してあげるのが、このスライドの役目。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【6:30-7:30】
「分からない」を認めることが出発点。
分かったふりをした瞬間に、情報は取れなくなります。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【7:30-8:30】
3つの✕は、みんなやっていること。だから責めない。
「私もやっていました」と添えると角が立ちません。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【8:30-9:30】
★「時間は増えません」が効きます。忙しい人ほど身構えているので、
　最初に負担が増えないことを保証する。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【9:30-11:00】
★このセミナーの一番の売り。
　「傾聴＝優しさ」ではなく「傾聴＝情報収集」だと最初に位置づける。
　鍼灸師が動くのは、優しさではなく情報です。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【11:00-12:30】
四診のうち「問」だけ色を変えているのがポイント。
証が立たないのは腕のせいではなく、情報が足りないだけ、という視点の転換。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【12:30-14:30】
★このセミナーで一番強い実例。声色を変えて演じると引き込めます。
傾聴＝優しさ ではなく 傾聴＝安全性。
聴いていなければ、幻視も手の震えも出てこなかった。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【14:30-15:30】
読み上げない。目で見せるだけで十分効きます。
「うつだと思っていた方が、これだけ違う病気だった」という事実だけ伝える。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【15:30-17:00】
★11秒は医師対象の研究だと必ず断る。鍼灸師のデータではありません。
「時間があるのに使えていない」のがもったいない、という話に持っていく。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【17:00-18:00】
★調査データではなく、ご自身が言われてきた実感として話すこと。
誇らしい気持ちで読み上げてよい。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【18:00-19:30】
1週間＝10,080分。うち45分が院にいる時間。残りは患者さんがひとりで過ごす。
★ここで「じゃあ残りの時間に、私たちは何ができるのか」と問いを立てる。
答えが、このあとの『依存先を増やす』です。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【19:30-21:00】
★問診の焦点を変える一枚。
「痛みは10段階でいくつですか」ではなく「痛くて、何ができなくなりましたか」。
これだけで、出てくる情報が変わります。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【21:00-22:30】
★「全部なんとかしてあげたい」が一番危ない。
分けた瞬間、自分がやることと、人に渡すことが見えます。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【22:30-24:00】
★このセミナーの背骨になる一行。ゆっくり読む。
自分ひとりが支えると思うから、距離が近くなりすぎる。
依存先が1つしかない状態が、いちばん危ない。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【24:00-25:30】
★「こんなに覚えられない」と思わせないこと。
自分の地域で使ったことがある先を1つずつ増やしていけばいい、と伝える。
※地域包括支援センターなど、ご自身が実際に連携した先を口頭で足すと生々しくなります。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【25:30-27:30】
★「どんなことが困りますか？」――これが開かれた質問。
　ここで“お金”が出てこなければ、傷病手当金の話にはたどり着けません。
★制度を教えるのが仕事ではありません。相談先を示すところまで。
　加入条件の確認だけはしてから話すこと。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【27:30-29:00】
★返すのは、たった2つの問いだけ。説得しない。
　出てきた不安を、主治医に相談できる形に整理して渡す。それが仕事です。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【29:00-30:00】
★ここは必ず入れてください。傾聴を教えると、必ず踏み越える人が出ます。
聴くことと、介入することは別。境界線をはっきり引いておく。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【30:00-31:00】
会場に「いますよね」と確認する。ほぼ全員が頷きます。
ここから距離感の話に入ります。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【31:00-32:30】
★ここは誤解されやすいので丁寧に。
「長く通ってもらうのが悪い」と言っているのではない。
依存先がひとつきりになることが危ない、という話です。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【32:30-34:30】
★このセミナーで一番、聴衆の心が動く場所です。
　具体的なエピソードを1つだけ、短く。相手を悪く言わない。
「応えれば応えるほど、期待は上がります。上がりきると、応えられない日が必ず来ます」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【34:30-36:00】
★冒頭のあるある④「施術後に疲れてしまう」の回収です。
必ず「冒頭の4つめ、覚えていますか」と言ってから見せること。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【36:00-37:30】
★「枠をつくる」が一番実務的。枠を先に伝えるのも傾聴です。
無制限に聴くことが傾聴ではない、と明確に言っておく。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【37:30-39:00】
★責めない。「私もそうでした」から入ること。
自己理解が進むと、患者さんとの距離が自然に適正化します。
ここがサロンで一番時間をかけている部分でもあります。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【39:00-40:00】
先に全体を見せてから、1つずつ展開する（地図を渡してから歩く）。
★8つ全部を今日で身につける必要はない、と最初に言っておくこと。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【40:00-41:30】①〜③は「受け取る」段階。ここができていないと④以降は全部すべります。
②の繰り返しは、実際に会場で1回やってみせると伝わります。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【41:30-43:00】⑤の沈黙がいちばん難しい。置鍼で待てるのだから待てます、と重ねる。
④は問い返しなので、慣れないうちは②③のあとに1つだけ。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【43:00-44:30】⑥⑦⑧は、話を相手に返していく段階。
★⑧が抜けやすい。「もうやれていること」を言葉にして返すだけで、表情が変わります。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【44:30-45:30】
★傾聴で「感情」を扱うときの土台になる知識。
ここを知らずに感情に触ると、相手を否定してしまいます。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【45:30-47:00】
★遅刻の例は誰でも自分ごとにできます。
「自分はダメだ」という自動思考に、私たちがさらに「そんなこと考えちゃダメ」と
乗せてしまうのがジャッジ。まずはそれを外す、という話につなげます。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【47:00-47:20】
★このワークがセミナーの山場です。必ずやってください。
「覚えてください」としか言わないこと。目的は言わない。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【47:20-47:40】
10秒きっちり見せて、すぐ次へ。長く見せない。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【47:40-48:20】
答え：向かって右（象から見て左）。※本番前にイラストでご確認ください。
★ここでは正解を言わない。「覚えておいてください」で次へ。
　思い出そうとさせることが、次のワークの仕込みになります。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【48:20-48:40】
★ゆっくり読む。「思い出さないでください」を強調する。
次のスライドで3分計ります。時計かスマホのタイマーを使ってください。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【48:40-51:40】
★3分は長いです。途中で話しかけないこと。
PowerPointは自動カウントできないので、時計かスマホで計測。
30秒残ったところで「あと30秒です」とだけ声をかけてもよい。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【51:40-52:10】
挙手やチャットで確認。ほぼ全員が「浮かんだ」と答えます。
笑いが起きるところなので、間をとる。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【52:10-52:50】
★ここで腑に落ちます。理屈で説明するより、体験させたほうが速い。
患者さんの「変なことを考えてしまう」も、これと同じだと繋げる。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【52:50-53:50】
★患者さんに向ける前に、まず自分に向ける。
「疲れた自分はダメだ」と思っている施術者が本当に多いです。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【53:50-55:30】
★配布資料としても渡せるスライドです。
会場では「だいたいで構いません」と言って1分ほど数えてもらう。
自分の点数を知ると、患者さんの背景を想像できるようになります。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【55:30-56:10】
★自分の点数と照らすと、患者さんの背景が想像できるようになります。
「聞かないと分からない」に戻して締める。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【56:10-57:10】
★持ち帰りは3つまで。最後の一行で行動を1つに絞る。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【57:10-58:20】
★「募集していない」を先に言うのが大事です。売り込みに聞こえなくなります。
★開始時期は予定です。確定していない旨を一言添えてください。
　年（2027年7月）が違っていたら直してください。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【58:20-60:00】
★このスライドを30秒 黙って映す。読み取り待ち。ここを急ぐと激減します。
★Q&amp;Aの間も、このスライドを出しっぱなしに。
★オンラインならチャットにもリンクを投下（事前にメモ帳へ用意してコピペ）。
　ただし録画にチャットは残らないので、画面表示が本体です。
【Q&amp;Aのコツ】
質問には即答せず、まず「その患者さん、なんて仰ってました？」と聴き返す。
傾聴の実演が、いちばん強い案内になります。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868680"/>
            <a:ext cx="5120640" cy="5120640"/>
          </a:xfrm>
          <a:prstGeom prst="ellipse">
            <a:avLst/>
          </a:prstGeom>
          <a:solidFill>
            <a:srgbClr val="1845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鍼灸師のための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402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傾聴セミナー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11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B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患者さんから、情報が集まるようになる。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5262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米倉まな（よねくら まな）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はりきゅう処ここちめいど 院長／オンラインサロン ここちめいど 主宰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はり師・きゅう師／産業カウンセラー／修士（人間学）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7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はじめに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42528"/>
            <a:ext cx="10728655" cy="1243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こんなこと、ありませんか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395440"/>
            <a:ext cx="10728655" cy="876456"/>
          </a:xfrm>
          <a:prstGeom prst="roundRect">
            <a:avLst>
              <a:gd name="adj" fmla="val 104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650788"/>
            <a:ext cx="365760" cy="365760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596788"/>
            <a:ext cx="365760" cy="473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95440"/>
            <a:ext cx="9539935" cy="87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患者さんへ、どうアドバイスしたらいいか分からない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3414024"/>
            <a:ext cx="10728655" cy="876456"/>
          </a:xfrm>
          <a:prstGeom prst="roundRect">
            <a:avLst>
              <a:gd name="adj" fmla="val 104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3669372"/>
            <a:ext cx="365760" cy="36576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615372"/>
            <a:ext cx="365760" cy="473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414024"/>
            <a:ext cx="9539935" cy="87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なぜ鍼灸院に来ているんだろう？という方がいる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432608"/>
            <a:ext cx="10728655" cy="876456"/>
          </a:xfrm>
          <a:prstGeom prst="roundRect">
            <a:avLst>
              <a:gd name="adj" fmla="val 104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05840" y="4687956"/>
            <a:ext cx="365760" cy="365760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4633956"/>
            <a:ext cx="365760" cy="473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432608"/>
            <a:ext cx="9539935" cy="87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患者さんに「良くなった」と言われたい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5451192"/>
            <a:ext cx="10728655" cy="876456"/>
          </a:xfrm>
          <a:prstGeom prst="roundRect">
            <a:avLst>
              <a:gd name="adj" fmla="val 104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5840" y="5706540"/>
            <a:ext cx="365760" cy="36576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5652540"/>
            <a:ext cx="365760" cy="473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5451192"/>
            <a:ext cx="9539935" cy="87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患者さんの施術後、自分が疲れてしまう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14600"/>
            <a:ext cx="107286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答えは、あります。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862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D39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4つとも、同じひとつの技術で変わります。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はじめに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7386"/>
            <a:ext cx="10728655" cy="1224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私は、聴いてもらう側でした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363121"/>
            <a:ext cx="5793474" cy="2856791"/>
          </a:xfrm>
          <a:prstGeom prst="roundRect">
            <a:avLst>
              <a:gd name="adj" fmla="val 32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2736253"/>
            <a:ext cx="4879074" cy="466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うつ病・パニック障害・双極性障害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319272"/>
            <a:ext cx="4879074" cy="139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4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最重症期は、1日30錠。患者だった期間は8年。</a:t>
            </a:r>
            <a:endParaRPr lang="en-US" sz="145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4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いまは16年間、寛解。投薬もありません。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073634" y="2538027"/>
            <a:ext cx="4386541" cy="233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三重県四日市市／東京都町田市</a:t>
            </a:r>
            <a:endParaRPr lang="en-US" sz="13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はりきゅう処ここちめいど 院長</a:t>
            </a:r>
            <a:endParaRPr lang="en-US" sz="13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オンラインサロン ここちめいど 主宰</a:t>
            </a:r>
            <a:endParaRPr lang="en-US" sz="13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精神疾患臨床家グループ ここちはり 代表</a:t>
            </a:r>
            <a:endParaRPr lang="en-US" sz="13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産業カウンセラー／修士（人間学）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628026"/>
            <a:ext cx="10728655" cy="699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だから、聴いてもらえないつらさを知っています。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9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なぜ、傾聴なのか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41496"/>
            <a:ext cx="10728655" cy="1189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人は、分かり合えない。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68393"/>
            <a:ext cx="10728655" cy="1189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FB8A2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察するなんて、無理。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33107"/>
            <a:ext cx="10728655" cy="594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4D39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これが、今日の前提です。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5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なぜ、傾聴なのか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0551"/>
            <a:ext cx="10728655" cy="1273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分からないから、教えてもらう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506525"/>
            <a:ext cx="10728655" cy="2547415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371600" y="3234358"/>
            <a:ext cx="2743200" cy="97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6F6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分からない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3234358"/>
            <a:ext cx="731520" cy="97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3234358"/>
            <a:ext cx="3108960" cy="97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教えてほしい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3234358"/>
            <a:ext cx="548640" cy="97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＝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144000" y="3234358"/>
            <a:ext cx="2194560" cy="97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対　話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599815"/>
            <a:ext cx="10728655" cy="72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察するのをやめて、聞く。それだけで臨床は変わります。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なぜ、傾聴なのか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3979"/>
            <a:ext cx="1072865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患者さんが求めていることは、どうすれば分かる？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528682"/>
            <a:ext cx="3256178" cy="1837944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21865" y="2915839"/>
            <a:ext cx="475488" cy="475488"/>
          </a:xfrm>
          <a:prstGeom prst="ellipse">
            <a:avLst/>
          </a:prstGeom>
          <a:solidFill>
            <a:srgbClr val="4F6F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121865" y="2835006"/>
            <a:ext cx="475488" cy="637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631448"/>
            <a:ext cx="279897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経験でなんとなく察する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07738" y="2528682"/>
            <a:ext cx="3256178" cy="1837944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98084" y="2915839"/>
            <a:ext cx="475488" cy="475488"/>
          </a:xfrm>
          <a:prstGeom prst="ellipse">
            <a:avLst/>
          </a:prstGeom>
          <a:solidFill>
            <a:srgbClr val="4F6F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98084" y="2835006"/>
            <a:ext cx="475488" cy="637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36338" y="3631448"/>
            <a:ext cx="279897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問診票から推測する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83957" y="2528682"/>
            <a:ext cx="3256178" cy="1837944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274302" y="2915839"/>
            <a:ext cx="475488" cy="475488"/>
          </a:xfrm>
          <a:prstGeom prst="ellipse">
            <a:avLst/>
          </a:prstGeom>
          <a:solidFill>
            <a:srgbClr val="4F6F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74302" y="2835006"/>
            <a:ext cx="475488" cy="637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112557" y="3631448"/>
            <a:ext cx="279897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同じ主訴の人と同じだと考える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918009"/>
            <a:ext cx="10728655" cy="1347826"/>
          </a:xfrm>
          <a:prstGeom prst="roundRect">
            <a:avLst>
              <a:gd name="adj" fmla="val 6784"/>
            </a:avLst>
          </a:prstGeom>
          <a:solidFill>
            <a:srgbClr val="34D39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918009"/>
            <a:ext cx="10728655" cy="1347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聞くしか、ありません。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6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なぜ、傾聴なのか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40581"/>
            <a:ext cx="10728655" cy="1236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鍼灸師にできる、カウンセリング技法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500947"/>
            <a:ext cx="10728655" cy="2354893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500947"/>
            <a:ext cx="10728655" cy="235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傾　聴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326818"/>
            <a:ext cx="3210458" cy="470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資格は要りません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856669"/>
            <a:ext cx="3210458" cy="470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ただし練習は必要です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307738" y="5326818"/>
            <a:ext cx="3210458" cy="470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診断ではありません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307738" y="5856669"/>
            <a:ext cx="3210458" cy="470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情報を集める技術です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883957" y="5326818"/>
            <a:ext cx="3210458" cy="470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時間は増えません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883957" y="5856669"/>
            <a:ext cx="3210458" cy="470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使い方が変わるだけです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8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傾聴のメリット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22299"/>
            <a:ext cx="10728655" cy="1167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傾聴すると、2種類の情報が同時に集まります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323894"/>
            <a:ext cx="5227168" cy="2835992"/>
          </a:xfrm>
          <a:prstGeom prst="roundRect">
            <a:avLst>
              <a:gd name="adj" fmla="val 32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43000" y="2657540"/>
            <a:ext cx="4404208" cy="50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東洋医学的な情報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3324833"/>
            <a:ext cx="4404208" cy="1557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睡眠　食欲　便通　月経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情志　冷え　のぼせ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生活リズム　仕事と家族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33008" y="2323894"/>
            <a:ext cx="5227168" cy="2835992"/>
          </a:xfrm>
          <a:prstGeom prst="roundRect">
            <a:avLst>
              <a:gd name="adj" fmla="val 32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44488" y="2657540"/>
            <a:ext cx="4404208" cy="50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西洋医学的な情報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644488" y="3324833"/>
            <a:ext cx="4404208" cy="1557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レッドフラッグの兆候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服薬状況と、薬への不安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生活機能・就労の状況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660356"/>
            <a:ext cx="10728655" cy="667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一度の問診で、両方が取れます。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91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傾聴のメリット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25204"/>
            <a:ext cx="10728655" cy="1178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「証」は、聞かなければ立ちません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546"/>
            <a:ext cx="1828800" cy="39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四診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895748"/>
            <a:ext cx="914400" cy="914400"/>
          </a:xfrm>
          <a:prstGeom prst="ellipse">
            <a:avLst/>
          </a:prstGeom>
          <a:solidFill>
            <a:srgbClr val="CDEBD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791684"/>
            <a:ext cx="914400" cy="11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望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060141"/>
            <a:ext cx="1097280" cy="39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2895748"/>
            <a:ext cx="914400" cy="914400"/>
          </a:xfrm>
          <a:prstGeom prst="ellipse">
            <a:avLst/>
          </a:prstGeom>
          <a:solidFill>
            <a:srgbClr val="CDEBD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2791684"/>
            <a:ext cx="914400" cy="11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聞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4060141"/>
            <a:ext cx="1097280" cy="39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聞く・嗅ぐ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2895748"/>
            <a:ext cx="914400" cy="91440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26080" y="2791684"/>
            <a:ext cx="914400" cy="11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問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4060141"/>
            <a:ext cx="1097280" cy="39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尋ねる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2895748"/>
            <a:ext cx="914400" cy="914400"/>
          </a:xfrm>
          <a:prstGeom prst="ellipse">
            <a:avLst/>
          </a:prstGeom>
          <a:solidFill>
            <a:srgbClr val="CDEBD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023360" y="2791684"/>
            <a:ext cx="914400" cy="11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切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4060141"/>
            <a:ext cx="1097280" cy="39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触れる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2398799"/>
            <a:ext cx="5973775" cy="2694068"/>
          </a:xfrm>
          <a:prstGeom prst="roundRect">
            <a:avLst>
              <a:gd name="adj" fmla="val 33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943600" y="2735557"/>
            <a:ext cx="5059375" cy="44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望・聞・切は、自分で取れる。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296821"/>
            <a:ext cx="5059375" cy="1347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けれど「問」だけは、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患者さんに話してもらわないと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1ミリも進みません。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654131"/>
            <a:ext cx="10728655" cy="673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東洋医学ができていない、のではなく ―― 聞けていないだけ、かもしれません。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5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傾聴のメリット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88898"/>
            <a:ext cx="10728655" cy="1042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聴いていたから、気づけました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08692"/>
            <a:ext cx="8153778" cy="595718"/>
          </a:xfrm>
          <a:prstGeom prst="roundRect">
            <a:avLst>
              <a:gd name="adj" fmla="val 153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008692"/>
            <a:ext cx="7513698" cy="59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最近、気分が落ち込んでいて、眠れません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06397" y="2723554"/>
            <a:ext cx="8153778" cy="595718"/>
          </a:xfrm>
          <a:prstGeom prst="roundRect">
            <a:avLst>
              <a:gd name="adj" fmla="val 15350"/>
            </a:avLst>
          </a:prstGeom>
          <a:solidFill>
            <a:srgbClr val="123C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26437" y="2723554"/>
            <a:ext cx="7513698" cy="59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落ち込みと、眠れない。日中の眠気はありますか？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438416"/>
            <a:ext cx="8153778" cy="595718"/>
          </a:xfrm>
          <a:prstGeom prst="roundRect">
            <a:avLst>
              <a:gd name="adj" fmla="val 153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51560" y="3438416"/>
            <a:ext cx="7513698" cy="59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眠気はないんですが、時々ぼーっとして、誰かいるように感じたり、虫が見えるような気がして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06397" y="4153277"/>
            <a:ext cx="8153778" cy="595718"/>
          </a:xfrm>
          <a:prstGeom prst="roundRect">
            <a:avLst>
              <a:gd name="adj" fmla="val 15350"/>
            </a:avLst>
          </a:prstGeom>
          <a:solidFill>
            <a:srgbClr val="123C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26437" y="4153277"/>
            <a:ext cx="7513698" cy="59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（あれっ）手が震えたり、お薬が効きすぎることはありませんか？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868139"/>
            <a:ext cx="8153778" cy="595718"/>
          </a:xfrm>
          <a:prstGeom prst="roundRect">
            <a:avLst>
              <a:gd name="adj" fmla="val 153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51560" y="4868139"/>
            <a:ext cx="7513698" cy="59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あります。うつのお薬を飲むと、逆効果に感じるんです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731930"/>
            <a:ext cx="10728655" cy="59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神経内科にご高診を依頼　→　レビー小体型認知症でした。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4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傾聴のメリット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75784"/>
            <a:ext cx="10728655" cy="99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抑うつを訴えて来られた方の、ご高診後の診断名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23211"/>
            <a:ext cx="10728655" cy="662221"/>
          </a:xfrm>
          <a:prstGeom prst="roundRect">
            <a:avLst>
              <a:gd name="adj" fmla="val 138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023211"/>
            <a:ext cx="2651760" cy="662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脳神経系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2023211"/>
            <a:ext cx="7162495" cy="662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パーキンソン病／レビー小体型認知症／アルツハイマー病／脳腫瘍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2798955"/>
            <a:ext cx="10728655" cy="662221"/>
          </a:xfrm>
          <a:prstGeom prst="roundRect">
            <a:avLst>
              <a:gd name="adj" fmla="val 138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97280" y="2798955"/>
            <a:ext cx="2651760" cy="662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内分泌系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2798955"/>
            <a:ext cx="7162495" cy="662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甲状腺機能亢進症／甲状腺機能低下症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3574700"/>
            <a:ext cx="10728655" cy="662221"/>
          </a:xfrm>
          <a:prstGeom prst="roundRect">
            <a:avLst>
              <a:gd name="adj" fmla="val 138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97280" y="3574700"/>
            <a:ext cx="2651760" cy="662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性ホルモン系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3574700"/>
            <a:ext cx="7162495" cy="662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更年期障害／月経前不快気分障害／産後うつ／男性更年期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350445"/>
            <a:ext cx="10728655" cy="662221"/>
          </a:xfrm>
          <a:prstGeom prst="roundRect">
            <a:avLst>
              <a:gd name="adj" fmla="val 138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097280" y="4350445"/>
            <a:ext cx="2651760" cy="662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生活習慣・循環器系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4350445"/>
            <a:ext cx="7162495" cy="662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高血圧／糖尿病／虚血性心疾患／微小血管狭心症　など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381618"/>
            <a:ext cx="10728655" cy="567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聴かなければ、どれも見つかりません。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996537"/>
            <a:ext cx="10728655" cy="33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当院事例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5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傾聴のメリット 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88898"/>
            <a:ext cx="10728655" cy="1042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情報を集められることが、実費診療の強みです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279391"/>
            <a:ext cx="292608" cy="292608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266837"/>
            <a:ext cx="292608" cy="31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127836"/>
            <a:ext cx="4541368" cy="496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40〜60分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654054"/>
            <a:ext cx="4541368" cy="446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ふたりきりの時間がある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41568" y="2279391"/>
            <a:ext cx="292608" cy="292608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41568" y="2266837"/>
            <a:ext cx="292608" cy="31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644488" y="2127836"/>
            <a:ext cx="4541368" cy="496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身体に触れる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6644488" y="2654054"/>
            <a:ext cx="4541368" cy="446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言葉の前に、からだの情報がある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520470"/>
            <a:ext cx="292608" cy="292608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507916"/>
            <a:ext cx="292608" cy="31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915"/>
            <a:ext cx="4541368" cy="496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会い続ける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895133"/>
            <a:ext cx="4541368" cy="446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一度きりではない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41568" y="3520470"/>
            <a:ext cx="292608" cy="292608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41568" y="3507916"/>
            <a:ext cx="292608" cy="31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644488" y="3368915"/>
            <a:ext cx="4541368" cy="496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制約が少ない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6644488" y="3895133"/>
            <a:ext cx="4541368" cy="446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時間の使い方を自分で決められる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4838353"/>
            <a:ext cx="10728655" cy="992863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188720" y="4838353"/>
            <a:ext cx="9814255" cy="99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医師が患者の話を遮るまで、中央値 11秒。　私たちには、40分あります。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980146"/>
            <a:ext cx="10728655" cy="347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Singh Ospina et al., 2019 ／ Beckman &amp; Frankel, 1984（いずれも医師を対象とした研究）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2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傾聴のメリット 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47162"/>
            <a:ext cx="10728655" cy="126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医師の先生方から、こう言われます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84613"/>
            <a:ext cx="3256178" cy="2401897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887880"/>
            <a:ext cx="274320" cy="27432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844897"/>
            <a:ext cx="274320" cy="360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505419"/>
            <a:ext cx="2616098" cy="1140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「患者さんと、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　時間がある」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07738" y="2484613"/>
            <a:ext cx="3256178" cy="2401897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27778" y="2887880"/>
            <a:ext cx="274320" cy="274320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7778" y="2844897"/>
            <a:ext cx="274320" cy="360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627778" y="3505419"/>
            <a:ext cx="2616098" cy="1140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「身体全体を、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　見てくれる」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883957" y="2484613"/>
            <a:ext cx="3256178" cy="2401897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03997" y="2887880"/>
            <a:ext cx="274320" cy="27432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03997" y="2844897"/>
            <a:ext cx="274320" cy="360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203997" y="3505419"/>
            <a:ext cx="2616098" cy="1140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「東洋医学の、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　専門家だから」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607079"/>
            <a:ext cx="10728655" cy="720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期待されている、ということでもあります。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9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抱えない、という考え方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1179"/>
            <a:ext cx="10728655" cy="1201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鍼灸院にいる時間は、人生のごく一部です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38493"/>
            <a:ext cx="4720608" cy="2630899"/>
          </a:xfrm>
          <a:prstGeom prst="roundRect">
            <a:avLst>
              <a:gd name="adj" fmla="val 34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2838847"/>
            <a:ext cx="3806208" cy="571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週に1回・45分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467975"/>
            <a:ext cx="3806208" cy="457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院にいる時間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6701" y="2438493"/>
            <a:ext cx="5793474" cy="2630899"/>
          </a:xfrm>
          <a:prstGeom prst="roundRect">
            <a:avLst>
              <a:gd name="adj" fmla="val 3476"/>
            </a:avLst>
          </a:prstGeom>
          <a:solidFill>
            <a:srgbClr val="123C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3901" y="2838847"/>
            <a:ext cx="4879074" cy="571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B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残りの 10,035分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123901" y="3467975"/>
            <a:ext cx="4879074" cy="457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患者さんが、ひとりで生きている時間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23901" y="4097103"/>
            <a:ext cx="4879074" cy="457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私たちが触れられるのは、0.4%です。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641326"/>
            <a:ext cx="10728655" cy="686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治すことだけが、全てではありません。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8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抱えない、という考え方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22299"/>
            <a:ext cx="10728655" cy="1167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患者さんが困っているのは、症状ではありません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323894"/>
            <a:ext cx="10728655" cy="1668231"/>
          </a:xfrm>
          <a:prstGeom prst="roundRect">
            <a:avLst>
              <a:gd name="adj" fmla="val 5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280160" y="2323894"/>
            <a:ext cx="9631375" cy="166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「うつ病の症状で困っているのではなく、</a:t>
            </a:r>
            <a:endParaRPr lang="en-US" sz="21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　症状があることで、できなくなった何かに困っている」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381379"/>
            <a:ext cx="10728655" cy="1000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・仕事に行けない　・家事ができない　・人と会えなくなった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・以前できていた趣味が、できなくなった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660356"/>
            <a:ext cx="10728655" cy="667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聴くのは、症状より「できなくなったこと」。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76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抱えない、という考え方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08545"/>
            <a:ext cx="10728655" cy="1116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困りごとは、2つに分けて整理する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34981"/>
            <a:ext cx="5227168" cy="3029637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43000" y="2553890"/>
            <a:ext cx="4404208" cy="47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個人の課題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3053514"/>
            <a:ext cx="4404208" cy="372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内省のサポートに、傾聴を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563769"/>
            <a:ext cx="4404208" cy="148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4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・働く不安</a:t>
            </a:r>
            <a:endParaRPr lang="en-US" sz="14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4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・自信喪失</a:t>
            </a:r>
            <a:endParaRPr lang="en-US" sz="14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4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・職業適性</a:t>
            </a:r>
            <a:endParaRPr lang="en-US" sz="14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4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・家族・友人との関係性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33008" y="2234981"/>
            <a:ext cx="5227168" cy="3029637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44488" y="2553890"/>
            <a:ext cx="4404208" cy="47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社会の課題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644488" y="3053514"/>
            <a:ext cx="4404208" cy="372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社会への働きかけへ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44488" y="3563769"/>
            <a:ext cx="4404208" cy="148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4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・偏見</a:t>
            </a:r>
            <a:endParaRPr lang="en-US" sz="14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4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・職場環境（人材不足・受入体制）</a:t>
            </a:r>
            <a:endParaRPr lang="en-US" sz="14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4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・知られていない公的資源</a:t>
            </a:r>
            <a:endParaRPr lang="en-US" sz="14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4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・医療資源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689830"/>
            <a:ext cx="10728655" cy="63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分けると、抱え込まなくて済みます。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抱えない、という考え方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12476"/>
            <a:ext cx="10728655" cy="980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FB8A2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自立とは、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15243"/>
            <a:ext cx="10728655" cy="1347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依存先を増やすこと。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530657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D39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患者さんを抱えるのではありません。つなぐのです。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73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抱えない、という考え方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05938"/>
            <a:ext cx="10728655" cy="110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連携先は、こんなにあります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18133"/>
            <a:ext cx="3256178" cy="3055793"/>
          </a:xfrm>
          <a:prstGeom prst="roundRect">
            <a:avLst>
              <a:gd name="adj" fmla="val 29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534249"/>
            <a:ext cx="2524658" cy="421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医療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061110"/>
            <a:ext cx="2524658" cy="200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・精神科・心療内科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・その他の医療機関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・訪問看護ステーション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・薬剤師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・訪問鍼灸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07738" y="2218133"/>
            <a:ext cx="3256178" cy="3055793"/>
          </a:xfrm>
          <a:prstGeom prst="roundRect">
            <a:avLst>
              <a:gd name="adj" fmla="val 29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73498" y="2534249"/>
            <a:ext cx="2524658" cy="421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生活・福祉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73498" y="3061110"/>
            <a:ext cx="2524658" cy="200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・地域包括支援センター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・保健所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・社会福祉協議会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・全国健康保険協会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・療育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83957" y="2218133"/>
            <a:ext cx="3256178" cy="3055793"/>
          </a:xfrm>
          <a:prstGeom prst="roundRect">
            <a:avLst>
              <a:gd name="adj" fmla="val 29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49717" y="2534249"/>
            <a:ext cx="2524658" cy="421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就労・法律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49717" y="3061110"/>
            <a:ext cx="2524658" cy="200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・ハローワーク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・地域若者サポートステーション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・社会保険労務士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・法律相談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695415"/>
            <a:ext cx="10728655" cy="632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全部知らなくていい。ひとつずつ増やせば大丈夫です。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49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つなぐ ― 事例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80016"/>
            <a:ext cx="10728655" cy="100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聴いたから、つなげました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54450"/>
            <a:ext cx="8368351" cy="634354"/>
          </a:xfrm>
          <a:prstGeom prst="roundRect">
            <a:avLst>
              <a:gd name="adj" fmla="val 14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1954450"/>
            <a:ext cx="7728271" cy="634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病院に行きたくない。休職と言われたら困る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091824" y="2704141"/>
            <a:ext cx="8368351" cy="634354"/>
          </a:xfrm>
          <a:prstGeom prst="roundRect">
            <a:avLst>
              <a:gd name="adj" fmla="val 14415"/>
            </a:avLst>
          </a:prstGeom>
          <a:solidFill>
            <a:srgbClr val="123C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11864" y="2704141"/>
            <a:ext cx="7728271" cy="634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休職すると困りますよね。〇〇さんにとって、どんなことが困りますか？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3453832"/>
            <a:ext cx="8368351" cy="634354"/>
          </a:xfrm>
          <a:prstGeom prst="roundRect">
            <a:avLst>
              <a:gd name="adj" fmla="val 14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51560" y="3453832"/>
            <a:ext cx="7728271" cy="634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働けなくなったらお金がなくなる。家族もいるから、自分は働かないと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091824" y="4203523"/>
            <a:ext cx="8368351" cy="634354"/>
          </a:xfrm>
          <a:prstGeom prst="roundRect">
            <a:avLst>
              <a:gd name="adj" fmla="val 14415"/>
            </a:avLst>
          </a:prstGeom>
          <a:solidFill>
            <a:srgbClr val="123C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11864" y="4203523"/>
            <a:ext cx="7728271" cy="634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（加入条件を確認したうえで）それならお休みになった場合に、使える制度があるかもしれません。人事や協会けんぽで伺ってみては？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4953214"/>
            <a:ext cx="8368351" cy="634354"/>
          </a:xfrm>
          <a:prstGeom prst="roundRect">
            <a:avLst>
              <a:gd name="adj" fmla="val 14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51560" y="4953214"/>
            <a:ext cx="7728271" cy="634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そういう制度があるって知らなかった！　それなら休むことも出来るかもしれない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750963"/>
            <a:ext cx="10728655" cy="576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人事に相談され、通院・投薬を続けながら、仕事を続けられました。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60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つなぐ ― 事例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91211"/>
            <a:ext cx="10728655" cy="1051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「薬が怖い」と言われたら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22929"/>
            <a:ext cx="10728655" cy="1201348"/>
          </a:xfrm>
          <a:prstGeom prst="roundRect">
            <a:avLst>
              <a:gd name="adj" fmla="val 76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122929"/>
            <a:ext cx="10728655" cy="1201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「薬が怖い！」　「薬をやめたい！」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574558"/>
            <a:ext cx="5227168" cy="1852078"/>
          </a:xfrm>
          <a:prstGeom prst="roundRect">
            <a:avLst>
              <a:gd name="adj" fmla="val 49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43000" y="3824839"/>
            <a:ext cx="4404208" cy="400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どんなところが怖い？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295367"/>
            <a:ext cx="4404208" cy="1001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・家族・友人からの誤った情報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・ネットからの誤った情報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・障害者になりたくない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3008" y="3574558"/>
            <a:ext cx="5227168" cy="1852078"/>
          </a:xfrm>
          <a:prstGeom prst="roundRect">
            <a:avLst>
              <a:gd name="adj" fmla="val 49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44488" y="3824839"/>
            <a:ext cx="4404208" cy="400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どうしてそう思うの？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644488" y="4295367"/>
            <a:ext cx="4404208" cy="1001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・いつまで飲み続けるのだろう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・そもそも医師に減薬の相談をしていない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726974"/>
            <a:ext cx="10728655" cy="60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言語化を手伝って、主治医に相談するようお伝えしています。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7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つなぐ ― 安全のために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03377"/>
            <a:ext cx="10728655" cy="1096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薬は、止めないよう指導します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01577"/>
            <a:ext cx="10728655" cy="887889"/>
          </a:xfrm>
          <a:prstGeom prst="roundRect">
            <a:avLst>
              <a:gd name="adj" fmla="val 10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431288"/>
            <a:ext cx="438912" cy="438912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400046"/>
            <a:ext cx="438912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201577"/>
            <a:ext cx="4206240" cy="887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離脱症状の可能性がある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201577"/>
            <a:ext cx="5150815" cy="887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自己判断の中断は危険です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246152"/>
            <a:ext cx="10728655" cy="887889"/>
          </a:xfrm>
          <a:prstGeom prst="roundRect">
            <a:avLst>
              <a:gd name="adj" fmla="val 10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475863"/>
            <a:ext cx="438912" cy="438912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3444621"/>
            <a:ext cx="438912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246152"/>
            <a:ext cx="4206240" cy="887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越権行為になる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3246152"/>
            <a:ext cx="5150815" cy="887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薬の判断は医師の領域です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290727"/>
            <a:ext cx="10728655" cy="887889"/>
          </a:xfrm>
          <a:prstGeom prst="roundRect">
            <a:avLst>
              <a:gd name="adj" fmla="val 10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520438"/>
            <a:ext cx="438912" cy="438912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489196"/>
            <a:ext cx="438912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290727"/>
            <a:ext cx="4206240" cy="887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自分を守るため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4290727"/>
            <a:ext cx="5150815" cy="887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何かあったとき、責任を負えません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700903"/>
            <a:ext cx="10728655" cy="626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減薬の話が出たら、「主治医に相談してみては」が正解です。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距離感の話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3979"/>
            <a:ext cx="1072865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こんな患者さん、いませんか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589947"/>
            <a:ext cx="10728655" cy="1960474"/>
          </a:xfrm>
          <a:prstGeom prst="roundRect">
            <a:avLst>
              <a:gd name="adj" fmla="val 46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589947"/>
            <a:ext cx="10728655" cy="1960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「今まで、話を聴いてもらえなかった」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979274"/>
            <a:ext cx="10728655" cy="1347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・前の院では、すぐ説明が始まった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・病院では3分で終わった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・家族にも、職場にも言えない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66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距離感の話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98386"/>
            <a:ext cx="10728655" cy="1078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その方は、長く続く患者さんになります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20650"/>
            <a:ext cx="2936138" cy="1129424"/>
          </a:xfrm>
          <a:prstGeom prst="roundRect">
            <a:avLst>
              <a:gd name="adj" fmla="val 8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220650"/>
            <a:ext cx="2936138" cy="112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聴いてもらえた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3713378" y="2220650"/>
            <a:ext cx="548640" cy="112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07738" y="2220650"/>
            <a:ext cx="2936138" cy="1129424"/>
          </a:xfrm>
          <a:prstGeom prst="roundRect">
            <a:avLst>
              <a:gd name="adj" fmla="val 8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07738" y="2220650"/>
            <a:ext cx="2936138" cy="112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ここなら話せる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289597" y="2220650"/>
            <a:ext cx="548640" cy="112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883957" y="2220650"/>
            <a:ext cx="2936138" cy="1129424"/>
          </a:xfrm>
          <a:prstGeom prst="roundRect">
            <a:avLst>
              <a:gd name="adj" fmla="val 8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83957" y="2220650"/>
            <a:ext cx="2936138" cy="112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ここしかない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709437"/>
            <a:ext cx="10728655" cy="51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売上としては、ありがたい話です。けれど――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479499"/>
            <a:ext cx="10728655" cy="61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「ここしかない」は、患者さんにとって危うい状態です。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300899"/>
            <a:ext cx="10728655" cy="102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治らないわけではありません。良くなっている方も、たくさんいます。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ただ、依存先がひとつしかないまま、というのが問題なのです。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2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距離感の話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47162"/>
            <a:ext cx="10728655" cy="126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私の、失敗です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24565"/>
            <a:ext cx="10728655" cy="2642087"/>
          </a:xfrm>
          <a:prstGeom prst="roundRect">
            <a:avLst>
              <a:gd name="adj" fmla="val 3461"/>
            </a:avLst>
          </a:prstGeom>
          <a:solidFill>
            <a:srgbClr val="1B4E3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2904945"/>
            <a:ext cx="9631375" cy="192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最初は「とてもいい！」と言ってくださっていました。</a:t>
            </a:r>
            <a:endParaRPr lang="en-US" sz="18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どんどん頼られて、私も応えていました。</a:t>
            </a:r>
            <a:endParaRPr lang="en-US" sz="1800" dirty="0"/>
          </a:p>
          <a:p>
            <a:pPr algn="l" indent="0" marL="0">
              <a:lnSpc>
                <a:spcPts val="3400"/>
              </a:lnSpc>
              <a:buNone/>
            </a:pPr>
            <a:endParaRPr lang="en-US" sz="18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それが、クレームになりました。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486984"/>
            <a:ext cx="10728655" cy="8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5C9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患者さんのせいではなく、私の距離感が間違っていたのです。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69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距離感の話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00860"/>
            <a:ext cx="10728655" cy="1087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距離が近すぎる、3つのサイン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85306"/>
            <a:ext cx="10728655" cy="911315"/>
          </a:xfrm>
          <a:prstGeom prst="roundRect">
            <a:avLst>
              <a:gd name="adj" fmla="val 10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412363"/>
            <a:ext cx="457200" cy="457200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82067"/>
            <a:ext cx="457200" cy="517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185306"/>
            <a:ext cx="5486400" cy="91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施術後、自分が疲れている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2185306"/>
            <a:ext cx="3870655" cy="91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感情を受け取りすぎています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241603"/>
            <a:ext cx="10728655" cy="911315"/>
          </a:xfrm>
          <a:prstGeom prst="roundRect">
            <a:avLst>
              <a:gd name="adj" fmla="val 10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468661"/>
            <a:ext cx="457200" cy="457200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3438364"/>
            <a:ext cx="457200" cy="517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!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241603"/>
            <a:ext cx="5486400" cy="91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患者さんの課題を、自分ごとにしている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3241603"/>
            <a:ext cx="3870655" cy="91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その課題は、誰のものですか？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297900"/>
            <a:ext cx="10728655" cy="911315"/>
          </a:xfrm>
          <a:prstGeom prst="roundRect">
            <a:avLst>
              <a:gd name="adj" fmla="val 10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524958"/>
            <a:ext cx="457200" cy="457200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494662"/>
            <a:ext cx="457200" cy="517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297900"/>
            <a:ext cx="5486400" cy="91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時間外の連絡に、応じている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4297900"/>
            <a:ext cx="3870655" cy="91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枠が消えると、関係は壊れます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706297"/>
            <a:ext cx="10728655" cy="621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疲れるのは、優しいからではありません。近すぎるからです。</a:t>
            </a:r>
            <a:endParaRPr lang="en-US" sz="230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6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距離感の話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40581"/>
            <a:ext cx="10728655" cy="1236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依存させ切らない。次の依存先へ、つなぐ。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42074"/>
            <a:ext cx="3256178" cy="2708127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67001" y="2879483"/>
            <a:ext cx="585216" cy="585216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067001" y="2795308"/>
            <a:ext cx="585216" cy="753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737266"/>
            <a:ext cx="2707538" cy="49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受け止める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325989"/>
            <a:ext cx="2707538" cy="706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まず、ちゃんと聴く。ここを飛ばすと繋がりません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07738" y="2442074"/>
            <a:ext cx="3256178" cy="2708127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43220" y="2879483"/>
            <a:ext cx="585216" cy="585216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43220" y="2795308"/>
            <a:ext cx="585216" cy="753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82058" y="3737266"/>
            <a:ext cx="2707538" cy="49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枠をつくる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82058" y="4325989"/>
            <a:ext cx="2707538" cy="706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「今日は10分、じっくり伺います」と先に言う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83957" y="2442074"/>
            <a:ext cx="3256178" cy="2708127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219438" y="2879483"/>
            <a:ext cx="585216" cy="585216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19438" y="2795308"/>
            <a:ext cx="585216" cy="753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158277" y="3737266"/>
            <a:ext cx="2707538" cy="49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渡していく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158277" y="4325989"/>
            <a:ext cx="2707538" cy="706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自分以外の依存先を、一緒に探す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621180"/>
            <a:ext cx="10728655" cy="706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適切な距離とは、冷たさではなく、渡す準備のことです。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83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距離感の話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16647"/>
            <a:ext cx="10728655" cy="114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なぜ「良くなった」と言われたいのでしょう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87361"/>
            <a:ext cx="5227168" cy="1637954"/>
          </a:xfrm>
          <a:prstGeom prst="roundRect">
            <a:avLst>
              <a:gd name="adj" fmla="val 5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287361"/>
            <a:ext cx="5227168" cy="1637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なぜ、良くなったと</a:t>
            </a:r>
            <a:endParaRPr lang="en-US" sz="21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言われたいのか？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33008" y="2287361"/>
            <a:ext cx="5227168" cy="1637954"/>
          </a:xfrm>
          <a:prstGeom prst="roundRect">
            <a:avLst>
              <a:gd name="adj" fmla="val 5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233008" y="2287361"/>
            <a:ext cx="5227168" cy="1637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なぜ、アドバイスを</a:t>
            </a:r>
            <a:endParaRPr lang="en-US" sz="21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したいのか？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307504"/>
            <a:ext cx="10728655" cy="65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この2つは、根っこが似ています。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126482"/>
            <a:ext cx="10728655" cy="1201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5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どちらも「自分が認められたい」から出ていることがあります。</a:t>
            </a:r>
            <a:endParaRPr lang="en-US" sz="155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15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傾聴を実践していくと、そこに気づけます。腑に落ちると、ぐっと楽になります。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66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傾聴のやり方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98386"/>
            <a:ext cx="10728655" cy="1078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傾聴の、8つの技法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69313"/>
            <a:ext cx="5227168" cy="718725"/>
          </a:xfrm>
          <a:prstGeom prst="roundRect">
            <a:avLst>
              <a:gd name="adj" fmla="val 127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354939"/>
            <a:ext cx="347472" cy="34747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2333592"/>
            <a:ext cx="347472" cy="39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169313"/>
            <a:ext cx="4221328" cy="718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相手の気持ちを汲み取る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33008" y="2169313"/>
            <a:ext cx="5227168" cy="718725"/>
          </a:xfrm>
          <a:prstGeom prst="roundRect">
            <a:avLst>
              <a:gd name="adj" fmla="val 127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89040" y="2354939"/>
            <a:ext cx="347472" cy="347472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89040" y="2333592"/>
            <a:ext cx="347472" cy="39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010248" y="2169313"/>
            <a:ext cx="4221328" cy="718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繰り返し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3011247"/>
            <a:ext cx="5227168" cy="718725"/>
          </a:xfrm>
          <a:prstGeom prst="roundRect">
            <a:avLst>
              <a:gd name="adj" fmla="val 127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87552" y="3196873"/>
            <a:ext cx="347472" cy="34747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87552" y="3175527"/>
            <a:ext cx="347472" cy="39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011247"/>
            <a:ext cx="4221328" cy="718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パラフレーズ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33008" y="3011247"/>
            <a:ext cx="5227168" cy="718725"/>
          </a:xfrm>
          <a:prstGeom prst="roundRect">
            <a:avLst>
              <a:gd name="adj" fmla="val 127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89040" y="3196873"/>
            <a:ext cx="347472" cy="347472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89040" y="3175527"/>
            <a:ext cx="347472" cy="39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010248" y="3011247"/>
            <a:ext cx="4221328" cy="718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明確化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31520" y="3853182"/>
            <a:ext cx="5227168" cy="718725"/>
          </a:xfrm>
          <a:prstGeom prst="roundRect">
            <a:avLst>
              <a:gd name="adj" fmla="val 127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87552" y="4038808"/>
            <a:ext cx="347472" cy="34747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87552" y="4017462"/>
            <a:ext cx="347472" cy="39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853182"/>
            <a:ext cx="4221328" cy="718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沈黙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33008" y="3853182"/>
            <a:ext cx="5227168" cy="718725"/>
          </a:xfrm>
          <a:prstGeom prst="roundRect">
            <a:avLst>
              <a:gd name="adj" fmla="val 127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89040" y="4038808"/>
            <a:ext cx="347472" cy="347472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89040" y="4017462"/>
            <a:ext cx="347472" cy="39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010248" y="3853182"/>
            <a:ext cx="4221328" cy="718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相手がもっとも問題と感じている所にスポットを当てる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31520" y="4695116"/>
            <a:ext cx="5227168" cy="718725"/>
          </a:xfrm>
          <a:prstGeom prst="roundRect">
            <a:avLst>
              <a:gd name="adj" fmla="val 127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87552" y="4880743"/>
            <a:ext cx="347472" cy="34747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87552" y="4859396"/>
            <a:ext cx="347472" cy="39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508760" y="4695116"/>
            <a:ext cx="4221328" cy="718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相手ができる範囲を明確化する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233008" y="4695116"/>
            <a:ext cx="5227168" cy="718725"/>
          </a:xfrm>
          <a:prstGeom prst="roundRect">
            <a:avLst>
              <a:gd name="adj" fmla="val 127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89040" y="4880743"/>
            <a:ext cx="347472" cy="347472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89040" y="4859396"/>
            <a:ext cx="347472" cy="39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010248" y="4695116"/>
            <a:ext cx="4221328" cy="718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相手が主体的に行っている事柄に注目する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5711598"/>
            <a:ext cx="10728655" cy="61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今日は、この8つを順に見ていきます。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傾聴のやり方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97408"/>
            <a:ext cx="3108960" cy="5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① ②　③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840480" y="597408"/>
            <a:ext cx="7619695" cy="5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まず、受け取る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250362"/>
            <a:ext cx="10728655" cy="1212166"/>
          </a:xfrm>
          <a:prstGeom prst="roundRect">
            <a:avLst>
              <a:gd name="adj" fmla="val 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88720" y="2448716"/>
            <a:ext cx="9814255" cy="462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① 相手の気持ちを汲み取る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933583"/>
            <a:ext cx="9814255" cy="44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「つらかったですね」――事実ではなく、感情に返す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682922"/>
            <a:ext cx="10728655" cy="1212166"/>
          </a:xfrm>
          <a:prstGeom prst="roundRect">
            <a:avLst>
              <a:gd name="adj" fmla="val 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188720" y="3881276"/>
            <a:ext cx="9814255" cy="462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② 繰り返し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4366143"/>
            <a:ext cx="9814255" cy="44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相手の言葉を、相手の言葉のまま返す。言い換えない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5115482"/>
            <a:ext cx="10728655" cy="1212166"/>
          </a:xfrm>
          <a:prstGeom prst="roundRect">
            <a:avLst>
              <a:gd name="adj" fmla="val 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188720" y="5313836"/>
            <a:ext cx="9814255" cy="462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③ パラフレーズ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5798703"/>
            <a:ext cx="9814255" cy="44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長い話を、短く言い直して確認する。「つまり〇〇ということですか？」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傾聴のやり方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29473"/>
            <a:ext cx="3108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④　⑤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840480" y="629473"/>
            <a:ext cx="76196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深める、待つ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467417"/>
            <a:ext cx="10728655" cy="1347826"/>
          </a:xfrm>
          <a:prstGeom prst="roundRect">
            <a:avLst>
              <a:gd name="adj" fmla="val 6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88720" y="2687970"/>
            <a:ext cx="9814255" cy="514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④ 明確化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227100"/>
            <a:ext cx="9814255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あいまいなところを聞き返す。その『しんどい』は、どんな感じですか？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060302"/>
            <a:ext cx="10728655" cy="1347826"/>
          </a:xfrm>
          <a:prstGeom prst="roundRect">
            <a:avLst>
              <a:gd name="adj" fmla="val 6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188720" y="4280855"/>
            <a:ext cx="9814255" cy="514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⑤ 沈黙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4819985"/>
            <a:ext cx="9814255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言い終わってから、心のなかで1・2・3。置鍼の待ち時間と同じです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傾聴のやり方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97408"/>
            <a:ext cx="3108960" cy="5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⑥ ⑦　⑧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840480" y="597408"/>
            <a:ext cx="7619695" cy="5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焦点を当て、返していく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250362"/>
            <a:ext cx="10728655" cy="1212166"/>
          </a:xfrm>
          <a:prstGeom prst="roundRect">
            <a:avLst>
              <a:gd name="adj" fmla="val 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88720" y="2448716"/>
            <a:ext cx="9814255" cy="462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⑥ もっとも問題と感じている所にスポットを当てる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933583"/>
            <a:ext cx="9814255" cy="44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全部は扱えません。本人がいちばん困っている一点へ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682922"/>
            <a:ext cx="10728655" cy="1212166"/>
          </a:xfrm>
          <a:prstGeom prst="roundRect">
            <a:avLst>
              <a:gd name="adj" fmla="val 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188720" y="3881276"/>
            <a:ext cx="9814255" cy="462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⑦ 相手ができる範囲を明確化する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4366143"/>
            <a:ext cx="9814255" cy="44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「どこまでならできそうですか？」――主語を相手に戻す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5115482"/>
            <a:ext cx="10728655" cy="1212166"/>
          </a:xfrm>
          <a:prstGeom prst="roundRect">
            <a:avLst>
              <a:gd name="adj" fmla="val 7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188720" y="5313836"/>
            <a:ext cx="9814255" cy="462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⑧ 主体的に行っている事柄に注目する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5798703"/>
            <a:ext cx="9814255" cy="44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すでにやれていることを見つけて、言葉にして返す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81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傾聴のやり方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27321"/>
            <a:ext cx="10728655" cy="1192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自動思考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28240"/>
            <a:ext cx="10728655" cy="542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D39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無意識に浮かんでくる思考のこと。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441315"/>
            <a:ext cx="4937760" cy="542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・無意識的で、瞬間的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4441315"/>
            <a:ext cx="5608015" cy="542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自分の意志で考えたわけではなく、反射のように浮かぶ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113457"/>
            <a:ext cx="4937760" cy="542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・本人は「絶対的な真実」と捉えがち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5113457"/>
            <a:ext cx="5608015" cy="542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疑うことなく、客観的な事実だと信じ込みやすい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785598"/>
            <a:ext cx="4937760" cy="542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・感情と身体反応を、直接動かす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5785598"/>
            <a:ext cx="5608015" cy="542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不安・落ち込み、緊張・動悸などが引き起こされる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傾聴のやり方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7386"/>
            <a:ext cx="10728655" cy="1224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自己認知してもらうための、傾聴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21423"/>
            <a:ext cx="2936138" cy="2448678"/>
          </a:xfrm>
          <a:prstGeom prst="roundRect">
            <a:avLst>
              <a:gd name="adj" fmla="val 37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712933"/>
            <a:ext cx="2387498" cy="466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6F6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出来事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95951"/>
            <a:ext cx="2387498" cy="1399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遅刻した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713378" y="2421423"/>
            <a:ext cx="548640" cy="2448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07738" y="2421423"/>
            <a:ext cx="2936138" cy="2448678"/>
          </a:xfrm>
          <a:prstGeom prst="roundRect">
            <a:avLst>
              <a:gd name="adj" fmla="val 37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82058" y="2712933"/>
            <a:ext cx="2387498" cy="466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自動思考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82058" y="3295951"/>
            <a:ext cx="2387498" cy="1399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「なんで起こしてくれないの」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「自分はダメだ」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「あの人はできてるのに」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289597" y="2421423"/>
            <a:ext cx="548640" cy="2448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883957" y="2421423"/>
            <a:ext cx="2936138" cy="2448678"/>
          </a:xfrm>
          <a:prstGeom prst="roundRect">
            <a:avLst>
              <a:gd name="adj" fmla="val 37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158277" y="2712933"/>
            <a:ext cx="2387498" cy="466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感情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158277" y="3295951"/>
            <a:ext cx="2387498" cy="1399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焦り・悲しみ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情けなさ・怒り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219913"/>
            <a:ext cx="10728655" cy="1107735"/>
          </a:xfrm>
          <a:prstGeom prst="roundRect">
            <a:avLst>
              <a:gd name="adj" fmla="val 8255"/>
            </a:avLst>
          </a:prstGeom>
          <a:solidFill>
            <a:srgbClr val="34D39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5219913"/>
            <a:ext cx="10728655" cy="1107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ここに「それはダメだ」と評価を入れてしまうのが、ジャッジメント。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ワーク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3979"/>
            <a:ext cx="1072865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ワーク①　イラストを覚えてください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712476"/>
            <a:ext cx="10728655" cy="2205533"/>
          </a:xfrm>
          <a:prstGeom prst="roundRect">
            <a:avLst>
              <a:gd name="adj" fmla="val 41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712476"/>
            <a:ext cx="10728655" cy="2205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次の画面に出るイラストを、10秒間よく見て、覚えてください。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nayonekura/9d042e6e-db53-56ae-891b-2f39c336e1c1/scratchpad/assets/pink-eleph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417320"/>
            <a:ext cx="3200400" cy="3200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489204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10秒間、よく見てください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ワーク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3979"/>
            <a:ext cx="1072865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ピンクの象が挙げていた足は、向かって右？　左？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835006"/>
            <a:ext cx="10728655" cy="2328062"/>
          </a:xfrm>
          <a:prstGeom prst="roundRect">
            <a:avLst>
              <a:gd name="adj" fmla="val 3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835006"/>
            <a:ext cx="10728655" cy="2328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右　or　左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653187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答えは、あとで出します。いまは覚えておいてください。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ワーク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3979"/>
            <a:ext cx="1072865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ワーク②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589947"/>
            <a:ext cx="10728655" cy="2450592"/>
          </a:xfrm>
          <a:prstGeom prst="roundRect">
            <a:avLst>
              <a:gd name="adj" fmla="val 4478"/>
            </a:avLst>
          </a:prstGeom>
          <a:solidFill>
            <a:srgbClr val="F15C9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589947"/>
            <a:ext cx="10728655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3分間、目を閉じて</a:t>
            </a:r>
            <a:endParaRPr lang="en-US" sz="30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ピンクの象を思い出さないでください。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530657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D39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では、目を閉じてください。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53128" y="1371600"/>
            <a:ext cx="3291840" cy="3291840"/>
          </a:xfrm>
          <a:prstGeom prst="ellipse">
            <a:avLst/>
          </a:prstGeom>
          <a:solidFill>
            <a:srgbClr val="123C2A"/>
          </a:solidFill>
          <a:ln w="38100">
            <a:solidFill>
              <a:srgbClr val="34D39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453128" y="137160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3246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B8A2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分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目を閉じたまま、ピンクの象を思い出さないでください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ワーク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3979"/>
            <a:ext cx="1072865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3分の間、ピンクの象を思い浮かべなかった方はいますか？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835006"/>
            <a:ext cx="10728655" cy="2083003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835006"/>
            <a:ext cx="10728655" cy="2083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……たぶん、いませんよね。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408127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むしろ、思い出さないようにするほど、はっきり浮かんだはずです。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146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FB8A2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勝手に浮かんでくるのが、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3756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自動思考です。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62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傾聴のやり方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93562"/>
            <a:ext cx="10728655" cy="105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浮かぶのは「当たり前」です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88607"/>
            <a:ext cx="10728655" cy="1918092"/>
          </a:xfrm>
          <a:prstGeom prst="roundRect">
            <a:avLst>
              <a:gd name="adj" fmla="val 4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188607"/>
            <a:ext cx="10728655" cy="1918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26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浮かんだ感情を「ダメ」と否定すること。</a:t>
            </a:r>
            <a:endParaRPr lang="en-US" sz="26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26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それが、ジャッジです。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4460032"/>
            <a:ext cx="5227168" cy="959046"/>
          </a:xfrm>
          <a:prstGeom prst="roundRect">
            <a:avLst>
              <a:gd name="adj" fmla="val 9534"/>
            </a:avLst>
          </a:prstGeom>
          <a:solidFill>
            <a:srgbClr val="34D39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4460032"/>
            <a:ext cx="5227168" cy="95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なんでダメなの？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33008" y="4460032"/>
            <a:ext cx="5227168" cy="959046"/>
          </a:xfrm>
          <a:prstGeom prst="roundRect">
            <a:avLst>
              <a:gd name="adj" fmla="val 9534"/>
            </a:avLst>
          </a:prstGeom>
          <a:solidFill>
            <a:srgbClr val="34D39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33008" y="4460032"/>
            <a:ext cx="5227168" cy="95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ほんとにダメなの？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721935"/>
            <a:ext cx="10728655" cy="605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この2つを、自分に向けられるようになると楽になります。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ワーク③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66928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過去1年に、自分に起きた出来事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002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合計が何点になるか、数えてみてください。（だいたいで構いません）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5181448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286000"/>
            <a:ext cx="3855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配偶者の死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離婚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夫婦の別居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刑務所などへの拘留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家族の死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怪我や病気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結婚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解雇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配偶者との和解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退職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家族の健康や行動の変化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妊娠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性的な問題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新しい家族を迎える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仕事場の大きな再調整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経済状態の変化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親友の死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違う仕事への異動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配偶者との口論の数の変化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抵当に入れる（借金をする）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担保やローンの損失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998568" y="2286000"/>
            <a:ext cx="594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100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73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65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63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63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53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50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47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45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45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44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40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39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39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39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38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37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36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35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31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78728" y="2103120"/>
            <a:ext cx="5181448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98768" y="2286000"/>
            <a:ext cx="3855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仕事場の責任の変化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子供が家を出る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親戚とのトラブル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素晴らしい成功を収める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配偶者の就職や離職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学校へ入る／学校を辞める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生活環境の大きな変化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生活習慣の改訂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上司とのトラブル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勤務時間や勤務条件の変化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住居の変化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転校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趣味や娯楽の変化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宗教活動の変化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社会活動の変化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ローンを組む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睡眠習慣の変化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家族団欒回数の変化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食習慣の変化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長期休暇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クリスマス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軽微な法律違反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545775" y="2286000"/>
            <a:ext cx="594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29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29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29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28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26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26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25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24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23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19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19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18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17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16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15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15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13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12</a:t>
            </a:r>
            <a:endParaRPr lang="en-US" sz="90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12648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社会再適応評価尺度（ホームズとレイ）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76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ワーク③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08545"/>
            <a:ext cx="10728655" cy="1116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その点数が、意味すること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88133"/>
            <a:ext cx="10728655" cy="1328788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2288133"/>
            <a:ext cx="2743200" cy="132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200〜300点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2288133"/>
            <a:ext cx="1828800" cy="132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50%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2288133"/>
            <a:ext cx="5150815" cy="132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の確率で健康上の問題が起きたとの報告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882678"/>
            <a:ext cx="10728655" cy="1328788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188720" y="3882678"/>
            <a:ext cx="2743200" cy="132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300点以上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3882678"/>
            <a:ext cx="1828800" cy="132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約80%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882678"/>
            <a:ext cx="5150815" cy="132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の確率で、なんらかの病気に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689830"/>
            <a:ext cx="10728655" cy="63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患者さんは、この点数を抱えて来院されています。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まとめ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86623"/>
            <a:ext cx="10728655" cy="10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今日、持ち帰っていただきたいこと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93273"/>
            <a:ext cx="10728655" cy="984738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329610"/>
            <a:ext cx="512064" cy="512064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309915"/>
            <a:ext cx="512064" cy="551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211441"/>
            <a:ext cx="9357055" cy="413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聴くと、情報が集まる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644726"/>
            <a:ext cx="9357055" cy="344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東洋医学的にも、西洋医学的にも。それが実費診療の強み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3225722"/>
            <a:ext cx="10728655" cy="984738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51560" y="3462059"/>
            <a:ext cx="512064" cy="512064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442364"/>
            <a:ext cx="512064" cy="551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343890"/>
            <a:ext cx="9357055" cy="413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抱えない。つなぐ。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3777175"/>
            <a:ext cx="9357055" cy="344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自立とは、依存先を増やすこと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4358171"/>
            <a:ext cx="10728655" cy="984738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1560" y="4594508"/>
            <a:ext cx="512064" cy="512064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4574814"/>
            <a:ext cx="512064" cy="551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476340"/>
            <a:ext cx="9357055" cy="413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距離は、冷たさではない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4909625"/>
            <a:ext cx="9357055" cy="344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渡す準備をしておくこと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736805"/>
            <a:ext cx="10728655" cy="590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明日は、最初の90秒を遮らないところから。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76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ご案内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08545"/>
            <a:ext cx="10728655" cy="1116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オンラインサロン ここちめいど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81829"/>
            <a:ext cx="5578901" cy="3082788"/>
          </a:xfrm>
          <a:prstGeom prst="roundRect">
            <a:avLst>
              <a:gd name="adj" fmla="val 29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2500739"/>
            <a:ext cx="4664501" cy="956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3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傾聴を学ぶ、</a:t>
            </a:r>
            <a:endParaRPr lang="en-US" sz="23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3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鍼灸師のコミュニティ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616921"/>
            <a:ext cx="4664501" cy="127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2020年4月から、6年目。</a:t>
            </a:r>
            <a:endParaRPr lang="en-US" sz="14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傾聴の練習と、症例の検討。</a:t>
            </a:r>
            <a:endParaRPr lang="en-US" sz="14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学会発表まで、一緒にやっています。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67621" y="2181829"/>
            <a:ext cx="4692554" cy="1381940"/>
          </a:xfrm>
          <a:prstGeom prst="roundRect">
            <a:avLst>
              <a:gd name="adj" fmla="val 6617"/>
            </a:avLst>
          </a:prstGeom>
          <a:solidFill>
            <a:srgbClr val="123C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67621" y="2181829"/>
            <a:ext cx="4692554" cy="13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いまは、募集していません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767621" y="3776375"/>
            <a:ext cx="4692554" cy="1488243"/>
          </a:xfrm>
          <a:prstGeom prst="roundRect">
            <a:avLst>
              <a:gd name="adj" fmla="val 6144"/>
            </a:avLst>
          </a:prstGeom>
          <a:solidFill>
            <a:srgbClr val="34D39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67621" y="3776375"/>
            <a:ext cx="4692554" cy="148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次の募集は</a:t>
            </a:r>
            <a:endParaRPr lang="en-US" sz="22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2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2027年7月スタート予定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689830"/>
            <a:ext cx="10728655" cy="63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先に知りたい方は、LINEにご登録ください。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51467"/>
            <a:ext cx="10728655" cy="99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まずは、LINEにご登録ください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786703"/>
            <a:ext cx="5149754" cy="3311106"/>
          </a:xfrm>
          <a:prstGeom prst="roundRect">
            <a:avLst>
              <a:gd name="adj" fmla="val 2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188720" y="2070512"/>
            <a:ext cx="4235354" cy="33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登録された方へ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34440" y="2642558"/>
            <a:ext cx="256032" cy="25603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2638130"/>
            <a:ext cx="256032" cy="26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543527"/>
            <a:ext cx="3686714" cy="47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本日のスライドをお送りします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234440" y="3352081"/>
            <a:ext cx="256032" cy="25603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34440" y="3347653"/>
            <a:ext cx="256032" cy="26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3253050"/>
            <a:ext cx="3686714" cy="47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無料セミナーのご案内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234440" y="4061604"/>
            <a:ext cx="256032" cy="25603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4057176"/>
            <a:ext cx="256032" cy="26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962573"/>
            <a:ext cx="3686714" cy="47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サロン募集開始のお知らせ（先行）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338474" y="1786703"/>
            <a:ext cx="5121701" cy="3311106"/>
          </a:xfrm>
          <a:prstGeom prst="roundRect">
            <a:avLst>
              <a:gd name="adj" fmla="val 2762"/>
            </a:avLst>
          </a:prstGeom>
          <a:solidFill>
            <a:srgbClr val="FFFFFF"/>
          </a:solidFill>
          <a:ln w="19050">
            <a:solidFill>
              <a:srgbClr val="17784A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612794" y="2921939"/>
            <a:ext cx="4573061" cy="851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▶ 公式LINEのQRコードを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ここに大きく貼ってください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12794" y="4340985"/>
            <a:ext cx="4573061" cy="37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▶ 短縮URLをここに（口頭でも読み上げる）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5334316"/>
            <a:ext cx="10728655" cy="993332"/>
          </a:xfrm>
          <a:prstGeom prst="roundRect">
            <a:avLst>
              <a:gd name="adj" fmla="val 9205"/>
            </a:avLst>
          </a:prstGeom>
          <a:solidFill>
            <a:srgbClr val="34D39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5334316"/>
            <a:ext cx="10728655" cy="99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近日、無料セミナーを開催します。日程はLINEでお知らせします。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鍼灸師のための傾聴セミナー</dc:title>
  <dc:subject>オンラインサロン ここちめいど</dc:subject>
  <dc:creator>米倉まな</dc:creator>
  <cp:lastModifiedBy>米倉まな</cp:lastModifiedBy>
  <cp:revision>1</cp:revision>
  <dcterms:created xsi:type="dcterms:W3CDTF">2026-09-28T09:51:15Z</dcterms:created>
  <dcterms:modified xsi:type="dcterms:W3CDTF">2026-09-28T09:51:15Z</dcterms:modified>
</cp:coreProperties>
</file>