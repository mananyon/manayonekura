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にいる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まずは本日、この3つのうちどこに可能性がありそうか、率直なご意見をいただけたら嬉し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100" spc="200" kern="0" dirty="0">
                <a:solidFill>
                  <a:srgbClr val="9C5446"/>
                </a:solidFill>
                <a:latin typeface="游ゴシック" pitchFamily="34" charset="0"/>
                <a:ea typeface="游ゴシック" pitchFamily="34" charset="-122"/>
                <a:cs typeface="游ゴシック" pitchFamily="34" charset="-120"/>
              </a:rPr>
              <a:t>アポプラスステーション株式会社 御中</a:t>
            </a:r>
            <a:endParaRPr lang="en-US" sz="11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100" spc="500" kern="0" dirty="0">
                <a:solidFill>
                  <a:srgbClr val="8B8175"/>
                </a:solidFill>
                <a:latin typeface="游ゴシック" pitchFamily="34" charset="0"/>
                <a:ea typeface="游ゴシック" pitchFamily="34" charset="-122"/>
                <a:cs typeface="游ゴシック" pitchFamily="34" charset="-120"/>
              </a:rPr>
              <a:t>よねくら　まな</a:t>
            </a:r>
            <a:endParaRPr lang="en-US" sz="11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300" kern="0" dirty="0">
                <a:solidFill>
                  <a:srgbClr val="2B2620"/>
                </a:solidFill>
                <a:latin typeface="游明朝" pitchFamily="34" charset="0"/>
                <a:ea typeface="游明朝" pitchFamily="34" charset="-122"/>
                <a:cs typeface="游明朝"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ご提案の前に、</a:t>
            </a:r>
            <a:endParaRPr lang="en-US" sz="2000" dirty="0"/>
          </a:p>
          <a:p>
            <a:pPr indent="0" marL="0">
              <a:lnSpc>
                <a:spcPts val="3400"/>
              </a:lnSpc>
              <a:buNone/>
            </a:pPr>
            <a:r>
              <a:rPr lang="en-US" sz="2000" dirty="0">
                <a:solidFill>
                  <a:srgbClr val="5A5249"/>
                </a:solidFill>
                <a:latin typeface="游明朝" pitchFamily="34" charset="0"/>
                <a:ea typeface="游明朝" pitchFamily="34" charset="-122"/>
                <a:cs typeface="游明朝" pitchFamily="34" charset="-120"/>
              </a:rPr>
              <a:t>私が何者で、何を変えたいのかを。</a:t>
            </a:r>
            <a:endParaRPr lang="en-US" sz="2000" dirty="0"/>
          </a:p>
        </p:txBody>
      </p:sp>
      <p:sp>
        <p:nvSpPr>
          <p:cNvPr id="7" name="Shape 5"/>
          <p:cNvSpPr/>
          <p:nvPr/>
        </p:nvSpPr>
        <p:spPr>
          <a:xfrm>
            <a:off x="685800" y="4892040"/>
            <a:ext cx="1869948" cy="384048"/>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892040"/>
            <a:ext cx="18699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認定鍼灸師（開業11年目）</a:t>
            </a:r>
            <a:endParaRPr lang="en-US" sz="950" dirty="0"/>
          </a:p>
        </p:txBody>
      </p:sp>
      <p:sp>
        <p:nvSpPr>
          <p:cNvPr id="9" name="Shape 7"/>
          <p:cNvSpPr/>
          <p:nvPr/>
        </p:nvSpPr>
        <p:spPr>
          <a:xfrm>
            <a:off x="2702052" y="4892040"/>
            <a:ext cx="2098548" cy="384048"/>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2702052"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はりきゅう処ここちめいど 院長</a:t>
            </a:r>
            <a:endParaRPr lang="en-US" sz="950" dirty="0"/>
          </a:p>
        </p:txBody>
      </p:sp>
      <p:sp>
        <p:nvSpPr>
          <p:cNvPr id="11" name="Shape 9"/>
          <p:cNvSpPr/>
          <p:nvPr/>
        </p:nvSpPr>
        <p:spPr>
          <a:xfrm>
            <a:off x="4946904" y="4892040"/>
            <a:ext cx="2441448" cy="384048"/>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4946904" y="4892040"/>
            <a:ext cx="2441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オンラインサロン ここちめいど 主宰</a:t>
            </a:r>
            <a:endParaRPr lang="en-US" sz="950" dirty="0"/>
          </a:p>
        </p:txBody>
      </p:sp>
      <p:sp>
        <p:nvSpPr>
          <p:cNvPr id="13" name="Shape 11"/>
          <p:cNvSpPr/>
          <p:nvPr/>
        </p:nvSpPr>
        <p:spPr>
          <a:xfrm>
            <a:off x="7534656" y="4892040"/>
            <a:ext cx="1298448" cy="384048"/>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7534656" y="4892040"/>
            <a:ext cx="12984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ここちはり 代表</a:t>
            </a:r>
            <a:endParaRPr lang="en-US" sz="950" dirty="0"/>
          </a:p>
        </p:txBody>
      </p:sp>
      <p:sp>
        <p:nvSpPr>
          <p:cNvPr id="15" name="Shape 13"/>
          <p:cNvSpPr/>
          <p:nvPr/>
        </p:nvSpPr>
        <p:spPr>
          <a:xfrm>
            <a:off x="8979408" y="4892040"/>
            <a:ext cx="2098548" cy="384048"/>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8979408" y="4892040"/>
            <a:ext cx="2098548" cy="384048"/>
          </a:xfrm>
          <a:prstGeom prst="rect">
            <a:avLst/>
          </a:prstGeom>
          <a:noFill/>
          <a:ln/>
        </p:spPr>
        <p:txBody>
          <a:bodyPr wrap="square" lIns="0" tIns="0" rIns="0" bIns="0" rtlCol="0" anchor="ctr"/>
          <a:lstStyle/>
          <a:p>
            <a:pPr algn="ctr" indent="0" marL="0">
              <a:buNone/>
            </a:pPr>
            <a:r>
              <a:rPr lang="en-US" sz="950" dirty="0">
                <a:solidFill>
                  <a:srgbClr val="5A5249"/>
                </a:solidFill>
                <a:latin typeface="游ゴシック" pitchFamily="34" charset="0"/>
                <a:ea typeface="游ゴシック" pitchFamily="34" charset="-122"/>
                <a:cs typeface="游ゴシック" pitchFamily="34" charset="-120"/>
              </a:rPr>
              <a:t>武蔵野大学大学院 人間学 修士</a:t>
            </a:r>
            <a:endParaRPr lang="en-US" sz="95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所要 約5分</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01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ORIGIN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精神疾患の当事者として、</a:t>
            </a:r>
            <a:pPr indent="0" marL="0">
              <a:lnSpc>
                <a:spcPts val="1900"/>
              </a:lnSpc>
              <a:buNone/>
            </a:pPr>
            <a:r>
              <a:rPr lang="en-US" sz="1150" b="1" dirty="0">
                <a:solidFill>
                  <a:srgbClr val="F3ECE0"/>
                </a:solidFill>
                <a:latin typeface="游ゴシック" pitchFamily="34" charset="0"/>
                <a:ea typeface="游ゴシック" pitchFamily="34" charset="-122"/>
                <a:cs typeface="游ゴシック" pitchFamily="34" charset="-120"/>
              </a:rPr>
              <a:t>約8年間さまよいました。</a:t>
            </a:r>
            <a:endParaRPr lang="en-US" sz="115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病院にも通いました。よくならない時期が、とても長く続きました。</a:t>
            </a:r>
            <a:endParaRPr lang="en-US" sz="115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150" dirty="0">
                <a:solidFill>
                  <a:srgbClr val="BDB2A2"/>
                </a:solidFill>
                <a:latin typeface="游ゴシック" pitchFamily="34" charset="0"/>
                <a:ea typeface="游ゴシック" pitchFamily="34" charset="-122"/>
                <a:cs typeface="游ゴシック" pitchFamily="34" charset="-120"/>
              </a:rPr>
              <a:t>最後に私を助けたのが、鍼灸でした。いまこの仕事をしているのは、そのためです。</a:t>
            </a:r>
            <a:endParaRPr lang="en-US" sz="115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F3ECE0"/>
                </a:solidFill>
                <a:latin typeface="游明朝" pitchFamily="34" charset="0"/>
                <a:ea typeface="游明朝" pitchFamily="34" charset="-122"/>
                <a:cs typeface="游明朝" pitchFamily="34" charset="-120"/>
              </a:rPr>
              <a:t>「もっと早く、</a:t>
            </a:r>
            <a:endParaRPr lang="en-US" sz="2400" dirty="0"/>
          </a:p>
          <a:p>
            <a:pPr indent="0" marL="0">
              <a:lnSpc>
                <a:spcPts val="4000"/>
              </a:lnSpc>
              <a:buNone/>
            </a:pPr>
            <a:r>
              <a:rPr lang="en-US" sz="2400" b="1" dirty="0">
                <a:solidFill>
                  <a:srgbClr val="F3ECE0"/>
                </a:solidFill>
                <a:latin typeface="游明朝" pitchFamily="34" charset="0"/>
                <a:ea typeface="游明朝" pitchFamily="34" charset="-122"/>
                <a:cs typeface="游明朝"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患者さんから、いちばん多く言われる言葉です。この「もっと早く」をなくすことが、私の仕事だと思っています。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0:20 → 0:55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02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PROFILE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臨床・育成・研究の3本を、11年まわしてきました</a:t>
            </a:r>
            <a:endParaRPr lang="en-US" sz="2800" dirty="0"/>
          </a:p>
        </p:txBody>
      </p:sp>
      <p:sp>
        <p:nvSpPr>
          <p:cNvPr id="5" name="Shape 3"/>
          <p:cNvSpPr/>
          <p:nvPr/>
        </p:nvSpPr>
        <p:spPr>
          <a:xfrm>
            <a:off x="685800" y="1737360"/>
            <a:ext cx="3456432" cy="2286000"/>
          </a:xfrm>
          <a:prstGeom prst="roundRect">
            <a:avLst>
              <a:gd name="adj" fmla="val 2000"/>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臨床</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はりきゅう処ここちめいど</a:t>
            </a:r>
            <a:endParaRPr lang="en-US" sz="1500" dirty="0"/>
          </a:p>
        </p:txBody>
      </p:sp>
      <p:sp>
        <p:nvSpPr>
          <p:cNvPr id="8" name="Text 6"/>
          <p:cNvSpPr txBox="1"/>
          <p:nvPr/>
        </p:nvSpPr>
        <p:spPr>
          <a:xfrm>
            <a:off x="941832"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三重県四日市市。2015年開院、夜22時まで。心の不調を主訴とする患者を中心に診ています。2026年9月に町田院を開院予定。</a:t>
            </a:r>
            <a:endParaRPr lang="en-US" sz="1050" dirty="0"/>
          </a:p>
        </p:txBody>
      </p:sp>
      <p:sp>
        <p:nvSpPr>
          <p:cNvPr id="9" name="Shape 7"/>
          <p:cNvSpPr/>
          <p:nvPr/>
        </p:nvSpPr>
        <p:spPr>
          <a:xfrm>
            <a:off x="4370832" y="1737360"/>
            <a:ext cx="3456432" cy="2286000"/>
          </a:xfrm>
          <a:prstGeom prst="roundRect">
            <a:avLst>
              <a:gd name="adj" fmla="val 2000"/>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育成・コミュニティ</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ここちめいど／ここちはり</a:t>
            </a:r>
            <a:endParaRPr lang="en-US" sz="1500" dirty="0"/>
          </a:p>
        </p:txBody>
      </p:sp>
      <p:sp>
        <p:nvSpPr>
          <p:cNvPr id="12" name="Text 10"/>
          <p:cNvSpPr txBox="1"/>
          <p:nvPr/>
        </p:nvSpPr>
        <p:spPr>
          <a:xfrm>
            <a:off x="4626864"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傾聴を学ぶ鍼灸師のオンラインサロンを2020年から主宰。2025年からは施術者育成事業を開始し、感情・心・身体・技術の4軸で指導。</a:t>
            </a:r>
            <a:endParaRPr lang="en-US" sz="1050" dirty="0"/>
          </a:p>
        </p:txBody>
      </p:sp>
      <p:sp>
        <p:nvSpPr>
          <p:cNvPr id="13" name="Shape 11"/>
          <p:cNvSpPr/>
          <p:nvPr/>
        </p:nvSpPr>
        <p:spPr>
          <a:xfrm>
            <a:off x="8055864" y="1737360"/>
            <a:ext cx="3456432" cy="2286000"/>
          </a:xfrm>
          <a:prstGeom prst="roundRect">
            <a:avLst>
              <a:gd name="adj" fmla="val 2000"/>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研究</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学会発表・産学連携</a:t>
            </a:r>
            <a:endParaRPr lang="en-US" sz="1500" dirty="0"/>
          </a:p>
        </p:txBody>
      </p:sp>
      <p:sp>
        <p:nvSpPr>
          <p:cNvPr id="16" name="Text 14"/>
          <p:cNvSpPr txBox="1"/>
          <p:nvPr/>
        </p:nvSpPr>
        <p:spPr>
          <a:xfrm>
            <a:off x="8311896" y="2724912"/>
            <a:ext cx="2944368" cy="109728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全日本鍼灸学会・日本うつ病学会で継続的に発表し、日本精神神経学会にも登壇。理化学研究所・東京有明医療大学・玉川大学・ケアクルとの共同研究に参画。</a:t>
            </a:r>
            <a:endParaRPr lang="en-US" sz="1050" dirty="0"/>
          </a:p>
        </p:txBody>
      </p:sp>
      <p:sp>
        <p:nvSpPr>
          <p:cNvPr id="17" name="Shape 15"/>
          <p:cNvSpPr/>
          <p:nvPr/>
        </p:nvSpPr>
        <p:spPr>
          <a:xfrm>
            <a:off x="685800" y="4434840"/>
            <a:ext cx="10820095" cy="7315"/>
          </a:xfrm>
          <a:prstGeom prst="rect">
            <a:avLst/>
          </a:prstGeom>
          <a:solidFill>
            <a:srgbClr val="D2C4AE"/>
          </a:solidFill>
          <a:ln/>
        </p:spPr>
      </p:sp>
      <p:sp>
        <p:nvSpPr>
          <p:cNvPr id="18" name="Text 16"/>
          <p:cNvSpPr txBox="1"/>
          <p:nvPr/>
        </p:nvSpPr>
        <p:spPr>
          <a:xfrm>
            <a:off x="685800"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11年目</a:t>
            </a:r>
            <a:endParaRPr lang="en-US" sz="2600" dirty="0"/>
          </a:p>
        </p:txBody>
      </p:sp>
      <p:sp>
        <p:nvSpPr>
          <p:cNvPr id="19" name="Text 17"/>
          <p:cNvSpPr txBox="1"/>
          <p:nvPr/>
        </p:nvSpPr>
        <p:spPr>
          <a:xfrm>
            <a:off x="685800"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鍼灸院 開業</a:t>
            </a:r>
            <a:endParaRPr lang="en-US" sz="950" dirty="0"/>
          </a:p>
        </p:txBody>
      </p:sp>
      <p:sp>
        <p:nvSpPr>
          <p:cNvPr id="20" name="Text 18"/>
          <p:cNvSpPr txBox="1"/>
          <p:nvPr/>
        </p:nvSpPr>
        <p:spPr>
          <a:xfrm>
            <a:off x="3390824"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20,000人+</a:t>
            </a:r>
            <a:endParaRPr lang="en-US" sz="2600" dirty="0"/>
          </a:p>
        </p:txBody>
      </p:sp>
      <p:sp>
        <p:nvSpPr>
          <p:cNvPr id="21" name="Text 19"/>
          <p:cNvSpPr txBox="1"/>
          <p:nvPr/>
        </p:nvSpPr>
        <p:spPr>
          <a:xfrm>
            <a:off x="3390824"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のべ臨床患者数</a:t>
            </a:r>
            <a:endParaRPr lang="en-US" sz="950" dirty="0"/>
          </a:p>
        </p:txBody>
      </p:sp>
      <p:sp>
        <p:nvSpPr>
          <p:cNvPr id="22" name="Text 20"/>
          <p:cNvSpPr txBox="1"/>
          <p:nvPr/>
        </p:nvSpPr>
        <p:spPr>
          <a:xfrm>
            <a:off x="6095848"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3学会</a:t>
            </a:r>
            <a:endParaRPr lang="en-US" sz="2600" dirty="0"/>
          </a:p>
        </p:txBody>
      </p:sp>
      <p:sp>
        <p:nvSpPr>
          <p:cNvPr id="23" name="Text 21"/>
          <p:cNvSpPr txBox="1"/>
          <p:nvPr/>
        </p:nvSpPr>
        <p:spPr>
          <a:xfrm>
            <a:off x="6095848"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発表・登壇</a:t>
            </a:r>
            <a:endParaRPr lang="en-US" sz="950" dirty="0"/>
          </a:p>
        </p:txBody>
      </p:sp>
      <p:sp>
        <p:nvSpPr>
          <p:cNvPr id="24" name="Text 22"/>
          <p:cNvSpPr txBox="1"/>
          <p:nvPr/>
        </p:nvSpPr>
        <p:spPr>
          <a:xfrm>
            <a:off x="8800871" y="4617720"/>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游明朝" pitchFamily="34" charset="0"/>
                <a:ea typeface="游明朝" pitchFamily="34" charset="-122"/>
                <a:cs typeface="游明朝" pitchFamily="34" charset="-120"/>
              </a:rPr>
              <a:t>修士</a:t>
            </a:r>
            <a:endParaRPr lang="en-US" sz="2600" dirty="0"/>
          </a:p>
        </p:txBody>
      </p:sp>
      <p:sp>
        <p:nvSpPr>
          <p:cNvPr id="25" name="Text 23"/>
          <p:cNvSpPr txBox="1"/>
          <p:nvPr/>
        </p:nvSpPr>
        <p:spPr>
          <a:xfrm>
            <a:off x="8800871" y="5193792"/>
            <a:ext cx="2522144" cy="274320"/>
          </a:xfrm>
          <a:prstGeom prst="rect">
            <a:avLst/>
          </a:prstGeom>
          <a:noFill/>
          <a:ln/>
        </p:spPr>
        <p:txBody>
          <a:bodyPr wrap="square" lIns="0" tIns="0" rIns="0" bIns="0" rtlCol="0" anchor="ctr"/>
          <a:lstStyle/>
          <a:p>
            <a:pPr indent="0" marL="0">
              <a:buNone/>
            </a:pPr>
            <a:r>
              <a:rPr lang="en-US" sz="950" spc="100" kern="0" dirty="0">
                <a:solidFill>
                  <a:srgbClr val="8B8175"/>
                </a:solidFill>
                <a:latin typeface="游ゴシック" pitchFamily="34" charset="0"/>
                <a:ea typeface="游ゴシック" pitchFamily="34" charset="-122"/>
                <a:cs typeface="游ゴシック" pitchFamily="34" charset="-120"/>
              </a:rPr>
              <a:t>武蔵野大学大学院 人間学</a:t>
            </a:r>
            <a:endParaRPr lang="en-US" sz="95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0:55 → 1:30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03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ISSUE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950" b="1" spc="300" kern="0" dirty="0">
                <a:solidFill>
                  <a:srgbClr val="C97B68"/>
                </a:solidFill>
                <a:latin typeface="游ゴシック" pitchFamily="34" charset="0"/>
                <a:ea typeface="游ゴシック" pitchFamily="34" charset="-122"/>
                <a:cs typeface="游ゴシック" pitchFamily="34" charset="-120"/>
              </a:rPr>
              <a:t>社会で起きていること</a:t>
            </a:r>
            <a:endParaRPr lang="en-US" sz="95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950" b="1" spc="300" kern="0" dirty="0">
                <a:solidFill>
                  <a:srgbClr val="93AC93"/>
                </a:solidFill>
                <a:latin typeface="游ゴシック" pitchFamily="34" charset="0"/>
                <a:ea typeface="游ゴシック" pitchFamily="34" charset="-122"/>
                <a:cs typeface="游ゴシック" pitchFamily="34" charset="-120"/>
              </a:rPr>
              <a:t>私が現場で見ていること</a:t>
            </a:r>
            <a:endParaRPr lang="en-US" sz="95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約600万人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精神疾患を持つ患者数。国は2024年、厚生労働白書で初めて「こころの健康」をテーマに据えました。</a:t>
            </a:r>
            <a:endParaRPr lang="en-US" sz="105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のべ20,000人を診てきて、心の不調を主訴に来られる方が明らかに増えました。</a:t>
            </a:r>
            <a:endParaRPr lang="en-US" sz="105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2028年4月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50人未満の事業場にもストレスチェックが義務化。現在の実施率は6割弱です。</a:t>
            </a:r>
            <a:endParaRPr lang="en-US" sz="105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気づいても、次に行く場所がない。精神科は予約が埋まり、新規の受付を止める医療機関が出ています。</a:t>
            </a:r>
            <a:endParaRPr lang="en-US" sz="105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500" b="1" dirty="0">
                <a:solidFill>
                  <a:srgbClr val="C97B68"/>
                </a:solidFill>
                <a:latin typeface="游明朝" pitchFamily="34" charset="0"/>
                <a:ea typeface="游明朝" pitchFamily="34" charset="-122"/>
                <a:cs typeface="游明朝" pitchFamily="34" charset="-120"/>
              </a:rPr>
              <a:t>年7.6兆円　</a:t>
            </a:r>
            <a:pPr indent="0" marL="0">
              <a:lnSpc>
                <a:spcPts val="1800"/>
              </a:lnSpc>
              <a:buNone/>
            </a:pPr>
            <a:r>
              <a:rPr lang="en-US" sz="1050" dirty="0">
                <a:solidFill>
                  <a:srgbClr val="F3ECE0"/>
                </a:solidFill>
                <a:latin typeface="游ゴシック" pitchFamily="34" charset="0"/>
                <a:ea typeface="游ゴシック" pitchFamily="34" charset="-122"/>
                <a:cs typeface="游ゴシック" pitchFamily="34" charset="-120"/>
              </a:rPr>
              <a:t>メンタル不調による経済損失。うち7.3兆円は「出勤しているのに力が出ない」分です。</a:t>
            </a:r>
            <a:endParaRPr lang="en-US" sz="105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050" dirty="0">
                <a:solidFill>
                  <a:srgbClr val="BDB2A2"/>
                </a:solidFill>
                <a:latin typeface="游ゴシック" pitchFamily="34" charset="0"/>
                <a:ea typeface="游ゴシック" pitchFamily="34" charset="-122"/>
                <a:cs typeface="游ゴシック" pitchFamily="34" charset="-120"/>
              </a:rPr>
              <a:t>休職や通院の手前で止まっている方が、いちばん多い。この層は、いま誰の担当でもありません。</a:t>
            </a:r>
            <a:endParaRPr lang="en-US" sz="105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300" b="1" dirty="0">
                <a:solidFill>
                  <a:srgbClr val="C97B68"/>
                </a:solidFill>
                <a:latin typeface="游明朝" pitchFamily="34" charset="0"/>
                <a:ea typeface="游明朝" pitchFamily="34" charset="-122"/>
                <a:cs typeface="游明朝" pitchFamily="34" charset="-120"/>
              </a:rPr>
              <a:t>だから、未病の段階で止めておきたい。</a:t>
            </a:r>
            <a:endParaRPr lang="en-US" sz="2300" dirty="0"/>
          </a:p>
        </p:txBody>
      </p:sp>
      <p:sp>
        <p:nvSpPr>
          <p:cNvPr id="20" name="Text 18"/>
          <p:cNvSpPr txBox="1"/>
          <p:nvPr/>
        </p:nvSpPr>
        <p:spPr>
          <a:xfrm>
            <a:off x="685800" y="589788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BDB2A2"/>
                </a:solidFill>
                <a:latin typeface="游ゴシック" pitchFamily="34" charset="0"/>
                <a:ea typeface="游ゴシック" pitchFamily="34" charset="-122"/>
                <a:cs typeface="游ゴシック" pitchFamily="34" charset="-120"/>
              </a:rPr>
              <a:t>出典：厚生労働省 患者調査／令和6年版 厚生労働白書／改正労働安全衛生法（2025年5月公布・2028年4月施行）／メンタルヘルス不調による経済損失の試算（労働者27,507人調査）</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1:30 → 2:20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04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CASE</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睡眠製品のブレインスリープ社は、</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睡眠専門の鍼灸マッサージ「コンディショニングスタジオ」</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を自社ブランドで運営。枕の売り場ではなく、独立した鍼灸院です。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二子玉川・南青山・</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有楽町マルイ</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・東京ミッドタウン八重洲の</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4店舗</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。商業施設側である丸井グループも、自らプレスリリースを出しています。</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オープン以来</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累計1万人以上</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が利用。自社研究では、1度の施術で眠りの深さが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35%</a:t>
            </a:r>
            <a:pPr indent="0" marL="0">
              <a:lnSpc>
                <a:spcPts val="1900"/>
              </a:lnSpc>
              <a:buNone/>
            </a:pPr>
            <a:r>
              <a:rPr lang="en-US" sz="1050" dirty="0">
                <a:solidFill>
                  <a:srgbClr val="5A5249"/>
                </a:solidFill>
                <a:latin typeface="游ゴシック" pitchFamily="34" charset="0"/>
                <a:ea typeface="游ゴシック" pitchFamily="34" charset="-122"/>
                <a:cs typeface="游ゴシック" pitchFamily="34" charset="-120"/>
              </a:rPr>
              <a:t>、疲労回復度が</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59%</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向上したと公表。</a:t>
            </a:r>
            <a:endParaRPr lang="en-US" sz="1050" dirty="0"/>
          </a:p>
          <a:p>
            <a:pPr marL="342900" indent="-342900">
              <a:lnSpc>
                <a:spcPts val="1900"/>
              </a:lnSpc>
              <a:buSzPct val="100000"/>
              <a:buChar char="•"/>
            </a:pPr>
            <a:r>
              <a:rPr lang="en-US" sz="1050" dirty="0">
                <a:solidFill>
                  <a:srgbClr val="5A5249"/>
                </a:solidFill>
                <a:latin typeface="游ゴシック" pitchFamily="34" charset="0"/>
                <a:ea typeface="游ゴシック" pitchFamily="34" charset="-122"/>
                <a:cs typeface="游ゴシック" pitchFamily="34" charset="-120"/>
              </a:rPr>
              <a:t>スタッフは全員が国家資格保有者で、自社資格「スリーププランナー」を取得。</a:t>
            </a:r>
            <a:pPr indent="0" marL="0">
              <a:lnSpc>
                <a:spcPts val="1900"/>
              </a:lnSpc>
              <a:buNone/>
            </a:pPr>
            <a:r>
              <a:rPr lang="en-US" sz="1050" b="1" dirty="0">
                <a:solidFill>
                  <a:srgbClr val="2B2620"/>
                </a:solidFill>
                <a:latin typeface="游ゴシック" pitchFamily="34" charset="0"/>
                <a:ea typeface="游ゴシック" pitchFamily="34" charset="-122"/>
                <a:cs typeface="游ゴシック" pitchFamily="34" charset="-120"/>
              </a:rPr>
              <a:t>定額プラン</a:t>
            </a:r>
            <a:pPr indent="0" marL="0">
              <a:lnSpc>
                <a:spcPts val="1900"/>
              </a:lnSpc>
              <a:spcAft>
                <a:spcPts val="1000"/>
              </a:spcAft>
              <a:buNone/>
            </a:pPr>
            <a:r>
              <a:rPr lang="en-US" sz="1050" dirty="0">
                <a:solidFill>
                  <a:srgbClr val="5A5249"/>
                </a:solidFill>
                <a:latin typeface="游ゴシック" pitchFamily="34" charset="0"/>
                <a:ea typeface="游ゴシック" pitchFamily="34" charset="-122"/>
                <a:cs typeface="游ゴシック" pitchFamily="34" charset="-120"/>
              </a:rPr>
              <a:t>で、継続して通う前提が設計されています。</a:t>
            </a:r>
            <a:endParaRPr lang="en-US" sz="105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ここから私が受け取ったこと</a:t>
            </a:r>
            <a:endParaRPr lang="en-US" sz="9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製品を売って終わりにせず、施術という接点で人と関わり続ける。効果を数字で示し、資格者を自社で育て、定額で通ってもらう。このあとお話しする私の事業も、同じ構造です。</a:t>
            </a:r>
            <a:endParaRPr lang="en-US" sz="1100" dirty="0"/>
          </a:p>
          <a:p>
            <a:pPr indent="0" marL="0">
              <a:lnSpc>
                <a:spcPts val="1900"/>
              </a:lnSpc>
              <a:buNone/>
            </a:pPr>
            <a:endParaRPr lang="en-US" sz="1100" dirty="0"/>
          </a:p>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違いは入口です。</a:t>
            </a:r>
            <a:endParaRPr lang="en-US" sz="1100" dirty="0"/>
          </a:p>
          <a:p>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あの会社は「睡眠」から入った。私は「こころ」から入ります。</a:t>
            </a:r>
            <a:endParaRPr lang="en-US" sz="1100" dirty="0"/>
          </a:p>
        </p:txBody>
      </p:sp>
      <p:sp>
        <p:nvSpPr>
          <p:cNvPr id="9" name="Text 7"/>
          <p:cNvSpPr txBox="1"/>
          <p:nvPr/>
        </p:nvSpPr>
        <p:spPr>
          <a:xfrm>
            <a:off x="685800" y="5852160"/>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出典：株式会社丸井グループ プレスリリース（2024.11.15）／株式会社ブレインスリープ プレスリリース／ブレインスリープ コンディショニングスタジオ 公式サイト</a:t>
            </a:r>
            <a:endParaRPr lang="en-US" sz="7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2:20 → 2:55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05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ACTION</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1900"/>
              </a:lnSpc>
              <a:buSzPct val="100000"/>
              <a:buChar char="•"/>
            </a:pPr>
            <a:r>
              <a:rPr lang="en-US" sz="1100" b="1" dirty="0">
                <a:solidFill>
                  <a:srgbClr val="2B2620"/>
                </a:solidFill>
                <a:latin typeface="游ゴシック" pitchFamily="34" charset="0"/>
                <a:ea typeface="游ゴシック" pitchFamily="34" charset="-122"/>
                <a:cs typeface="游ゴシック" pitchFamily="34" charset="-120"/>
              </a:rPr>
              <a:t>ねここち</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／頭オフ事業。考えごとで止まらない頭を、強制的にオフにする時間を売ります。いま立ち上げを準備しています。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扱うのは睡眠そのものではなく、</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思考が止まらない状態</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です。眠れないの手前にある、頭が休まらない時間に手を入れます。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施術は</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鍼灸師の国家資格を持つ人</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が行います。医療の知識を持つ人が、治療の手前にいる層に関わる形です。</a:t>
            </a:r>
            <a:endParaRPr lang="en-US" sz="1100" dirty="0"/>
          </a:p>
          <a:p>
            <a:pPr marL="342900" indent="-342900">
              <a:lnSpc>
                <a:spcPts val="1900"/>
              </a:lnSpc>
              <a:buSzPct val="100000"/>
              <a:buChar char="•"/>
            </a:pPr>
            <a:r>
              <a:rPr lang="en-US" sz="1100" dirty="0">
                <a:solidFill>
                  <a:srgbClr val="5A5249"/>
                </a:solidFill>
                <a:latin typeface="游ゴシック" pitchFamily="34" charset="0"/>
                <a:ea typeface="游ゴシック" pitchFamily="34" charset="-122"/>
                <a:cs typeface="游ゴシック" pitchFamily="34" charset="-120"/>
              </a:rPr>
              <a:t>「治療」と身構えずに入れる入口をつくり、</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必要な人だけを鍼灸や医療につなぐ</a:t>
            </a:r>
            <a:pPr indent="0" marL="0">
              <a:lnSpc>
                <a:spcPts val="1900"/>
              </a:lnSpc>
              <a:spcAft>
                <a:spcPts val="1000"/>
              </a:spcAft>
              <a:buNone/>
            </a:pPr>
            <a:r>
              <a:rPr lang="en-US" sz="1100" dirty="0">
                <a:solidFill>
                  <a:srgbClr val="5A5249"/>
                </a:solidFill>
                <a:latin typeface="游ゴシック" pitchFamily="34" charset="0"/>
                <a:ea typeface="游ゴシック" pitchFamily="34" charset="-122"/>
                <a:cs typeface="游ゴシック" pitchFamily="34" charset="-120"/>
              </a:rPr>
              <a:t>。未病の層に、継続的に関わり続けるための事業です。</a:t>
            </a:r>
            <a:endParaRPr lang="en-US" sz="11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950" b="1" spc="300" kern="0" dirty="0">
                <a:solidFill>
                  <a:srgbClr val="9C5446"/>
                </a:solidFill>
                <a:latin typeface="游ゴシック" pitchFamily="34" charset="0"/>
                <a:ea typeface="游ゴシック" pitchFamily="34" charset="-122"/>
                <a:cs typeface="游ゴシック" pitchFamily="34" charset="-120"/>
              </a:rPr>
              <a:t>1店舗あたり</a:t>
            </a:r>
            <a:endParaRPr lang="en-US" sz="95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400" b="1" dirty="0">
                <a:solidFill>
                  <a:srgbClr val="2B2620"/>
                </a:solidFill>
                <a:latin typeface="游明朝" pitchFamily="34" charset="0"/>
                <a:ea typeface="游明朝" pitchFamily="34" charset="-122"/>
                <a:cs typeface="游明朝" pitchFamily="34" charset="-120"/>
              </a:rPr>
              <a:t>月次利益 30</a:t>
            </a:r>
            <a:pPr algn="ctr" indent="0" marL="0">
              <a:buNone/>
            </a:pPr>
            <a:r>
              <a:rPr lang="en-US" sz="1700" b="1" dirty="0">
                <a:solidFill>
                  <a:srgbClr val="2B2620"/>
                </a:solidFill>
                <a:latin typeface="游明朝" pitchFamily="34" charset="0"/>
                <a:ea typeface="游明朝" pitchFamily="34" charset="-122"/>
                <a:cs typeface="游明朝" pitchFamily="34" charset="-120"/>
              </a:rPr>
              <a:t>万円</a:t>
            </a:r>
            <a:endParaRPr lang="en-US" sz="34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950" dirty="0">
                <a:solidFill>
                  <a:srgbClr val="5A5249"/>
                </a:solidFill>
                <a:latin typeface="游ゴシック" pitchFamily="34" charset="0"/>
                <a:ea typeface="游ゴシック" pitchFamily="34" charset="-122"/>
                <a:cs typeface="游ゴシック" pitchFamily="34" charset="-120"/>
              </a:rPr>
              <a:t>想定値。多店舗展開を前提に設計しています。</a:t>
            </a:r>
            <a:endParaRPr lang="en-US" sz="95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2:55 → 3:30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06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STRENGTH</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企業の新規事業に、専門家として入ってきました</a:t>
            </a:r>
            <a:endParaRPr lang="en-US" sz="2800" dirty="0"/>
          </a:p>
        </p:txBody>
      </p:sp>
      <p:sp>
        <p:nvSpPr>
          <p:cNvPr id="5" name="Shape 3"/>
          <p:cNvSpPr/>
          <p:nvPr/>
        </p:nvSpPr>
        <p:spPr>
          <a:xfrm>
            <a:off x="685800" y="1737360"/>
            <a:ext cx="3456432" cy="2423160"/>
          </a:xfrm>
          <a:prstGeom prst="roundRect">
            <a:avLst>
              <a:gd name="adj" fmla="val 1887"/>
            </a:avLst>
          </a:prstGeom>
          <a:solidFill>
            <a:srgbClr val="FBF6EC"/>
          </a:solidFill>
          <a:ln w="9525">
            <a:solidFill>
              <a:srgbClr val="D2C4AE"/>
            </a:solidFill>
            <a:prstDash val="solid"/>
          </a:ln>
        </p:spPr>
      </p:sp>
      <p:sp>
        <p:nvSpPr>
          <p:cNvPr id="6" name="Text 4"/>
          <p:cNvSpPr txBox="1"/>
          <p:nvPr/>
        </p:nvSpPr>
        <p:spPr>
          <a:xfrm>
            <a:off x="941832"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パパゲーノ</a:t>
            </a:r>
            <a:endParaRPr lang="en-US" sz="900" dirty="0"/>
          </a:p>
        </p:txBody>
      </p:sp>
      <p:sp>
        <p:nvSpPr>
          <p:cNvPr id="7" name="Text 5"/>
          <p:cNvSpPr txBox="1"/>
          <p:nvPr/>
        </p:nvSpPr>
        <p:spPr>
          <a:xfrm>
            <a:off x="941832"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アンバサダー認定 第一号</a:t>
            </a:r>
            <a:endParaRPr lang="en-US" sz="1500" dirty="0"/>
          </a:p>
        </p:txBody>
      </p:sp>
      <p:sp>
        <p:nvSpPr>
          <p:cNvPr id="8" name="Text 6"/>
          <p:cNvSpPr txBox="1"/>
          <p:nvPr/>
        </p:nvSpPr>
        <p:spPr>
          <a:xfrm>
            <a:off x="941832"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就労継続支援B型「パパゲーノ Work &amp; Recovery」への発注を通じ、精神障害のある方が担う事業に伴走。認定制度の第一号企業です。</a:t>
            </a:r>
            <a:endParaRPr lang="en-US" sz="1050" dirty="0"/>
          </a:p>
        </p:txBody>
      </p:sp>
      <p:sp>
        <p:nvSpPr>
          <p:cNvPr id="9" name="Shape 7"/>
          <p:cNvSpPr/>
          <p:nvPr/>
        </p:nvSpPr>
        <p:spPr>
          <a:xfrm>
            <a:off x="4370832" y="1737360"/>
            <a:ext cx="3456432" cy="2423160"/>
          </a:xfrm>
          <a:prstGeom prst="roundRect">
            <a:avLst>
              <a:gd name="adj" fmla="val 1887"/>
            </a:avLst>
          </a:prstGeom>
          <a:solidFill>
            <a:srgbClr val="FBF6EC"/>
          </a:solidFill>
          <a:ln w="9525">
            <a:solidFill>
              <a:srgbClr val="D2C4AE"/>
            </a:solidFill>
            <a:prstDash val="solid"/>
          </a:ln>
        </p:spPr>
      </p:sp>
      <p:sp>
        <p:nvSpPr>
          <p:cNvPr id="10" name="Text 8"/>
          <p:cNvSpPr txBox="1"/>
          <p:nvPr/>
        </p:nvSpPr>
        <p:spPr>
          <a:xfrm>
            <a:off x="4626864"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ファンコミュニケーションズ</a:t>
            </a:r>
            <a:endParaRPr lang="en-US" sz="900" dirty="0"/>
          </a:p>
        </p:txBody>
      </p:sp>
      <p:sp>
        <p:nvSpPr>
          <p:cNvPr id="11" name="Text 9"/>
          <p:cNvSpPr txBox="1"/>
          <p:nvPr/>
        </p:nvSpPr>
        <p:spPr>
          <a:xfrm>
            <a:off x="4626864"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ThirdTalk（サードトーク）</a:t>
            </a:r>
            <a:endParaRPr lang="en-US" sz="1500" dirty="0"/>
          </a:p>
        </p:txBody>
      </p:sp>
      <p:sp>
        <p:nvSpPr>
          <p:cNvPr id="12" name="Text 10"/>
          <p:cNvSpPr txBox="1"/>
          <p:nvPr/>
        </p:nvSpPr>
        <p:spPr>
          <a:xfrm>
            <a:off x="4626864"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「病院やカウンセリングに行く、その一歩手前」を想定したオンライン対話サービス。企画段階からご相談をいただき、立ち上げを見守ってきました。</a:t>
            </a:r>
            <a:endParaRPr lang="en-US" sz="1050" dirty="0"/>
          </a:p>
        </p:txBody>
      </p:sp>
      <p:sp>
        <p:nvSpPr>
          <p:cNvPr id="13" name="Shape 11"/>
          <p:cNvSpPr/>
          <p:nvPr/>
        </p:nvSpPr>
        <p:spPr>
          <a:xfrm>
            <a:off x="8055864" y="1737360"/>
            <a:ext cx="3456432" cy="2423160"/>
          </a:xfrm>
          <a:prstGeom prst="roundRect">
            <a:avLst>
              <a:gd name="adj" fmla="val 1887"/>
            </a:avLst>
          </a:prstGeom>
          <a:solidFill>
            <a:srgbClr val="FBF6EC"/>
          </a:solidFill>
          <a:ln w="9525">
            <a:solidFill>
              <a:srgbClr val="D2C4AE"/>
            </a:solidFill>
            <a:prstDash val="solid"/>
          </a:ln>
        </p:spPr>
      </p:sp>
      <p:sp>
        <p:nvSpPr>
          <p:cNvPr id="14" name="Text 12"/>
          <p:cNvSpPr txBox="1"/>
          <p:nvPr/>
        </p:nvSpPr>
        <p:spPr>
          <a:xfrm>
            <a:off x="8311896" y="1938528"/>
            <a:ext cx="2944368"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stand up</a:t>
            </a:r>
            <a:endParaRPr lang="en-US" sz="900" dirty="0"/>
          </a:p>
        </p:txBody>
      </p:sp>
      <p:sp>
        <p:nvSpPr>
          <p:cNvPr id="15" name="Text 13"/>
          <p:cNvSpPr txBox="1"/>
          <p:nvPr/>
        </p:nvSpPr>
        <p:spPr>
          <a:xfrm>
            <a:off x="8311896" y="2212848"/>
            <a:ext cx="2944368" cy="457200"/>
          </a:xfrm>
          <a:prstGeom prst="rect">
            <a:avLst/>
          </a:prstGeom>
          <a:noFill/>
          <a:ln/>
        </p:spPr>
        <p:txBody>
          <a:bodyPr wrap="square" lIns="0" tIns="0" rIns="0" bIns="0" rtlCol="0" anchor="t"/>
          <a:lstStyle/>
          <a:p>
            <a:pPr indent="0" marL="0">
              <a:lnSpc>
                <a:spcPts val="2100"/>
              </a:lnSpc>
              <a:buNone/>
            </a:pPr>
            <a:r>
              <a:rPr lang="en-US" sz="1500" b="1" dirty="0">
                <a:solidFill>
                  <a:srgbClr val="2B2620"/>
                </a:solidFill>
                <a:latin typeface="游明朝" pitchFamily="34" charset="0"/>
                <a:ea typeface="游明朝" pitchFamily="34" charset="-122"/>
                <a:cs typeface="游明朝" pitchFamily="34" charset="-120"/>
              </a:rPr>
              <a:t>アミューズメント事業</a:t>
            </a:r>
            <a:endParaRPr lang="en-US" sz="1500" dirty="0"/>
          </a:p>
        </p:txBody>
      </p:sp>
      <p:sp>
        <p:nvSpPr>
          <p:cNvPr id="16" name="Text 14"/>
          <p:cNvSpPr txBox="1"/>
          <p:nvPr/>
        </p:nvSpPr>
        <p:spPr>
          <a:xfrm>
            <a:off x="8311896" y="2724912"/>
            <a:ext cx="2944368" cy="1234440"/>
          </a:xfrm>
          <a:prstGeom prst="rect">
            <a:avLst/>
          </a:prstGeom>
          <a:noFill/>
          <a:ln/>
        </p:spPr>
        <p:txBody>
          <a:bodyPr wrap="square" lIns="0" tIns="0" rIns="0" bIns="0" rtlCol="0" anchor="t"/>
          <a:lstStyle/>
          <a:p>
            <a:pPr indent="0" marL="0">
              <a:lnSpc>
                <a:spcPts val="1700"/>
              </a:lnSpc>
              <a:buNone/>
            </a:pPr>
            <a:r>
              <a:rPr lang="en-US" sz="1050" dirty="0">
                <a:solidFill>
                  <a:srgbClr val="5A5249"/>
                </a:solidFill>
                <a:latin typeface="游ゴシック" pitchFamily="34" charset="0"/>
                <a:ea typeface="游ゴシック" pitchFamily="34" charset="-122"/>
                <a:cs typeface="游ゴシック" pitchFamily="34" charset="-120"/>
              </a:rPr>
              <a:t>新規事業の立ち上げについてご相談をいただき、現在もお取引が続いています。医療以外の業種でも、人の状態を扱う事業の設計に入ってきました。</a:t>
            </a:r>
            <a:endParaRPr lang="en-US" sz="1050" dirty="0"/>
          </a:p>
        </p:txBody>
      </p:sp>
      <p:sp>
        <p:nvSpPr>
          <p:cNvPr id="17" name="Shape 15"/>
          <p:cNvSpPr/>
          <p:nvPr/>
        </p:nvSpPr>
        <p:spPr>
          <a:xfrm>
            <a:off x="685800" y="4370832"/>
            <a:ext cx="10820095" cy="1371600"/>
          </a:xfrm>
          <a:prstGeom prst="roundRect">
            <a:avLst>
              <a:gd name="adj" fmla="val 3333"/>
            </a:avLst>
          </a:prstGeom>
          <a:solidFill>
            <a:srgbClr val="FBF6EC"/>
          </a:solidFill>
          <a:ln w="9525">
            <a:solidFill>
              <a:srgbClr val="5E7060"/>
            </a:solidFill>
            <a:prstDash val="solid"/>
          </a:ln>
        </p:spPr>
      </p:sp>
      <p:sp>
        <p:nvSpPr>
          <p:cNvPr id="18" name="Text 16"/>
          <p:cNvSpPr txBox="1"/>
          <p:nvPr/>
        </p:nvSpPr>
        <p:spPr>
          <a:xfrm>
            <a:off x="960120" y="4572000"/>
            <a:ext cx="10271455" cy="237744"/>
          </a:xfrm>
          <a:prstGeom prst="rect">
            <a:avLst/>
          </a:prstGeom>
          <a:noFill/>
          <a:ln/>
        </p:spPr>
        <p:txBody>
          <a:bodyPr wrap="square" lIns="0" tIns="0" rIns="0" bIns="0" rtlCol="0" anchor="ctr"/>
          <a:lstStyle/>
          <a:p>
            <a:pPr indent="0" marL="0">
              <a:buNone/>
            </a:pPr>
            <a:r>
              <a:rPr lang="en-US" sz="900" b="1" spc="200" kern="0" dirty="0">
                <a:solidFill>
                  <a:srgbClr val="5E7060"/>
                </a:solidFill>
                <a:latin typeface="游ゴシック" pitchFamily="34" charset="0"/>
                <a:ea typeface="游ゴシック" pitchFamily="34" charset="-122"/>
                <a:cs typeface="游ゴシック" pitchFamily="34" charset="-120"/>
              </a:rPr>
              <a:t>共通してやってきたこと</a:t>
            </a:r>
            <a:endParaRPr lang="en-US" sz="900" dirty="0"/>
          </a:p>
        </p:txBody>
      </p:sp>
      <p:sp>
        <p:nvSpPr>
          <p:cNvPr id="19" name="Text 17"/>
          <p:cNvSpPr txBox="1"/>
          <p:nvPr/>
        </p:nvSpPr>
        <p:spPr>
          <a:xfrm>
            <a:off x="960120" y="4882896"/>
            <a:ext cx="10271455" cy="64008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心の不調を抱えた人が、実際にどこで止まり、どこで動くのか。その一次情報を事業の言葉に翻訳するのが私の役割です。なかでもThirdTalkは、このあとお話しする</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「病院の一歩手前」という発想を、そのまま事業にしたもの</a:t>
            </a:r>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でした。</a:t>
            </a:r>
            <a:endParaRPr lang="en-US" sz="1100" dirty="0"/>
          </a:p>
        </p:txBody>
      </p:sp>
      <p:sp>
        <p:nvSpPr>
          <p:cNvPr id="20" name="Text 18"/>
          <p:cNvSpPr txBox="1"/>
          <p:nvPr/>
        </p:nvSpPr>
        <p:spPr>
          <a:xfrm>
            <a:off x="685800" y="5870448"/>
            <a:ext cx="10820095" cy="329184"/>
          </a:xfrm>
          <a:prstGeom prst="rect">
            <a:avLst/>
          </a:prstGeom>
          <a:noFill/>
          <a:ln/>
        </p:spPr>
        <p:txBody>
          <a:bodyPr wrap="square" lIns="0" tIns="0" rIns="0" bIns="0" rtlCol="0" anchor="t"/>
          <a:lstStyle/>
          <a:p>
            <a:pPr indent="0" marL="0">
              <a:lnSpc>
                <a:spcPts val="1100"/>
              </a:lnSpc>
              <a:buNone/>
            </a:pPr>
            <a:r>
              <a:rPr lang="en-US" sz="750" dirty="0">
                <a:solidFill>
                  <a:srgbClr val="8B8175"/>
                </a:solidFill>
                <a:latin typeface="游ゴシック" pitchFamily="34" charset="0"/>
                <a:ea typeface="游ゴシック" pitchFamily="34" charset="-122"/>
                <a:cs typeface="游ゴシック" pitchFamily="34" charset="-120"/>
              </a:rPr>
              <a:t>出典：株式会社ファンコミュニケーションズ ニュースリリース（2022.8.26）／株式会社パパゲーノ プレスリリース</a:t>
            </a:r>
            <a:endParaRPr lang="en-US" sz="75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3:30 → 4:10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C97B68"/>
                </a:solidFill>
                <a:latin typeface="游明朝" pitchFamily="34" charset="0"/>
                <a:ea typeface="游明朝" pitchFamily="34" charset="-122"/>
                <a:cs typeface="游明朝" pitchFamily="34" charset="-120"/>
              </a:rPr>
              <a:t>07   </a:t>
            </a:r>
            <a:pPr indent="0" marL="0">
              <a:buNone/>
            </a:pPr>
            <a:r>
              <a:rPr lang="en-US" sz="1000" spc="300" kern="0" dirty="0">
                <a:solidFill>
                  <a:srgbClr val="BDB2A2"/>
                </a:solidFill>
                <a:latin typeface="游ゴシック" pitchFamily="34" charset="0"/>
                <a:ea typeface="游ゴシック" pitchFamily="34" charset="-122"/>
                <a:cs typeface="游ゴシック" pitchFamily="34" charset="-120"/>
              </a:rPr>
              <a:t>MY LIMIT</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游明朝" pitchFamily="34" charset="0"/>
                <a:ea typeface="游明朝" pitchFamily="34" charset="-122"/>
                <a:cs typeface="游明朝"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01</a:t>
            </a:r>
            <a:endParaRPr lang="en-US" sz="14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臨床も、育成も、研究も、いまは私に紐づいている（属人）</a:t>
            </a:r>
            <a:endParaRPr lang="en-US" sz="115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02</a:t>
            </a:r>
            <a:endParaRPr lang="en-US" sz="14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店舗は増やせても、施術者と運営を担える人は増やせていない</a:t>
            </a:r>
            <a:endParaRPr lang="en-US" sz="115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400" b="1" dirty="0">
                <a:solidFill>
                  <a:srgbClr val="C97B68"/>
                </a:solidFill>
                <a:latin typeface="游明朝" pitchFamily="34" charset="0"/>
                <a:ea typeface="游明朝" pitchFamily="34" charset="-122"/>
                <a:cs typeface="游明朝" pitchFamily="34" charset="-120"/>
              </a:rPr>
              <a:t>03</a:t>
            </a:r>
            <a:endParaRPr lang="en-US" sz="14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150" dirty="0">
                <a:solidFill>
                  <a:srgbClr val="F3ECE0"/>
                </a:solidFill>
                <a:latin typeface="游ゴシック" pitchFamily="34" charset="0"/>
                <a:ea typeface="游ゴシック" pitchFamily="34" charset="-122"/>
                <a:cs typeface="游ゴシック" pitchFamily="34" charset="-120"/>
              </a:rPr>
              <a:t>課題の大きさに対して、届けられる人数が圧倒的に足りない</a:t>
            </a:r>
            <a:endParaRPr lang="en-US" sz="115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仕組みと、人と、</a:t>
            </a:r>
            <a:endParaRPr lang="en-US" sz="2600" dirty="0"/>
          </a:p>
          <a:p>
            <a:pPr indent="0" marL="0">
              <a:lnSpc>
                <a:spcPts val="4200"/>
              </a:lnSpc>
              <a:buNone/>
            </a:pPr>
            <a:r>
              <a:rPr lang="en-US" sz="2600" b="1" dirty="0">
                <a:solidFill>
                  <a:srgbClr val="F3ECE0"/>
                </a:solidFill>
                <a:latin typeface="游明朝" pitchFamily="34" charset="0"/>
                <a:ea typeface="游明朝" pitchFamily="34" charset="-122"/>
                <a:cs typeface="游明朝"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100" dirty="0">
                <a:solidFill>
                  <a:srgbClr val="BDB2A2"/>
                </a:solidFill>
                <a:latin typeface="游ゴシック" pitchFamily="34" charset="0"/>
                <a:ea typeface="游ゴシック" pitchFamily="34" charset="-122"/>
                <a:cs typeface="游ゴシック" pitchFamily="34" charset="-120"/>
              </a:rPr>
              <a:t>ここは私が最も苦手としてきた領域であり、御社が最も強い領域だと考えています。</a:t>
            </a:r>
            <a:endParaRPr lang="en-US" sz="11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BDB2A2"/>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BDB2A2"/>
                </a:solidFill>
                <a:latin typeface="游ゴシック" pitchFamily="34" charset="0"/>
                <a:ea typeface="游ゴシック" pitchFamily="34" charset="-122"/>
                <a:cs typeface="游ゴシック" pitchFamily="34" charset="-120"/>
              </a:rPr>
              <a:t>4:10 → 4:30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b="1" spc="200" kern="0" dirty="0">
                <a:solidFill>
                  <a:srgbClr val="9C5446"/>
                </a:solidFill>
                <a:latin typeface="游明朝" pitchFamily="34" charset="0"/>
                <a:ea typeface="游明朝" pitchFamily="34" charset="-122"/>
                <a:cs typeface="游明朝" pitchFamily="34" charset="-120"/>
              </a:rPr>
              <a:t>08   </a:t>
            </a:r>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ASK</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01</a:t>
            </a:r>
            <a:endParaRPr lang="en-US" sz="16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未病領域の新規事業を、共同で検討させてください</a:t>
            </a:r>
            <a:endParaRPr lang="en-US" sz="14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東洋医学 × 御社の事業アセット。入口となるサービス設計から、実証までを一緒に。</a:t>
            </a:r>
            <a:endParaRPr lang="en-US" sz="105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02</a:t>
            </a:r>
            <a:endParaRPr lang="en-US" sz="16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人と組織の知見をお借りしたい</a:t>
            </a:r>
            <a:endParaRPr lang="en-US" sz="14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施術者の採用・育成・配置。属人から仕組みへ移すために、御社の人材領域の知見が必要です。</a:t>
            </a:r>
            <a:endParaRPr lang="en-US" sz="105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600" b="1" dirty="0">
                <a:solidFill>
                  <a:srgbClr val="9C5446"/>
                </a:solidFill>
                <a:latin typeface="游明朝" pitchFamily="34" charset="0"/>
                <a:ea typeface="游明朝" pitchFamily="34" charset="-122"/>
                <a:cs typeface="游明朝" pitchFamily="34" charset="-120"/>
              </a:rPr>
              <a:t>03</a:t>
            </a:r>
            <a:endParaRPr lang="en-US" sz="16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400" b="1" dirty="0">
                <a:solidFill>
                  <a:srgbClr val="2B2620"/>
                </a:solidFill>
                <a:latin typeface="游明朝" pitchFamily="34" charset="0"/>
                <a:ea typeface="游明朝" pitchFamily="34" charset="-122"/>
                <a:cs typeface="游明朝" pitchFamily="34" charset="-120"/>
              </a:rPr>
              <a:t>実証の場をご一緒したい</a:t>
            </a:r>
            <a:endParaRPr lang="en-US" sz="14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050" dirty="0">
                <a:solidFill>
                  <a:srgbClr val="5A5249"/>
                </a:solidFill>
                <a:latin typeface="游ゴシック" pitchFamily="34" charset="0"/>
                <a:ea typeface="游ゴシック" pitchFamily="34" charset="-122"/>
                <a:cs typeface="游ゴシック" pitchFamily="34" charset="-120"/>
              </a:rPr>
              <a:t>法人向けの健康支援など、未病層に届く場での実証。効果は学会発表の形で残し、根拠として積み上げます。</a:t>
            </a:r>
            <a:endParaRPr lang="en-US" sz="1050" dirty="0"/>
          </a:p>
        </p:txBody>
      </p:sp>
      <p:sp>
        <p:nvSpPr>
          <p:cNvPr id="16" name="Shape 14"/>
          <p:cNvSpPr/>
          <p:nvPr/>
        </p:nvSpPr>
        <p:spPr>
          <a:xfrm>
            <a:off x="685800" y="4572000"/>
            <a:ext cx="10820095" cy="1325880"/>
          </a:xfrm>
          <a:prstGeom prst="roundRect">
            <a:avLst>
              <a:gd name="adj" fmla="val 3448"/>
            </a:avLst>
          </a:prstGeom>
          <a:solidFill>
            <a:srgbClr val="FBF6EC"/>
          </a:solidFill>
          <a:ln w="9525">
            <a:solidFill>
              <a:srgbClr val="9C5446"/>
            </a:solidFill>
            <a:prstDash val="solid"/>
          </a:ln>
        </p:spPr>
      </p:sp>
      <p:sp>
        <p:nvSpPr>
          <p:cNvPr id="17" name="Text 15"/>
          <p:cNvSpPr txBox="1"/>
          <p:nvPr/>
        </p:nvSpPr>
        <p:spPr>
          <a:xfrm>
            <a:off x="960120" y="4773168"/>
            <a:ext cx="10271455" cy="237744"/>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本日お願いしたいこと</a:t>
            </a:r>
            <a:endParaRPr lang="en-US" sz="900" dirty="0"/>
          </a:p>
        </p:txBody>
      </p:sp>
      <p:sp>
        <p:nvSpPr>
          <p:cNvPr id="18" name="Text 16"/>
          <p:cNvSpPr txBox="1"/>
          <p:nvPr/>
        </p:nvSpPr>
        <p:spPr>
          <a:xfrm>
            <a:off x="960120" y="5084064"/>
            <a:ext cx="10271455" cy="594360"/>
          </a:xfrm>
          <a:prstGeom prst="rect">
            <a:avLst/>
          </a:prstGeom>
          <a:noFill/>
          <a:ln/>
        </p:spPr>
        <p:txBody>
          <a:bodyPr wrap="square" lIns="0" tIns="0" rIns="0" bIns="0" rtlCol="0" anchor="t"/>
          <a:lstStyle/>
          <a:p>
            <a:pPr indent="0" marL="0">
              <a:lnSpc>
                <a:spcPts val="1900"/>
              </a:lnSpc>
              <a:buNone/>
            </a:pPr>
            <a:r>
              <a:rPr lang="en-US" sz="1100" dirty="0">
                <a:solidFill>
                  <a:srgbClr val="5A5249"/>
                </a:solidFill>
                <a:latin typeface="游ゴシック" pitchFamily="34" charset="0"/>
                <a:ea typeface="游ゴシック" pitchFamily="34" charset="-122"/>
                <a:cs typeface="游ゴシック" pitchFamily="34" charset="-120"/>
              </a:rPr>
              <a:t>生きづらさを抱えた人を、治療が必要になる手前で減らしたい。そのために、鍼灸の外側にある方法も含めて手を尽くします。</a:t>
            </a:r>
            <a:pPr indent="0" marL="0">
              <a:lnSpc>
                <a:spcPts val="1900"/>
              </a:lnSpc>
              <a:buNone/>
            </a:pPr>
            <a:r>
              <a:rPr lang="en-US" sz="1100" b="1" dirty="0">
                <a:solidFill>
                  <a:srgbClr val="2B2620"/>
                </a:solidFill>
                <a:latin typeface="游ゴシック" pitchFamily="34" charset="0"/>
                <a:ea typeface="游ゴシック" pitchFamily="34" charset="-122"/>
                <a:cs typeface="游ゴシック" pitchFamily="34" charset="-120"/>
              </a:rPr>
              <a:t>まずは本日、この3つのうちどこに可能性がありそうか、率直なご意見をいただけたら嬉しいです。</a:t>
            </a:r>
            <a:endParaRPr lang="en-US" sz="11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4:35 → 5:00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402336"/>
            <a:ext cx="7315200" cy="310896"/>
          </a:xfrm>
          <a:prstGeom prst="rect">
            <a:avLst/>
          </a:prstGeom>
          <a:noFill/>
          <a:ln/>
        </p:spPr>
        <p:txBody>
          <a:bodyPr wrap="square" lIns="0" tIns="0" rIns="0" bIns="0" rtlCol="0" anchor="ctr"/>
          <a:lstStyle/>
          <a:p>
            <a:pPr indent="0" marL="0">
              <a:buNone/>
            </a:pPr>
            <a:r>
              <a:rPr lang="en-US" sz="1000" spc="300" kern="0" dirty="0">
                <a:solidFill>
                  <a:srgbClr val="8B8175"/>
                </a:solidFill>
                <a:latin typeface="游ゴシック" pitchFamily="34" charset="0"/>
                <a:ea typeface="游ゴシック" pitchFamily="34" charset="-122"/>
                <a:cs typeface="游ゴシック" pitchFamily="34" charset="-120"/>
              </a:rPr>
              <a:t>APPENDIX ／ 参考</a:t>
            </a:r>
            <a:endParaRPr lang="en-US" sz="1000" dirty="0"/>
          </a:p>
        </p:txBody>
      </p:sp>
      <p:sp>
        <p:nvSpPr>
          <p:cNvPr id="4" name="Text 2"/>
          <p:cNvSpPr txBox="1"/>
          <p:nvPr/>
        </p:nvSpPr>
        <p:spPr>
          <a:xfrm>
            <a:off x="685800" y="841248"/>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游明朝" pitchFamily="34" charset="0"/>
                <a:ea typeface="游明朝" pitchFamily="34" charset="-122"/>
                <a:cs typeface="游明朝" pitchFamily="34" charset="-120"/>
              </a:rPr>
              <a:t>公開されている実績・共同研究</a:t>
            </a:r>
            <a:endParaRPr lang="en-US" sz="2800" dirty="0"/>
          </a:p>
        </p:txBody>
      </p:sp>
      <p:sp>
        <p:nvSpPr>
          <p:cNvPr id="5" name="Shape 3"/>
          <p:cNvSpPr/>
          <p:nvPr/>
        </p:nvSpPr>
        <p:spPr>
          <a:xfrm>
            <a:off x="685800" y="1673352"/>
            <a:ext cx="10820095" cy="7315"/>
          </a:xfrm>
          <a:prstGeom prst="rect">
            <a:avLst/>
          </a:prstGeom>
          <a:solidFill>
            <a:srgbClr val="D2C4AE"/>
          </a:solidFill>
          <a:ln/>
        </p:spPr>
      </p:sp>
      <p:sp>
        <p:nvSpPr>
          <p:cNvPr id="6" name="Text 4"/>
          <p:cNvSpPr txBox="1"/>
          <p:nvPr/>
        </p:nvSpPr>
        <p:spPr>
          <a:xfrm>
            <a:off x="685800" y="18013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7" name="Text 5"/>
          <p:cNvSpPr txBox="1"/>
          <p:nvPr/>
        </p:nvSpPr>
        <p:spPr>
          <a:xfrm>
            <a:off x="1828800" y="17647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開業鍼灸院でのメンタルヘルスの可能性を検証する共同研究</a:t>
            </a:r>
            <a:endParaRPr lang="en-US" sz="1100" dirty="0"/>
          </a:p>
        </p:txBody>
      </p:sp>
      <p:sp>
        <p:nvSpPr>
          <p:cNvPr id="8" name="Text 6"/>
          <p:cNvSpPr txBox="1"/>
          <p:nvPr/>
        </p:nvSpPr>
        <p:spPr>
          <a:xfrm>
            <a:off x="1828800" y="20574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ここちめいど／東京有明医療大学／理化学研究所／ケアクル　― PR TIMES</a:t>
            </a:r>
            <a:endParaRPr lang="en-US" sz="900" dirty="0"/>
          </a:p>
        </p:txBody>
      </p:sp>
      <p:sp>
        <p:nvSpPr>
          <p:cNvPr id="9" name="Shape 7"/>
          <p:cNvSpPr/>
          <p:nvPr/>
        </p:nvSpPr>
        <p:spPr>
          <a:xfrm>
            <a:off x="685800" y="2404872"/>
            <a:ext cx="10820095" cy="7315"/>
          </a:xfrm>
          <a:prstGeom prst="rect">
            <a:avLst/>
          </a:prstGeom>
          <a:solidFill>
            <a:srgbClr val="D2C4AE"/>
          </a:solidFill>
          <a:ln/>
        </p:spPr>
      </p:sp>
      <p:sp>
        <p:nvSpPr>
          <p:cNvPr id="10" name="Text 8"/>
          <p:cNvSpPr txBox="1"/>
          <p:nvPr/>
        </p:nvSpPr>
        <p:spPr>
          <a:xfrm>
            <a:off x="685800" y="253288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共同研究</a:t>
            </a:r>
            <a:endParaRPr lang="en-US" sz="900" dirty="0"/>
          </a:p>
        </p:txBody>
      </p:sp>
      <p:sp>
        <p:nvSpPr>
          <p:cNvPr id="11" name="Text 9"/>
          <p:cNvSpPr txBox="1"/>
          <p:nvPr/>
        </p:nvSpPr>
        <p:spPr>
          <a:xfrm>
            <a:off x="1828800" y="249631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鍼灸症例データベース構築プロジェクト</a:t>
            </a:r>
            <a:endParaRPr lang="en-US" sz="1100" dirty="0"/>
          </a:p>
        </p:txBody>
      </p:sp>
      <p:sp>
        <p:nvSpPr>
          <p:cNvPr id="12" name="Text 10"/>
          <p:cNvSpPr txBox="1"/>
          <p:nvPr/>
        </p:nvSpPr>
        <p:spPr>
          <a:xfrm>
            <a:off x="1828800" y="278892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ケアクル／東京有明医療大学 松浦悠人／玉川大学 柴田健一／ここちめいど 米倉まな　― PR TIMES（2025.4）</a:t>
            </a:r>
            <a:endParaRPr lang="en-US" sz="900" dirty="0"/>
          </a:p>
        </p:txBody>
      </p:sp>
      <p:sp>
        <p:nvSpPr>
          <p:cNvPr id="13" name="Shape 11"/>
          <p:cNvSpPr/>
          <p:nvPr/>
        </p:nvSpPr>
        <p:spPr>
          <a:xfrm>
            <a:off x="685800" y="3136392"/>
            <a:ext cx="10820095" cy="7315"/>
          </a:xfrm>
          <a:prstGeom prst="rect">
            <a:avLst/>
          </a:prstGeom>
          <a:solidFill>
            <a:srgbClr val="D2C4AE"/>
          </a:solidFill>
          <a:ln/>
        </p:spPr>
      </p:sp>
      <p:sp>
        <p:nvSpPr>
          <p:cNvPr id="14" name="Text 12"/>
          <p:cNvSpPr txBox="1"/>
          <p:nvPr/>
        </p:nvSpPr>
        <p:spPr>
          <a:xfrm>
            <a:off x="685800" y="326440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企業連携</a:t>
            </a:r>
            <a:endParaRPr lang="en-US" sz="900" dirty="0"/>
          </a:p>
        </p:txBody>
      </p:sp>
      <p:sp>
        <p:nvSpPr>
          <p:cNvPr id="15" name="Text 13"/>
          <p:cNvSpPr txBox="1"/>
          <p:nvPr/>
        </p:nvSpPr>
        <p:spPr>
          <a:xfrm>
            <a:off x="1828800" y="322783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オンライン対話サービス「ThirdTalk」特別対談番組に出演</a:t>
            </a:r>
            <a:endParaRPr lang="en-US" sz="1100" dirty="0"/>
          </a:p>
        </p:txBody>
      </p:sp>
      <p:sp>
        <p:nvSpPr>
          <p:cNvPr id="16" name="Text 14"/>
          <p:cNvSpPr txBox="1"/>
          <p:nvPr/>
        </p:nvSpPr>
        <p:spPr>
          <a:xfrm>
            <a:off x="1828800" y="352044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株式会社ファンコミュニケーションズ ニュースリリース（2022.8.26）</a:t>
            </a:r>
            <a:endParaRPr lang="en-US" sz="900" dirty="0"/>
          </a:p>
        </p:txBody>
      </p:sp>
      <p:sp>
        <p:nvSpPr>
          <p:cNvPr id="17" name="Shape 15"/>
          <p:cNvSpPr/>
          <p:nvPr/>
        </p:nvSpPr>
        <p:spPr>
          <a:xfrm>
            <a:off x="685800" y="3867912"/>
            <a:ext cx="10820095" cy="7315"/>
          </a:xfrm>
          <a:prstGeom prst="rect">
            <a:avLst/>
          </a:prstGeom>
          <a:solidFill>
            <a:srgbClr val="D2C4AE"/>
          </a:solidFill>
          <a:ln/>
        </p:spPr>
      </p:sp>
      <p:sp>
        <p:nvSpPr>
          <p:cNvPr id="18" name="Text 16"/>
          <p:cNvSpPr txBox="1"/>
          <p:nvPr/>
        </p:nvSpPr>
        <p:spPr>
          <a:xfrm>
            <a:off x="685800" y="399592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社会貢献</a:t>
            </a:r>
            <a:endParaRPr lang="en-US" sz="900" dirty="0"/>
          </a:p>
        </p:txBody>
      </p:sp>
      <p:sp>
        <p:nvSpPr>
          <p:cNvPr id="19" name="Text 17"/>
          <p:cNvSpPr txBox="1"/>
          <p:nvPr/>
        </p:nvSpPr>
        <p:spPr>
          <a:xfrm>
            <a:off x="1828800" y="395935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パパゲーノ・アンバサダー認定 第一号（合同会社ここちめいど）</a:t>
            </a:r>
            <a:endParaRPr lang="en-US" sz="1100" dirty="0"/>
          </a:p>
        </p:txBody>
      </p:sp>
      <p:sp>
        <p:nvSpPr>
          <p:cNvPr id="20" name="Text 18"/>
          <p:cNvSpPr txBox="1"/>
          <p:nvPr/>
        </p:nvSpPr>
        <p:spPr>
          <a:xfrm>
            <a:off x="1828800" y="425196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株式会社パパゲーノ プレスリリース</a:t>
            </a:r>
            <a:endParaRPr lang="en-US" sz="900" dirty="0"/>
          </a:p>
        </p:txBody>
      </p:sp>
      <p:sp>
        <p:nvSpPr>
          <p:cNvPr id="21" name="Shape 19"/>
          <p:cNvSpPr/>
          <p:nvPr/>
        </p:nvSpPr>
        <p:spPr>
          <a:xfrm>
            <a:off x="685800" y="4599432"/>
            <a:ext cx="10820095" cy="7315"/>
          </a:xfrm>
          <a:prstGeom prst="rect">
            <a:avLst/>
          </a:prstGeom>
          <a:solidFill>
            <a:srgbClr val="D2C4AE"/>
          </a:solidFill>
          <a:ln/>
        </p:spPr>
      </p:sp>
      <p:sp>
        <p:nvSpPr>
          <p:cNvPr id="22" name="Text 20"/>
          <p:cNvSpPr txBox="1"/>
          <p:nvPr/>
        </p:nvSpPr>
        <p:spPr>
          <a:xfrm>
            <a:off x="685800" y="472744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寄稿</a:t>
            </a:r>
            <a:endParaRPr lang="en-US" sz="900" dirty="0"/>
          </a:p>
        </p:txBody>
      </p:sp>
      <p:sp>
        <p:nvSpPr>
          <p:cNvPr id="23" name="Text 21"/>
          <p:cNvSpPr txBox="1"/>
          <p:nvPr/>
        </p:nvSpPr>
        <p:spPr>
          <a:xfrm>
            <a:off x="1828800" y="469087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『精神看護』特集「鍼灸は、なぜ「うつ」に効くのだろうか」</a:t>
            </a:r>
            <a:endParaRPr lang="en-US" sz="1100" dirty="0"/>
          </a:p>
        </p:txBody>
      </p:sp>
      <p:sp>
        <p:nvSpPr>
          <p:cNvPr id="24" name="Text 22"/>
          <p:cNvSpPr txBox="1"/>
          <p:nvPr/>
        </p:nvSpPr>
        <p:spPr>
          <a:xfrm>
            <a:off x="1828800" y="498348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医学書院　Vol.28 No.3（2025.5）／ レポート「障害と美の多様性」Vol.28 No.5（2025.9）</a:t>
            </a:r>
            <a:endParaRPr lang="en-US" sz="900" dirty="0"/>
          </a:p>
        </p:txBody>
      </p:sp>
      <p:sp>
        <p:nvSpPr>
          <p:cNvPr id="25" name="Shape 23"/>
          <p:cNvSpPr/>
          <p:nvPr/>
        </p:nvSpPr>
        <p:spPr>
          <a:xfrm>
            <a:off x="685800" y="5330952"/>
            <a:ext cx="10820095" cy="7315"/>
          </a:xfrm>
          <a:prstGeom prst="rect">
            <a:avLst/>
          </a:prstGeom>
          <a:solidFill>
            <a:srgbClr val="D2C4AE"/>
          </a:solidFill>
          <a:ln/>
        </p:spPr>
      </p:sp>
      <p:sp>
        <p:nvSpPr>
          <p:cNvPr id="26" name="Text 24"/>
          <p:cNvSpPr txBox="1"/>
          <p:nvPr/>
        </p:nvSpPr>
        <p:spPr>
          <a:xfrm>
            <a:off x="685800" y="5458968"/>
            <a:ext cx="1005840" cy="256032"/>
          </a:xfrm>
          <a:prstGeom prst="rect">
            <a:avLst/>
          </a:prstGeom>
          <a:noFill/>
          <a:ln/>
        </p:spPr>
        <p:txBody>
          <a:bodyPr wrap="square" lIns="0" tIns="0" rIns="0" bIns="0" rtlCol="0" anchor="ctr"/>
          <a:lstStyle/>
          <a:p>
            <a:pPr indent="0" marL="0">
              <a:buNone/>
            </a:pPr>
            <a:r>
              <a:rPr lang="en-US" sz="900" b="1" spc="200" kern="0" dirty="0">
                <a:solidFill>
                  <a:srgbClr val="9C5446"/>
                </a:solidFill>
                <a:latin typeface="游ゴシック" pitchFamily="34" charset="0"/>
                <a:ea typeface="游ゴシック" pitchFamily="34" charset="-122"/>
                <a:cs typeface="游ゴシック" pitchFamily="34" charset="-120"/>
              </a:rPr>
              <a:t>学会</a:t>
            </a:r>
            <a:endParaRPr lang="en-US" sz="900" dirty="0"/>
          </a:p>
        </p:txBody>
      </p:sp>
      <p:sp>
        <p:nvSpPr>
          <p:cNvPr id="27" name="Text 25"/>
          <p:cNvSpPr txBox="1"/>
          <p:nvPr/>
        </p:nvSpPr>
        <p:spPr>
          <a:xfrm>
            <a:off x="1828800" y="5422392"/>
            <a:ext cx="9674352" cy="274320"/>
          </a:xfrm>
          <a:prstGeom prst="rect">
            <a:avLst/>
          </a:prstGeom>
          <a:noFill/>
          <a:ln/>
        </p:spPr>
        <p:txBody>
          <a:bodyPr wrap="square" lIns="0" tIns="0" rIns="0" bIns="0" rtlCol="0" anchor="ctr"/>
          <a:lstStyle/>
          <a:p>
            <a:pPr indent="0" marL="0">
              <a:buNone/>
            </a:pPr>
            <a:r>
              <a:rPr lang="en-US" sz="1100" dirty="0">
                <a:solidFill>
                  <a:srgbClr val="2B2620"/>
                </a:solidFill>
                <a:latin typeface="游ゴシック" pitchFamily="34" charset="0"/>
                <a:ea typeface="游ゴシック" pitchFamily="34" charset="-122"/>
                <a:cs typeface="游ゴシック" pitchFamily="34" charset="-120"/>
              </a:rPr>
              <a:t>全日本鍼灸学会（2024・2025・2026）／ 日本うつ病学会（ポスター発表）／ 日本精神神経学会 鍼灸シンポジウム シンポジスト</a:t>
            </a:r>
            <a:endParaRPr lang="en-US" sz="1100" dirty="0"/>
          </a:p>
        </p:txBody>
      </p:sp>
      <p:sp>
        <p:nvSpPr>
          <p:cNvPr id="28" name="Text 26"/>
          <p:cNvSpPr txBox="1"/>
          <p:nvPr/>
        </p:nvSpPr>
        <p:spPr>
          <a:xfrm>
            <a:off x="1828800" y="5715000"/>
            <a:ext cx="9674352" cy="274320"/>
          </a:xfrm>
          <a:prstGeom prst="rect">
            <a:avLst/>
          </a:prstGeom>
          <a:noFill/>
          <a:ln/>
        </p:spPr>
        <p:txBody>
          <a:bodyPr wrap="square" lIns="0" tIns="0" rIns="0" bIns="0" rtlCol="0" anchor="ctr"/>
          <a:lstStyle/>
          <a:p>
            <a:pPr indent="0" marL="0">
              <a:buNone/>
            </a:pPr>
            <a:r>
              <a:rPr lang="en-US" sz="900" dirty="0">
                <a:solidFill>
                  <a:srgbClr val="8B8175"/>
                </a:solidFill>
                <a:latin typeface="游ゴシック" pitchFamily="34" charset="0"/>
                <a:ea typeface="游ゴシック" pitchFamily="34" charset="-122"/>
                <a:cs typeface="游ゴシック" pitchFamily="34" charset="-120"/>
              </a:rPr>
              <a:t>うつと不安症状を有する患者の実態調査 第3報・第4報 ほか　― 日本精神神経学会は2026.6 登壇</a:t>
            </a:r>
            <a:endParaRPr lang="en-US" sz="900" dirty="0"/>
          </a:p>
        </p:txBody>
      </p:sp>
      <p:sp>
        <p:nvSpPr>
          <p:cNvPr id="29" name="Shape 27"/>
          <p:cNvSpPr/>
          <p:nvPr/>
        </p:nvSpPr>
        <p:spPr>
          <a:xfrm>
            <a:off x="685800" y="606247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900" dirty="0">
                <a:solidFill>
                  <a:srgbClr val="8B8175"/>
                </a:solidFill>
                <a:latin typeface="游ゴシック" pitchFamily="34" charset="0"/>
                <a:ea typeface="游ゴシック" pitchFamily="34" charset="-122"/>
                <a:cs typeface="游ゴシック" pitchFamily="34" charset="-120"/>
              </a:rPr>
              <a:t>参考資料（本編5分には含みません）</a:t>
            </a:r>
            <a:endParaRPr lang="en-US" sz="9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900" spc="100" kern="0" dirty="0">
                <a:solidFill>
                  <a:srgbClr val="8B8175"/>
                </a:solidFill>
                <a:latin typeface="游ゴシック" pitchFamily="34" charset="0"/>
                <a:ea typeface="游ゴシック" pitchFamily="34" charset="-122"/>
                <a:cs typeface="游ゴシック" pitchFamily="34" charset="-120"/>
              </a:rPr>
              <a:t>米倉まな｜アポプラスステーション様 ご提案</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2026-09-12T16:26:53Z</dcterms:created>
  <dcterms:modified xsi:type="dcterms:W3CDTF">2026-09-12T16:26:53Z</dcterms:modified>
</cp:coreProperties>
</file>