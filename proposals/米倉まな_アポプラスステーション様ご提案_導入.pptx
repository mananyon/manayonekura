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本日はお時間をいただきありがとうございます。提案に入る前に、私が何者で、何を変えたいのかを5分だけお話しさせてください。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私自身の話をさせてください。私は2013年ごろまで、精神疾患の当事者でした。約8年間さまよって、病院にも通って、よくならない時期がとても長く続きました。最後に私を助けたのが鍼灸です。いまこの仕事をしているのは、そのためです。そして患者さんからいちばん多く言われるのが、「もっと早く鍼灸に出会いたかった」という言葉です。この「もっと早く」をなくすことが、私の仕事だと思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重で鍼灸院を12年。のべ2万人以上を診てきました。臨床だけでなく、鍼灸師の育成と、学会での研究発表も続けています。全日本鍼灸学会と日本うつ病学会で発表し、日本精神神経学会にも登壇しました。心の不調を扱う鍼灸師として、現場・人・データの3つを持っているのが私の立ち位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もうひとつの顔が、企業の新規事業への伴走です。パパゲーノでは認定第一号として、就労継続支援の事業に発注する側で関わりました。ファンコミュニケーションズさんのThirdTalkは、病院やカウンセリングに行く一歩手前の人のためのオンライン対話サービスで、企画段階からご相談をいただき、立ち上げを見守ってきました。stand upさんはアミューズメントの会社で、新規事業のご相談から、いまもお取引が続いています。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いま「ねここち」という、頭をオフにする事業の立ち上げを準備しています。頭が考えごとで止まらない人に、強制的にオフにする時間を売る事業です。施術は鍼灸師の国家資格を持つ人が行います。医療の知識を持つ人が、治療の手前の層に関わる形です。治療と身構えずに入れる入口をつくって、必要な人だけを鍼灸や医療につなぐ。1店舗あたり月次利益30万円を想定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企業と鍼灸の組み合わせは、もう絵空事ではありません。枕で知られるブレインスリープさんは、睡眠専門の鍼灸院を自社ブランドで4店舗運営しています。有楽町マルイのように商業施設の中にも入っていて、丸井グループ側もプレスリリースを出しています。累計1万人以上が利用し、施術の効果も数字で公表し、定額プランで通い続けてもらう設計です。製品を売って終わりにせず、施術で人と関わり続けている。私がやろうとしている構造とほぼ同じで、違いは入口だけです。あの会社は睡眠から入った。私はこころから入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私が現場で感じていることをお話しします。左が社会の数字、右が私が院で見ていることです。精神疾患の患者は約600万人、国も2024年に初めて白書のテーマにこころの健康を据えました。私の院でも、心の不調を主訴に来られる方が明らかに増えています。2028年からは50人未満の会社にもストレスチェックが義務化されます。ただ、検査で気づいても次に行く場所がない。病院はもう新規を受けきれていません。そして損失の7.6兆円のうち、休職や欠勤によるアブセンティーイズムはわずか0.3兆円です。残りの7.3兆円は、出社しているのに力が出ていないプレゼンティーイズムの分。つまり損失のほとんどは、休んでいない人が生んでいます。この層が、いま誰の担当にもなっていない。だから私は、未病の段階で止めたい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正直に申し上げると、いまはすべてが私に紐づいていて、1人で抱えられる量に天井があります。仕組みと人と座組みが足りない。ここは御社が最も強い領域だと考えています。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のうえで、いま具体的に提案したいのが「未病ノート」です。毎日30秒、12項目の体調記録をつけてもらいます。気・血・水・心を各3項目ずつ、4段階で。特徴は、記録して終わりにせず必ず返事が返ることです。ひとつめは共感。いま同じ節気、同じ年代、同じ地域で似た記録をしている人が何人いるかを返します。ふたつめは去年の今頃。比較の単位を年ではなく節気に置くので、3か月使えば6回分の比較点が貯まります。みっつめは崩れやすさの予測です。玉川大学の柴田研究室との共同提案で、私は臨床監修を担当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種の事業には3つの壁があります。利用者が集まらない、健康情報を扱う体制がない、買い手が見つからない。御社はこの3つが最初から解けています。従業員872名という初期母集団、プライバシーマーク認定、そしてCSO・CRO事業の製薬・食品のお客様。他社が3年かけて作る前提条件を、御社は初日から持っています。そしていちばん大きいのは、受託試験で参加者に毎日つけてもらう記録に、これがそのまま使える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お願いしたいことは3つです。未病領域の新規事業の共同検討、人材・組織の知見、そして実証の場。治療が必要になる手前で、生きづらさを抱えた人を減らしたい。まずは本日、この3つのうちどこに可能性がありそうか、率直なご意見をいただけたら嬉し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本編には含めません。実績の裏取りを求められたときに、共同研究や企業連携の公開情報としてお見せする用です。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EADB"/>
        </a:solidFill>
      </p:bgPr>
    </p:bg>
    <p:spTree>
      <p:nvGrpSpPr>
        <p:cNvPr id="1" name=""/>
        <p:cNvGrpSpPr/>
        <p:nvPr/>
      </p:nvGrpSpPr>
      <p:grpSpPr>
        <a:xfrm>
          <a:off x="0" y="0"/>
          <a:ext cx="0" cy="0"/>
          <a:chOff x="0" y="0"/>
          <a:chExt cx="0" cy="0"/>
        </a:xfrm>
      </p:grpSpPr>
      <p:sp>
        <p:nvSpPr>
          <p:cNvPr id="2" name="Shape 0"/>
          <p:cNvSpPr/>
          <p:nvPr/>
        </p:nvSpPr>
        <p:spPr>
          <a:xfrm>
            <a:off x="685800" y="562356"/>
            <a:ext cx="237744" cy="12802"/>
          </a:xfrm>
          <a:prstGeom prst="rect">
            <a:avLst/>
          </a:prstGeom>
          <a:solidFill>
            <a:srgbClr val="9C5446"/>
          </a:solidFill>
          <a:ln/>
        </p:spPr>
      </p:sp>
      <p:sp>
        <p:nvSpPr>
          <p:cNvPr id="3" name="Text 1"/>
          <p:cNvSpPr txBox="1"/>
          <p:nvPr/>
        </p:nvSpPr>
        <p:spPr>
          <a:xfrm>
            <a:off x="996696" y="365760"/>
            <a:ext cx="7315200" cy="310896"/>
          </a:xfrm>
          <a:prstGeom prst="rect">
            <a:avLst/>
          </a:prstGeom>
          <a:noFill/>
          <a:ln/>
        </p:spPr>
        <p:txBody>
          <a:bodyPr wrap="square" lIns="0" tIns="0" rIns="0" bIns="0" rtlCol="0" anchor="ctr"/>
          <a:lstStyle/>
          <a:p>
            <a:pPr indent="0" marL="0">
              <a:buNone/>
            </a:pPr>
            <a:r>
              <a:rPr lang="en-US" sz="1400" spc="100" kern="0" dirty="0">
                <a:solidFill>
                  <a:srgbClr val="9C5446"/>
                </a:solidFill>
                <a:latin typeface="メイリオ" pitchFamily="34" charset="0"/>
                <a:ea typeface="メイリオ" pitchFamily="34" charset="-122"/>
                <a:cs typeface="メイリオ" pitchFamily="34" charset="-120"/>
              </a:rPr>
              <a:t>アポプラスステーション株式会社 御中</a:t>
            </a:r>
            <a:endParaRPr lang="en-US" sz="1400" dirty="0"/>
          </a:p>
        </p:txBody>
      </p:sp>
      <p:sp>
        <p:nvSpPr>
          <p:cNvPr id="4" name="Text 2"/>
          <p:cNvSpPr txBox="1"/>
          <p:nvPr/>
        </p:nvSpPr>
        <p:spPr>
          <a:xfrm>
            <a:off x="685800" y="1783080"/>
            <a:ext cx="5486400" cy="274320"/>
          </a:xfrm>
          <a:prstGeom prst="rect">
            <a:avLst/>
          </a:prstGeom>
          <a:noFill/>
          <a:ln/>
        </p:spPr>
        <p:txBody>
          <a:bodyPr wrap="square" lIns="0" tIns="0" rIns="0" bIns="0" rtlCol="0" anchor="ctr"/>
          <a:lstStyle/>
          <a:p>
            <a:pPr indent="0" marL="0">
              <a:buNone/>
            </a:pPr>
            <a:r>
              <a:rPr lang="en-US" sz="1400" spc="500" kern="0" dirty="0">
                <a:solidFill>
                  <a:srgbClr val="8B8175"/>
                </a:solidFill>
                <a:latin typeface="メイリオ" pitchFamily="34" charset="0"/>
                <a:ea typeface="メイリオ" pitchFamily="34" charset="-122"/>
                <a:cs typeface="メイリオ" pitchFamily="34" charset="-120"/>
              </a:rPr>
              <a:t>よねくら　まな</a:t>
            </a:r>
            <a:endParaRPr lang="en-US" sz="1400" dirty="0"/>
          </a:p>
        </p:txBody>
      </p:sp>
      <p:sp>
        <p:nvSpPr>
          <p:cNvPr id="5" name="Text 3"/>
          <p:cNvSpPr txBox="1"/>
          <p:nvPr/>
        </p:nvSpPr>
        <p:spPr>
          <a:xfrm>
            <a:off x="685800" y="2148840"/>
            <a:ext cx="7315200" cy="868680"/>
          </a:xfrm>
          <a:prstGeom prst="rect">
            <a:avLst/>
          </a:prstGeom>
          <a:noFill/>
          <a:ln/>
        </p:spPr>
        <p:txBody>
          <a:bodyPr wrap="square" lIns="0" tIns="0" rIns="0" bIns="0" rtlCol="0" anchor="ctr"/>
          <a:lstStyle/>
          <a:p>
            <a:pPr indent="0" marL="0">
              <a:buNone/>
            </a:pPr>
            <a:r>
              <a:rPr lang="en-US" sz="3800" b="1" spc="200" kern="0" dirty="0">
                <a:solidFill>
                  <a:srgbClr val="2B2620"/>
                </a:solidFill>
                <a:latin typeface="メイリオ" pitchFamily="34" charset="0"/>
                <a:ea typeface="メイリオ" pitchFamily="34" charset="-122"/>
                <a:cs typeface="メイリオ" pitchFamily="34" charset="-120"/>
              </a:rPr>
              <a:t>米倉まな</a:t>
            </a:r>
            <a:endParaRPr lang="en-US" sz="3800" dirty="0"/>
          </a:p>
        </p:txBody>
      </p:sp>
      <p:sp>
        <p:nvSpPr>
          <p:cNvPr id="6" name="Text 4"/>
          <p:cNvSpPr txBox="1"/>
          <p:nvPr/>
        </p:nvSpPr>
        <p:spPr>
          <a:xfrm>
            <a:off x="685800" y="3310128"/>
            <a:ext cx="8229600" cy="1097280"/>
          </a:xfrm>
          <a:prstGeom prst="rect">
            <a:avLst/>
          </a:prstGeom>
          <a:noFill/>
          <a:ln/>
        </p:spPr>
        <p:txBody>
          <a:bodyPr wrap="square" lIns="0" tIns="0" rIns="0" bIns="0" rtlCol="0" anchor="t"/>
          <a:lstStyle/>
          <a:p>
            <a:pPr indent="0" marL="0">
              <a:lnSpc>
                <a:spcPts val="3400"/>
              </a:lnSpc>
              <a:buNone/>
            </a:pPr>
            <a:r>
              <a:rPr lang="en-US" sz="2000" dirty="0">
                <a:solidFill>
                  <a:srgbClr val="5A5249"/>
                </a:solidFill>
                <a:latin typeface="メイリオ" pitchFamily="34" charset="0"/>
                <a:ea typeface="メイリオ" pitchFamily="34" charset="-122"/>
                <a:cs typeface="メイリオ" pitchFamily="34" charset="-120"/>
              </a:rPr>
              <a:t>ご提案の前に、</a:t>
            </a:r>
            <a:endParaRPr lang="en-US" sz="2000" dirty="0"/>
          </a:p>
          <a:p>
            <a:pPr indent="0" marL="0">
              <a:lnSpc>
                <a:spcPts val="3400"/>
              </a:lnSpc>
              <a:buNone/>
            </a:pPr>
            <a:r>
              <a:rPr lang="en-US" sz="2000" dirty="0">
                <a:solidFill>
                  <a:srgbClr val="5A5249"/>
                </a:solidFill>
                <a:latin typeface="メイリオ" pitchFamily="34" charset="0"/>
                <a:ea typeface="メイリオ" pitchFamily="34" charset="-122"/>
                <a:cs typeface="メイリオ" pitchFamily="34" charset="-120"/>
              </a:rPr>
              <a:t>私が何者で、何を変えたいのかを。</a:t>
            </a:r>
            <a:endParaRPr lang="en-US" sz="2000" dirty="0"/>
          </a:p>
        </p:txBody>
      </p:sp>
      <p:sp>
        <p:nvSpPr>
          <p:cNvPr id="7" name="Shape 5"/>
          <p:cNvSpPr/>
          <p:nvPr/>
        </p:nvSpPr>
        <p:spPr>
          <a:xfrm>
            <a:off x="685800" y="4645152"/>
            <a:ext cx="2750515" cy="438912"/>
          </a:xfrm>
          <a:prstGeom prst="roundRect">
            <a:avLst>
              <a:gd name="adj" fmla="val 50000"/>
            </a:avLst>
          </a:prstGeom>
          <a:solidFill>
            <a:srgbClr val="FBF6EC"/>
          </a:solidFill>
          <a:ln w="9525">
            <a:solidFill>
              <a:srgbClr val="D2C4AE"/>
            </a:solidFill>
            <a:prstDash val="solid"/>
          </a:ln>
        </p:spPr>
      </p:sp>
      <p:sp>
        <p:nvSpPr>
          <p:cNvPr id="8" name="Text 6"/>
          <p:cNvSpPr txBox="1"/>
          <p:nvPr/>
        </p:nvSpPr>
        <p:spPr>
          <a:xfrm>
            <a:off x="685800" y="4645152"/>
            <a:ext cx="2750515" cy="438912"/>
          </a:xfrm>
          <a:prstGeom prst="rect">
            <a:avLst/>
          </a:prstGeom>
          <a:noFill/>
          <a:ln/>
        </p:spPr>
        <p:txBody>
          <a:bodyPr wrap="square" lIns="0" tIns="0" rIns="0" bIns="0" rtlCol="0" anchor="ctr"/>
          <a:lstStyle/>
          <a:p>
            <a:pPr algn="ctr" indent="0" marL="0">
              <a:buNone/>
            </a:pPr>
            <a:r>
              <a:rPr lang="en-US" sz="1400" dirty="0">
                <a:solidFill>
                  <a:srgbClr val="5A5249"/>
                </a:solidFill>
                <a:latin typeface="メイリオ" pitchFamily="34" charset="0"/>
                <a:ea typeface="メイリオ" pitchFamily="34" charset="-122"/>
                <a:cs typeface="メイリオ" pitchFamily="34" charset="-120"/>
              </a:rPr>
              <a:t>認定鍼灸師（開業12年目）</a:t>
            </a:r>
            <a:endParaRPr lang="en-US" sz="1400" dirty="0"/>
          </a:p>
        </p:txBody>
      </p:sp>
      <p:sp>
        <p:nvSpPr>
          <p:cNvPr id="9" name="Shape 7"/>
          <p:cNvSpPr/>
          <p:nvPr/>
        </p:nvSpPr>
        <p:spPr>
          <a:xfrm>
            <a:off x="3582619" y="4645152"/>
            <a:ext cx="3108960" cy="438912"/>
          </a:xfrm>
          <a:prstGeom prst="roundRect">
            <a:avLst>
              <a:gd name="adj" fmla="val 50000"/>
            </a:avLst>
          </a:prstGeom>
          <a:solidFill>
            <a:srgbClr val="FBF6EC"/>
          </a:solidFill>
          <a:ln w="9525">
            <a:solidFill>
              <a:srgbClr val="D2C4AE"/>
            </a:solidFill>
            <a:prstDash val="solid"/>
          </a:ln>
        </p:spPr>
      </p:sp>
      <p:sp>
        <p:nvSpPr>
          <p:cNvPr id="10" name="Text 8"/>
          <p:cNvSpPr txBox="1"/>
          <p:nvPr/>
        </p:nvSpPr>
        <p:spPr>
          <a:xfrm>
            <a:off x="3582619" y="4645152"/>
            <a:ext cx="3108960" cy="438912"/>
          </a:xfrm>
          <a:prstGeom prst="rect">
            <a:avLst/>
          </a:prstGeom>
          <a:noFill/>
          <a:ln/>
        </p:spPr>
        <p:txBody>
          <a:bodyPr wrap="square" lIns="0" tIns="0" rIns="0" bIns="0" rtlCol="0" anchor="ctr"/>
          <a:lstStyle/>
          <a:p>
            <a:pPr algn="ctr" indent="0" marL="0">
              <a:buNone/>
            </a:pPr>
            <a:r>
              <a:rPr lang="en-US" sz="1400" dirty="0">
                <a:solidFill>
                  <a:srgbClr val="5A5249"/>
                </a:solidFill>
                <a:latin typeface="メイリオ" pitchFamily="34" charset="0"/>
                <a:ea typeface="メイリオ" pitchFamily="34" charset="-122"/>
                <a:cs typeface="メイリオ" pitchFamily="34" charset="-120"/>
              </a:rPr>
              <a:t>はりきゅう処ここちめいど 院長</a:t>
            </a:r>
            <a:endParaRPr lang="en-US" sz="1400" dirty="0"/>
          </a:p>
        </p:txBody>
      </p:sp>
      <p:sp>
        <p:nvSpPr>
          <p:cNvPr id="11" name="Shape 9"/>
          <p:cNvSpPr/>
          <p:nvPr/>
        </p:nvSpPr>
        <p:spPr>
          <a:xfrm>
            <a:off x="6837883" y="4645152"/>
            <a:ext cx="3646627" cy="438912"/>
          </a:xfrm>
          <a:prstGeom prst="roundRect">
            <a:avLst>
              <a:gd name="adj" fmla="val 50000"/>
            </a:avLst>
          </a:prstGeom>
          <a:solidFill>
            <a:srgbClr val="FBF6EC"/>
          </a:solidFill>
          <a:ln w="9525">
            <a:solidFill>
              <a:srgbClr val="D2C4AE"/>
            </a:solidFill>
            <a:prstDash val="solid"/>
          </a:ln>
        </p:spPr>
      </p:sp>
      <p:sp>
        <p:nvSpPr>
          <p:cNvPr id="12" name="Text 10"/>
          <p:cNvSpPr txBox="1"/>
          <p:nvPr/>
        </p:nvSpPr>
        <p:spPr>
          <a:xfrm>
            <a:off x="6837883" y="4645152"/>
            <a:ext cx="3646627" cy="438912"/>
          </a:xfrm>
          <a:prstGeom prst="rect">
            <a:avLst/>
          </a:prstGeom>
          <a:noFill/>
          <a:ln/>
        </p:spPr>
        <p:txBody>
          <a:bodyPr wrap="square" lIns="0" tIns="0" rIns="0" bIns="0" rtlCol="0" anchor="ctr"/>
          <a:lstStyle/>
          <a:p>
            <a:pPr algn="ctr" indent="0" marL="0">
              <a:buNone/>
            </a:pPr>
            <a:r>
              <a:rPr lang="en-US" sz="1400" dirty="0">
                <a:solidFill>
                  <a:srgbClr val="5A5249"/>
                </a:solidFill>
                <a:latin typeface="メイリオ" pitchFamily="34" charset="0"/>
                <a:ea typeface="メイリオ" pitchFamily="34" charset="-122"/>
                <a:cs typeface="メイリオ" pitchFamily="34" charset="-120"/>
              </a:rPr>
              <a:t>オンラインサロン ここちめいど 主宰</a:t>
            </a:r>
            <a:endParaRPr lang="en-US" sz="1400" dirty="0"/>
          </a:p>
        </p:txBody>
      </p:sp>
      <p:sp>
        <p:nvSpPr>
          <p:cNvPr id="13" name="Shape 11"/>
          <p:cNvSpPr/>
          <p:nvPr/>
        </p:nvSpPr>
        <p:spPr>
          <a:xfrm>
            <a:off x="685800" y="5175504"/>
            <a:ext cx="1854403" cy="438912"/>
          </a:xfrm>
          <a:prstGeom prst="roundRect">
            <a:avLst>
              <a:gd name="adj" fmla="val 50000"/>
            </a:avLst>
          </a:prstGeom>
          <a:solidFill>
            <a:srgbClr val="FBF6EC"/>
          </a:solidFill>
          <a:ln w="9525">
            <a:solidFill>
              <a:srgbClr val="D2C4AE"/>
            </a:solidFill>
            <a:prstDash val="solid"/>
          </a:ln>
        </p:spPr>
      </p:sp>
      <p:sp>
        <p:nvSpPr>
          <p:cNvPr id="14" name="Text 12"/>
          <p:cNvSpPr txBox="1"/>
          <p:nvPr/>
        </p:nvSpPr>
        <p:spPr>
          <a:xfrm>
            <a:off x="685800" y="5175504"/>
            <a:ext cx="1854403" cy="438912"/>
          </a:xfrm>
          <a:prstGeom prst="rect">
            <a:avLst/>
          </a:prstGeom>
          <a:noFill/>
          <a:ln/>
        </p:spPr>
        <p:txBody>
          <a:bodyPr wrap="square" lIns="0" tIns="0" rIns="0" bIns="0" rtlCol="0" anchor="ctr"/>
          <a:lstStyle/>
          <a:p>
            <a:pPr algn="ctr" indent="0" marL="0">
              <a:buNone/>
            </a:pPr>
            <a:r>
              <a:rPr lang="en-US" sz="1400" dirty="0">
                <a:solidFill>
                  <a:srgbClr val="5A5249"/>
                </a:solidFill>
                <a:latin typeface="メイリオ" pitchFamily="34" charset="0"/>
                <a:ea typeface="メイリオ" pitchFamily="34" charset="-122"/>
                <a:cs typeface="メイリオ" pitchFamily="34" charset="-120"/>
              </a:rPr>
              <a:t>ここちはり 代表</a:t>
            </a:r>
            <a:endParaRPr lang="en-US" sz="1400" dirty="0"/>
          </a:p>
        </p:txBody>
      </p:sp>
      <p:sp>
        <p:nvSpPr>
          <p:cNvPr id="15" name="Shape 13"/>
          <p:cNvSpPr/>
          <p:nvPr/>
        </p:nvSpPr>
        <p:spPr>
          <a:xfrm>
            <a:off x="2686507" y="5175504"/>
            <a:ext cx="3108960" cy="438912"/>
          </a:xfrm>
          <a:prstGeom prst="roundRect">
            <a:avLst>
              <a:gd name="adj" fmla="val 50000"/>
            </a:avLst>
          </a:prstGeom>
          <a:solidFill>
            <a:srgbClr val="FBF6EC"/>
          </a:solidFill>
          <a:ln w="9525">
            <a:solidFill>
              <a:srgbClr val="D2C4AE"/>
            </a:solidFill>
            <a:prstDash val="solid"/>
          </a:ln>
        </p:spPr>
      </p:sp>
      <p:sp>
        <p:nvSpPr>
          <p:cNvPr id="16" name="Text 14"/>
          <p:cNvSpPr txBox="1"/>
          <p:nvPr/>
        </p:nvSpPr>
        <p:spPr>
          <a:xfrm>
            <a:off x="2686507" y="5175504"/>
            <a:ext cx="3108960" cy="438912"/>
          </a:xfrm>
          <a:prstGeom prst="rect">
            <a:avLst/>
          </a:prstGeom>
          <a:noFill/>
          <a:ln/>
        </p:spPr>
        <p:txBody>
          <a:bodyPr wrap="square" lIns="0" tIns="0" rIns="0" bIns="0" rtlCol="0" anchor="ctr"/>
          <a:lstStyle/>
          <a:p>
            <a:pPr algn="ctr" indent="0" marL="0">
              <a:buNone/>
            </a:pPr>
            <a:r>
              <a:rPr lang="en-US" sz="1400" dirty="0">
                <a:solidFill>
                  <a:srgbClr val="5A5249"/>
                </a:solidFill>
                <a:latin typeface="メイリオ" pitchFamily="34" charset="0"/>
                <a:ea typeface="メイリオ" pitchFamily="34" charset="-122"/>
                <a:cs typeface="メイリオ" pitchFamily="34" charset="-120"/>
              </a:rPr>
              <a:t>武蔵野大学大学院 人間学 修士</a:t>
            </a:r>
            <a:endParaRPr lang="en-US" sz="1400" dirty="0"/>
          </a:p>
        </p:txBody>
      </p:sp>
      <p:sp>
        <p:nvSpPr>
          <p:cNvPr id="17" name="Text 15"/>
          <p:cNvSpPr txBox="1"/>
          <p:nvPr/>
        </p:nvSpPr>
        <p:spPr>
          <a:xfrm>
            <a:off x="685800" y="6336792"/>
            <a:ext cx="7315200" cy="274320"/>
          </a:xfrm>
          <a:prstGeom prst="rect">
            <a:avLst/>
          </a:prstGeom>
          <a:noFill/>
          <a:ln/>
        </p:spPr>
        <p:txBody>
          <a:bodyPr wrap="square" lIns="0" tIns="0" rIns="0" bIns="0" rtlCol="0" anchor="ctr"/>
          <a:lstStyle/>
          <a:p>
            <a:pPr indent="0" marL="0">
              <a:buNone/>
            </a:pPr>
            <a:r>
              <a:rPr lang="en-US" sz="1200" spc="100" kern="0" dirty="0">
                <a:solidFill>
                  <a:srgbClr val="8B8175"/>
                </a:solidFill>
                <a:latin typeface="メイリオ" pitchFamily="34" charset="0"/>
                <a:ea typeface="メイリオ" pitchFamily="34" charset="-122"/>
                <a:cs typeface="メイリオ" pitchFamily="34" charset="-120"/>
              </a:rPr>
              <a:t>米倉まな｜アポプラスステーション様 ご提案</a:t>
            </a:r>
            <a:endParaRPr lang="en-US" sz="1200" dirty="0"/>
          </a:p>
        </p:txBody>
      </p:sp>
      <p:sp>
        <p:nvSpPr>
          <p:cNvPr id="18" name="Text 16"/>
          <p:cNvSpPr txBox="1"/>
          <p:nvPr/>
        </p:nvSpPr>
        <p:spPr>
          <a:xfrm>
            <a:off x="8305495" y="6336792"/>
            <a:ext cx="3200400" cy="274320"/>
          </a:xfrm>
          <a:prstGeom prst="rect">
            <a:avLst/>
          </a:prstGeom>
          <a:noFill/>
          <a:ln/>
        </p:spPr>
        <p:txBody>
          <a:bodyPr wrap="square" lIns="0" tIns="0" rIns="0" bIns="0" rtlCol="0" anchor="ctr"/>
          <a:lstStyle/>
          <a:p>
            <a:pPr algn="r" indent="0" marL="0">
              <a:buNone/>
            </a:pPr>
            <a:r>
              <a:rPr lang="en-US" sz="1200" dirty="0">
                <a:solidFill>
                  <a:srgbClr val="8B8175"/>
                </a:solidFill>
                <a:latin typeface="メイリオ" pitchFamily="34" charset="0"/>
                <a:ea typeface="メイリオ" pitchFamily="34" charset="-122"/>
                <a:cs typeface="メイリオ" pitchFamily="34" charset="-120"/>
              </a:rPr>
              <a:t>所要 約6分</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ADB"/>
        </a:solidFill>
      </p:bgPr>
    </p:bg>
    <p:spTree>
      <p:nvGrpSpPr>
        <p:cNvPr id="1" name=""/>
        <p:cNvGrpSpPr/>
        <p:nvPr/>
      </p:nvGrpSpPr>
      <p:grpSpPr>
        <a:xfrm>
          <a:off x="0" y="0"/>
          <a:ext cx="0" cy="0"/>
          <a:chOff x="0" y="0"/>
          <a:chExt cx="0" cy="0"/>
        </a:xfrm>
      </p:grpSpPr>
      <p:sp>
        <p:nvSpPr>
          <p:cNvPr id="2" name="Shape 0"/>
          <p:cNvSpPr/>
          <p:nvPr/>
        </p:nvSpPr>
        <p:spPr>
          <a:xfrm>
            <a:off x="685800" y="562356"/>
            <a:ext cx="237744" cy="12802"/>
          </a:xfrm>
          <a:prstGeom prst="rect">
            <a:avLst/>
          </a:prstGeom>
          <a:solidFill>
            <a:srgbClr val="9C5446"/>
          </a:solidFill>
          <a:ln/>
        </p:spPr>
      </p:sp>
      <p:sp>
        <p:nvSpPr>
          <p:cNvPr id="3" name="Text 1"/>
          <p:cNvSpPr txBox="1"/>
          <p:nvPr/>
        </p:nvSpPr>
        <p:spPr>
          <a:xfrm>
            <a:off x="996696" y="365760"/>
            <a:ext cx="7315200" cy="310896"/>
          </a:xfrm>
          <a:prstGeom prst="rect">
            <a:avLst/>
          </a:prstGeom>
          <a:noFill/>
          <a:ln/>
        </p:spPr>
        <p:txBody>
          <a:bodyPr wrap="square" lIns="0" tIns="0" rIns="0" bIns="0" rtlCol="0" anchor="ctr"/>
          <a:lstStyle/>
          <a:p>
            <a:pPr indent="0" marL="0">
              <a:buNone/>
            </a:pPr>
            <a:r>
              <a:rPr lang="en-US" sz="1400" b="1" spc="200" kern="0" dirty="0">
                <a:solidFill>
                  <a:srgbClr val="9C5446"/>
                </a:solidFill>
                <a:latin typeface="メイリオ" pitchFamily="34" charset="0"/>
                <a:ea typeface="メイリオ" pitchFamily="34" charset="-122"/>
                <a:cs typeface="メイリオ" pitchFamily="34" charset="-120"/>
              </a:rPr>
              <a:t>01   </a:t>
            </a:r>
            <a:pPr indent="0" marL="0">
              <a:buNone/>
            </a:pPr>
            <a:r>
              <a:rPr lang="en-US" sz="1400" spc="300" kern="0" dirty="0">
                <a:solidFill>
                  <a:srgbClr val="8B8175"/>
                </a:solidFill>
                <a:latin typeface="メイリオ" pitchFamily="34" charset="0"/>
                <a:ea typeface="メイリオ" pitchFamily="34" charset="-122"/>
                <a:cs typeface="メイリオ" pitchFamily="34" charset="-120"/>
              </a:rPr>
              <a:t>ORIGIN</a:t>
            </a:r>
            <a:endParaRPr lang="en-US" sz="1400" dirty="0"/>
          </a:p>
        </p:txBody>
      </p:sp>
      <p:sp>
        <p:nvSpPr>
          <p:cNvPr id="4" name="Text 2"/>
          <p:cNvSpPr txBox="1"/>
          <p:nvPr/>
        </p:nvSpPr>
        <p:spPr>
          <a:xfrm>
            <a:off x="685800" y="777240"/>
            <a:ext cx="10820095" cy="777240"/>
          </a:xfrm>
          <a:prstGeom prst="rect">
            <a:avLst/>
          </a:prstGeom>
          <a:noFill/>
          <a:ln/>
        </p:spPr>
        <p:txBody>
          <a:bodyPr wrap="square" lIns="0" tIns="0" rIns="0" bIns="0" rtlCol="0" anchor="ctr"/>
          <a:lstStyle/>
          <a:p>
            <a:pPr indent="0" marL="0">
              <a:buNone/>
            </a:pPr>
            <a:r>
              <a:rPr lang="en-US" sz="2800" b="1" spc="100" kern="0" dirty="0">
                <a:solidFill>
                  <a:srgbClr val="2B2620"/>
                </a:solidFill>
                <a:latin typeface="メイリオ" pitchFamily="34" charset="0"/>
                <a:ea typeface="メイリオ" pitchFamily="34" charset="-122"/>
                <a:cs typeface="メイリオ" pitchFamily="34" charset="-120"/>
              </a:rPr>
              <a:t>私は2013年ごろまで、患者の側にいました</a:t>
            </a:r>
            <a:endParaRPr lang="en-US" sz="2800" dirty="0"/>
          </a:p>
        </p:txBody>
      </p:sp>
      <p:sp>
        <p:nvSpPr>
          <p:cNvPr id="5" name="Text 3"/>
          <p:cNvSpPr txBox="1"/>
          <p:nvPr/>
        </p:nvSpPr>
        <p:spPr>
          <a:xfrm>
            <a:off x="685800" y="2011680"/>
            <a:ext cx="457200" cy="365760"/>
          </a:xfrm>
          <a:prstGeom prst="rect">
            <a:avLst/>
          </a:prstGeom>
          <a:noFill/>
          <a:ln/>
        </p:spPr>
        <p:txBody>
          <a:bodyPr wrap="square" lIns="0" tIns="0" rIns="0" bIns="0" rtlCol="0" anchor="ctr"/>
          <a:lstStyle/>
          <a:p>
            <a:pPr indent="0" marL="0">
              <a:buNone/>
            </a:pPr>
            <a:r>
              <a:rPr lang="en-US" sz="1600" b="1" dirty="0">
                <a:solidFill>
                  <a:srgbClr val="9C5446"/>
                </a:solidFill>
                <a:latin typeface="メイリオ" pitchFamily="34" charset="0"/>
                <a:ea typeface="メイリオ" pitchFamily="34" charset="-122"/>
                <a:cs typeface="メイリオ" pitchFamily="34" charset="-120"/>
              </a:rPr>
              <a:t>01</a:t>
            </a:r>
            <a:endParaRPr lang="en-US" sz="1600" dirty="0"/>
          </a:p>
        </p:txBody>
      </p:sp>
      <p:sp>
        <p:nvSpPr>
          <p:cNvPr id="6" name="Text 4"/>
          <p:cNvSpPr txBox="1"/>
          <p:nvPr/>
        </p:nvSpPr>
        <p:spPr>
          <a:xfrm>
            <a:off x="1234440" y="2011680"/>
            <a:ext cx="4937760" cy="685800"/>
          </a:xfrm>
          <a:prstGeom prst="rect">
            <a:avLst/>
          </a:prstGeom>
          <a:noFill/>
          <a:ln/>
        </p:spPr>
        <p:txBody>
          <a:bodyPr wrap="square" lIns="0" tIns="0" rIns="0" bIns="0" rtlCol="0" anchor="ctr"/>
          <a:lstStyle/>
          <a:p>
            <a:pPr indent="0" marL="0">
              <a:lnSpc>
                <a:spcPts val="1900"/>
              </a:lnSpc>
              <a:buNone/>
            </a:pPr>
            <a:r>
              <a:rPr lang="en-US" sz="1400" dirty="0">
                <a:solidFill>
                  <a:srgbClr val="5A5249"/>
                </a:solidFill>
                <a:latin typeface="メイリオ" pitchFamily="34" charset="0"/>
                <a:ea typeface="メイリオ" pitchFamily="34" charset="-122"/>
                <a:cs typeface="メイリオ" pitchFamily="34" charset="-120"/>
              </a:rPr>
              <a:t>精神疾患の当事者として、</a:t>
            </a:r>
            <a:pPr indent="0" marL="0">
              <a:lnSpc>
                <a:spcPts val="1900"/>
              </a:lnSpc>
              <a:buNone/>
            </a:pPr>
            <a:r>
              <a:rPr lang="en-US" sz="1400" b="1" dirty="0">
                <a:solidFill>
                  <a:srgbClr val="2B2620"/>
                </a:solidFill>
                <a:latin typeface="メイリオ" pitchFamily="34" charset="0"/>
                <a:ea typeface="メイリオ" pitchFamily="34" charset="-122"/>
                <a:cs typeface="メイリオ" pitchFamily="34" charset="-120"/>
              </a:rPr>
              <a:t>約8年間さまよいました。</a:t>
            </a:r>
            <a:endParaRPr lang="en-US" sz="1400" dirty="0"/>
          </a:p>
        </p:txBody>
      </p:sp>
      <p:sp>
        <p:nvSpPr>
          <p:cNvPr id="7" name="Text 5"/>
          <p:cNvSpPr txBox="1"/>
          <p:nvPr/>
        </p:nvSpPr>
        <p:spPr>
          <a:xfrm>
            <a:off x="685800" y="2788920"/>
            <a:ext cx="457200" cy="365760"/>
          </a:xfrm>
          <a:prstGeom prst="rect">
            <a:avLst/>
          </a:prstGeom>
          <a:noFill/>
          <a:ln/>
        </p:spPr>
        <p:txBody>
          <a:bodyPr wrap="square" lIns="0" tIns="0" rIns="0" bIns="0" rtlCol="0" anchor="ctr"/>
          <a:lstStyle/>
          <a:p>
            <a:pPr indent="0" marL="0">
              <a:buNone/>
            </a:pPr>
            <a:r>
              <a:rPr lang="en-US" sz="1600" b="1" dirty="0">
                <a:solidFill>
                  <a:srgbClr val="9C5446"/>
                </a:solidFill>
                <a:latin typeface="メイリオ" pitchFamily="34" charset="0"/>
                <a:ea typeface="メイリオ" pitchFamily="34" charset="-122"/>
                <a:cs typeface="メイリオ" pitchFamily="34" charset="-120"/>
              </a:rPr>
              <a:t>02</a:t>
            </a:r>
            <a:endParaRPr lang="en-US" sz="1600" dirty="0"/>
          </a:p>
        </p:txBody>
      </p:sp>
      <p:sp>
        <p:nvSpPr>
          <p:cNvPr id="8" name="Text 6"/>
          <p:cNvSpPr txBox="1"/>
          <p:nvPr/>
        </p:nvSpPr>
        <p:spPr>
          <a:xfrm>
            <a:off x="1234440" y="2788920"/>
            <a:ext cx="4937760" cy="685800"/>
          </a:xfrm>
          <a:prstGeom prst="rect">
            <a:avLst/>
          </a:prstGeom>
          <a:noFill/>
          <a:ln/>
        </p:spPr>
        <p:txBody>
          <a:bodyPr wrap="square" lIns="0" tIns="0" rIns="0" bIns="0" rtlCol="0" anchor="ctr"/>
          <a:lstStyle/>
          <a:p>
            <a:pPr indent="0" marL="0">
              <a:lnSpc>
                <a:spcPts val="1900"/>
              </a:lnSpc>
              <a:buNone/>
            </a:pPr>
            <a:r>
              <a:rPr lang="en-US" sz="1400" dirty="0">
                <a:solidFill>
                  <a:srgbClr val="5A5249"/>
                </a:solidFill>
                <a:latin typeface="メイリオ" pitchFamily="34" charset="0"/>
                <a:ea typeface="メイリオ" pitchFamily="34" charset="-122"/>
                <a:cs typeface="メイリオ" pitchFamily="34" charset="-120"/>
              </a:rPr>
              <a:t>病院に通っても、よくならない時期が長く続きました。</a:t>
            </a:r>
            <a:endParaRPr lang="en-US" sz="1400" dirty="0"/>
          </a:p>
        </p:txBody>
      </p:sp>
      <p:sp>
        <p:nvSpPr>
          <p:cNvPr id="9" name="Text 7"/>
          <p:cNvSpPr txBox="1"/>
          <p:nvPr/>
        </p:nvSpPr>
        <p:spPr>
          <a:xfrm>
            <a:off x="685800" y="3566160"/>
            <a:ext cx="457200" cy="365760"/>
          </a:xfrm>
          <a:prstGeom prst="rect">
            <a:avLst/>
          </a:prstGeom>
          <a:noFill/>
          <a:ln/>
        </p:spPr>
        <p:txBody>
          <a:bodyPr wrap="square" lIns="0" tIns="0" rIns="0" bIns="0" rtlCol="0" anchor="ctr"/>
          <a:lstStyle/>
          <a:p>
            <a:pPr indent="0" marL="0">
              <a:buNone/>
            </a:pPr>
            <a:r>
              <a:rPr lang="en-US" sz="1600" b="1" dirty="0">
                <a:solidFill>
                  <a:srgbClr val="9C5446"/>
                </a:solidFill>
                <a:latin typeface="メイリオ" pitchFamily="34" charset="0"/>
                <a:ea typeface="メイリオ" pitchFamily="34" charset="-122"/>
                <a:cs typeface="メイリオ" pitchFamily="34" charset="-120"/>
              </a:rPr>
              <a:t>03</a:t>
            </a:r>
            <a:endParaRPr lang="en-US" sz="1600" dirty="0"/>
          </a:p>
        </p:txBody>
      </p:sp>
      <p:sp>
        <p:nvSpPr>
          <p:cNvPr id="10" name="Text 8"/>
          <p:cNvSpPr txBox="1"/>
          <p:nvPr/>
        </p:nvSpPr>
        <p:spPr>
          <a:xfrm>
            <a:off x="1234440" y="3566160"/>
            <a:ext cx="4937760" cy="685800"/>
          </a:xfrm>
          <a:prstGeom prst="rect">
            <a:avLst/>
          </a:prstGeom>
          <a:noFill/>
          <a:ln/>
        </p:spPr>
        <p:txBody>
          <a:bodyPr wrap="square" lIns="0" tIns="0" rIns="0" bIns="0" rtlCol="0" anchor="ctr"/>
          <a:lstStyle/>
          <a:p>
            <a:pPr indent="0" marL="0">
              <a:lnSpc>
                <a:spcPts val="1900"/>
              </a:lnSpc>
              <a:buNone/>
            </a:pPr>
            <a:r>
              <a:rPr lang="en-US" sz="1400" dirty="0">
                <a:solidFill>
                  <a:srgbClr val="5A5249"/>
                </a:solidFill>
                <a:latin typeface="メイリオ" pitchFamily="34" charset="0"/>
                <a:ea typeface="メイリオ" pitchFamily="34" charset="-122"/>
                <a:cs typeface="メイリオ" pitchFamily="34" charset="-120"/>
              </a:rPr>
              <a:t>最後に私を助けたのが、鍼灸でした。</a:t>
            </a:r>
            <a:endParaRPr lang="en-US" sz="1400" dirty="0"/>
          </a:p>
        </p:txBody>
      </p:sp>
      <p:sp>
        <p:nvSpPr>
          <p:cNvPr id="11" name="Text 9"/>
          <p:cNvSpPr txBox="1"/>
          <p:nvPr/>
        </p:nvSpPr>
        <p:spPr>
          <a:xfrm>
            <a:off x="6583680" y="1965960"/>
            <a:ext cx="4919472" cy="1371600"/>
          </a:xfrm>
          <a:prstGeom prst="rect">
            <a:avLst/>
          </a:prstGeom>
          <a:noFill/>
          <a:ln/>
        </p:spPr>
        <p:txBody>
          <a:bodyPr wrap="square" lIns="0" tIns="0" rIns="0" bIns="0" rtlCol="0" anchor="t"/>
          <a:lstStyle/>
          <a:p>
            <a:pPr indent="0" marL="0">
              <a:lnSpc>
                <a:spcPts val="4000"/>
              </a:lnSpc>
              <a:buNone/>
            </a:pPr>
            <a:r>
              <a:rPr lang="en-US" sz="2400" b="1" dirty="0">
                <a:solidFill>
                  <a:srgbClr val="2B2620"/>
                </a:solidFill>
                <a:latin typeface="メイリオ" pitchFamily="34" charset="0"/>
                <a:ea typeface="メイリオ" pitchFamily="34" charset="-122"/>
                <a:cs typeface="メイリオ" pitchFamily="34" charset="-120"/>
              </a:rPr>
              <a:t>「もっと早く、</a:t>
            </a:r>
            <a:endParaRPr lang="en-US" sz="2400" dirty="0"/>
          </a:p>
          <a:p>
            <a:pPr indent="0" marL="0">
              <a:lnSpc>
                <a:spcPts val="4000"/>
              </a:lnSpc>
              <a:buNone/>
            </a:pPr>
            <a:r>
              <a:rPr lang="en-US" sz="2400" b="1" dirty="0">
                <a:solidFill>
                  <a:srgbClr val="2B2620"/>
                </a:solidFill>
                <a:latin typeface="メイリオ" pitchFamily="34" charset="0"/>
                <a:ea typeface="メイリオ" pitchFamily="34" charset="-122"/>
                <a:cs typeface="メイリオ" pitchFamily="34" charset="-120"/>
              </a:rPr>
              <a:t>鍼灸に出会いたかった」</a:t>
            </a:r>
            <a:endParaRPr lang="en-US" sz="2400" dirty="0"/>
          </a:p>
        </p:txBody>
      </p:sp>
      <p:sp>
        <p:nvSpPr>
          <p:cNvPr id="12" name="Text 10"/>
          <p:cNvSpPr txBox="1"/>
          <p:nvPr/>
        </p:nvSpPr>
        <p:spPr>
          <a:xfrm>
            <a:off x="6583680" y="3520440"/>
            <a:ext cx="4919472" cy="914400"/>
          </a:xfrm>
          <a:prstGeom prst="rect">
            <a:avLst/>
          </a:prstGeom>
          <a:noFill/>
          <a:ln/>
        </p:spPr>
        <p:txBody>
          <a:bodyPr wrap="square" lIns="0" tIns="0" rIns="0" bIns="0" rtlCol="0" anchor="t"/>
          <a:lstStyle/>
          <a:p>
            <a:pPr indent="0" marL="0">
              <a:lnSpc>
                <a:spcPts val="1900"/>
              </a:lnSpc>
              <a:buNone/>
            </a:pPr>
            <a:r>
              <a:rPr lang="en-US" sz="1400" dirty="0">
                <a:solidFill>
                  <a:srgbClr val="5A5249"/>
                </a:solidFill>
                <a:latin typeface="メイリオ" pitchFamily="34" charset="0"/>
                <a:ea typeface="メイリオ" pitchFamily="34" charset="-122"/>
                <a:cs typeface="メイリオ" pitchFamily="34" charset="-120"/>
              </a:rPr>
              <a:t>患者さんから、いちばん多く言われる言葉です。東洋医学や鍼灸という手段、未病という概念も、その一つです。この「もっと早く」をなくすのが私の仕事です。</a:t>
            </a:r>
            <a:endParaRPr lang="en-US" sz="1400" dirty="0"/>
          </a:p>
        </p:txBody>
      </p:sp>
      <p:sp>
        <p:nvSpPr>
          <p:cNvPr id="13" name="Text 11"/>
          <p:cNvSpPr txBox="1"/>
          <p:nvPr/>
        </p:nvSpPr>
        <p:spPr>
          <a:xfrm>
            <a:off x="685800" y="6336792"/>
            <a:ext cx="7315200" cy="274320"/>
          </a:xfrm>
          <a:prstGeom prst="rect">
            <a:avLst/>
          </a:prstGeom>
          <a:noFill/>
          <a:ln/>
        </p:spPr>
        <p:txBody>
          <a:bodyPr wrap="square" lIns="0" tIns="0" rIns="0" bIns="0" rtlCol="0" anchor="ctr"/>
          <a:lstStyle/>
          <a:p>
            <a:pPr indent="0" marL="0">
              <a:buNone/>
            </a:pPr>
            <a:r>
              <a:rPr lang="en-US" sz="1200" spc="100" kern="0" dirty="0">
                <a:solidFill>
                  <a:srgbClr val="8B8175"/>
                </a:solidFill>
                <a:latin typeface="メイリオ" pitchFamily="34" charset="0"/>
                <a:ea typeface="メイリオ" pitchFamily="34" charset="-122"/>
                <a:cs typeface="メイリオ" pitchFamily="34" charset="-120"/>
              </a:rPr>
              <a:t>米倉まな｜アポプラスステーション様 ご提案</a:t>
            </a:r>
            <a:endParaRPr lang="en-US" sz="1200" dirty="0"/>
          </a:p>
        </p:txBody>
      </p:sp>
      <p:sp>
        <p:nvSpPr>
          <p:cNvPr id="14" name="Text 12"/>
          <p:cNvSpPr txBox="1"/>
          <p:nvPr/>
        </p:nvSpPr>
        <p:spPr>
          <a:xfrm>
            <a:off x="8305495" y="6336792"/>
            <a:ext cx="3200400" cy="274320"/>
          </a:xfrm>
          <a:prstGeom prst="rect">
            <a:avLst/>
          </a:prstGeom>
          <a:noFill/>
          <a:ln/>
        </p:spPr>
        <p:txBody>
          <a:bodyPr wrap="square" lIns="0" tIns="0" rIns="0" bIns="0" rtlCol="0" anchor="ctr"/>
          <a:lstStyle/>
          <a:p>
            <a:pPr algn="r" indent="0" marL="0">
              <a:buNone/>
            </a:pPr>
            <a:r>
              <a:rPr lang="en-US" sz="1200" dirty="0">
                <a:solidFill>
                  <a:srgbClr val="8B8175"/>
                </a:solidFill>
                <a:latin typeface="メイリオ" pitchFamily="34" charset="0"/>
                <a:ea typeface="メイリオ" pitchFamily="34" charset="-122"/>
                <a:cs typeface="メイリオ" pitchFamily="34" charset="-120"/>
              </a:rPr>
              <a:t>0:20 → 0:50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ADB"/>
        </a:solidFill>
      </p:bgPr>
    </p:bg>
    <p:spTree>
      <p:nvGrpSpPr>
        <p:cNvPr id="1" name=""/>
        <p:cNvGrpSpPr/>
        <p:nvPr/>
      </p:nvGrpSpPr>
      <p:grpSpPr>
        <a:xfrm>
          <a:off x="0" y="0"/>
          <a:ext cx="0" cy="0"/>
          <a:chOff x="0" y="0"/>
          <a:chExt cx="0" cy="0"/>
        </a:xfrm>
      </p:grpSpPr>
      <p:sp>
        <p:nvSpPr>
          <p:cNvPr id="2" name="Shape 0"/>
          <p:cNvSpPr/>
          <p:nvPr/>
        </p:nvSpPr>
        <p:spPr>
          <a:xfrm>
            <a:off x="685800" y="562356"/>
            <a:ext cx="237744" cy="12802"/>
          </a:xfrm>
          <a:prstGeom prst="rect">
            <a:avLst/>
          </a:prstGeom>
          <a:solidFill>
            <a:srgbClr val="9C5446"/>
          </a:solidFill>
          <a:ln/>
        </p:spPr>
      </p:sp>
      <p:sp>
        <p:nvSpPr>
          <p:cNvPr id="3" name="Text 1"/>
          <p:cNvSpPr txBox="1"/>
          <p:nvPr/>
        </p:nvSpPr>
        <p:spPr>
          <a:xfrm>
            <a:off x="996696" y="365760"/>
            <a:ext cx="7315200" cy="310896"/>
          </a:xfrm>
          <a:prstGeom prst="rect">
            <a:avLst/>
          </a:prstGeom>
          <a:noFill/>
          <a:ln/>
        </p:spPr>
        <p:txBody>
          <a:bodyPr wrap="square" lIns="0" tIns="0" rIns="0" bIns="0" rtlCol="0" anchor="ctr"/>
          <a:lstStyle/>
          <a:p>
            <a:pPr indent="0" marL="0">
              <a:buNone/>
            </a:pPr>
            <a:r>
              <a:rPr lang="en-US" sz="1400" b="1" spc="200" kern="0" dirty="0">
                <a:solidFill>
                  <a:srgbClr val="9C5446"/>
                </a:solidFill>
                <a:latin typeface="メイリオ" pitchFamily="34" charset="0"/>
                <a:ea typeface="メイリオ" pitchFamily="34" charset="-122"/>
                <a:cs typeface="メイリオ" pitchFamily="34" charset="-120"/>
              </a:rPr>
              <a:t>02   </a:t>
            </a:r>
            <a:pPr indent="0" marL="0">
              <a:buNone/>
            </a:pPr>
            <a:r>
              <a:rPr lang="en-US" sz="1400" spc="300" kern="0" dirty="0">
                <a:solidFill>
                  <a:srgbClr val="8B8175"/>
                </a:solidFill>
                <a:latin typeface="メイリオ" pitchFamily="34" charset="0"/>
                <a:ea typeface="メイリオ" pitchFamily="34" charset="-122"/>
                <a:cs typeface="メイリオ" pitchFamily="34" charset="-120"/>
              </a:rPr>
              <a:t>PROFILE</a:t>
            </a:r>
            <a:endParaRPr lang="en-US" sz="1400" dirty="0"/>
          </a:p>
        </p:txBody>
      </p:sp>
      <p:sp>
        <p:nvSpPr>
          <p:cNvPr id="4" name="Text 2"/>
          <p:cNvSpPr txBox="1"/>
          <p:nvPr/>
        </p:nvSpPr>
        <p:spPr>
          <a:xfrm>
            <a:off x="685800" y="777240"/>
            <a:ext cx="10820095" cy="777240"/>
          </a:xfrm>
          <a:prstGeom prst="rect">
            <a:avLst/>
          </a:prstGeom>
          <a:noFill/>
          <a:ln/>
        </p:spPr>
        <p:txBody>
          <a:bodyPr wrap="square" lIns="0" tIns="0" rIns="0" bIns="0" rtlCol="0" anchor="ctr"/>
          <a:lstStyle/>
          <a:p>
            <a:pPr indent="0" marL="0">
              <a:buNone/>
            </a:pPr>
            <a:r>
              <a:rPr lang="en-US" sz="2800" b="1" spc="100" kern="0" dirty="0">
                <a:solidFill>
                  <a:srgbClr val="2B2620"/>
                </a:solidFill>
                <a:latin typeface="メイリオ" pitchFamily="34" charset="0"/>
                <a:ea typeface="メイリオ" pitchFamily="34" charset="-122"/>
                <a:cs typeface="メイリオ" pitchFamily="34" charset="-120"/>
              </a:rPr>
              <a:t>臨床・育成・研究の3本を、12年しています</a:t>
            </a:r>
            <a:endParaRPr lang="en-US" sz="2800" dirty="0"/>
          </a:p>
        </p:txBody>
      </p:sp>
      <p:sp>
        <p:nvSpPr>
          <p:cNvPr id="5" name="Shape 3"/>
          <p:cNvSpPr/>
          <p:nvPr/>
        </p:nvSpPr>
        <p:spPr>
          <a:xfrm>
            <a:off x="685800" y="1691640"/>
            <a:ext cx="3456432" cy="2560320"/>
          </a:xfrm>
          <a:prstGeom prst="roundRect">
            <a:avLst>
              <a:gd name="adj" fmla="val 1786"/>
            </a:avLst>
          </a:prstGeom>
          <a:solidFill>
            <a:srgbClr val="FBF6EC"/>
          </a:solidFill>
          <a:ln w="9525">
            <a:solidFill>
              <a:srgbClr val="D2C4AE"/>
            </a:solidFill>
            <a:prstDash val="solid"/>
          </a:ln>
        </p:spPr>
      </p:sp>
      <p:sp>
        <p:nvSpPr>
          <p:cNvPr id="6" name="Text 4"/>
          <p:cNvSpPr txBox="1"/>
          <p:nvPr/>
        </p:nvSpPr>
        <p:spPr>
          <a:xfrm>
            <a:off x="941832" y="1856232"/>
            <a:ext cx="2944368" cy="274320"/>
          </a:xfrm>
          <a:prstGeom prst="rect">
            <a:avLst/>
          </a:prstGeom>
          <a:noFill/>
          <a:ln/>
        </p:spPr>
        <p:txBody>
          <a:bodyPr wrap="square" lIns="0" tIns="0" rIns="0" bIns="0" rtlCol="0" anchor="ctr"/>
          <a:lstStyle/>
          <a:p>
            <a:pPr indent="0" marL="0">
              <a:buNone/>
            </a:pPr>
            <a:r>
              <a:rPr lang="en-US" sz="1400" b="1" spc="100" kern="0" dirty="0">
                <a:solidFill>
                  <a:srgbClr val="9C5446"/>
                </a:solidFill>
                <a:latin typeface="メイリオ" pitchFamily="34" charset="0"/>
                <a:ea typeface="メイリオ" pitchFamily="34" charset="-122"/>
                <a:cs typeface="メイリオ" pitchFamily="34" charset="-120"/>
              </a:rPr>
              <a:t>臨床</a:t>
            </a:r>
            <a:endParaRPr lang="en-US" sz="1400" dirty="0"/>
          </a:p>
        </p:txBody>
      </p:sp>
      <p:sp>
        <p:nvSpPr>
          <p:cNvPr id="7" name="Text 5"/>
          <p:cNvSpPr txBox="1"/>
          <p:nvPr/>
        </p:nvSpPr>
        <p:spPr>
          <a:xfrm>
            <a:off x="941832" y="2185416"/>
            <a:ext cx="2944368" cy="457200"/>
          </a:xfrm>
          <a:prstGeom prst="rect">
            <a:avLst/>
          </a:prstGeom>
          <a:noFill/>
          <a:ln/>
        </p:spPr>
        <p:txBody>
          <a:bodyPr wrap="square" lIns="0" tIns="0" rIns="0" bIns="0" rtlCol="0" anchor="t"/>
          <a:lstStyle/>
          <a:p>
            <a:pPr indent="0" marL="0">
              <a:lnSpc>
                <a:spcPts val="2100"/>
              </a:lnSpc>
              <a:buNone/>
            </a:pPr>
            <a:r>
              <a:rPr lang="en-US" sz="1700" b="1" dirty="0">
                <a:solidFill>
                  <a:srgbClr val="2B2620"/>
                </a:solidFill>
                <a:latin typeface="メイリオ" pitchFamily="34" charset="0"/>
                <a:ea typeface="メイリオ" pitchFamily="34" charset="-122"/>
                <a:cs typeface="メイリオ" pitchFamily="34" charset="-120"/>
              </a:rPr>
              <a:t>はりきゅう処ここちめいど</a:t>
            </a:r>
            <a:endParaRPr lang="en-US" sz="1700" dirty="0"/>
          </a:p>
        </p:txBody>
      </p:sp>
      <p:sp>
        <p:nvSpPr>
          <p:cNvPr id="8" name="Text 6"/>
          <p:cNvSpPr txBox="1"/>
          <p:nvPr/>
        </p:nvSpPr>
        <p:spPr>
          <a:xfrm>
            <a:off x="941832" y="2697480"/>
            <a:ext cx="2944368" cy="1353312"/>
          </a:xfrm>
          <a:prstGeom prst="rect">
            <a:avLst/>
          </a:prstGeom>
          <a:noFill/>
          <a:ln/>
        </p:spPr>
        <p:txBody>
          <a:bodyPr wrap="square" lIns="0" tIns="0" rIns="0" bIns="0" rtlCol="0" anchor="t"/>
          <a:lstStyle/>
          <a:p>
            <a:pPr indent="0" marL="0">
              <a:lnSpc>
                <a:spcPts val="1700"/>
              </a:lnSpc>
              <a:buNone/>
            </a:pPr>
            <a:r>
              <a:rPr lang="en-US" sz="1400" dirty="0">
                <a:solidFill>
                  <a:srgbClr val="5A5249"/>
                </a:solidFill>
                <a:latin typeface="メイリオ" pitchFamily="34" charset="0"/>
                <a:ea typeface="メイリオ" pitchFamily="34" charset="-122"/>
                <a:cs typeface="メイリオ" pitchFamily="34" charset="-120"/>
              </a:rPr>
              <a:t>三重県四日市市。2015年開院、夜22時まで。心の不調を主訴とする方が中心です。2026年9月に町田院を開院予定。</a:t>
            </a:r>
            <a:endParaRPr lang="en-US" sz="1400" dirty="0"/>
          </a:p>
        </p:txBody>
      </p:sp>
      <p:sp>
        <p:nvSpPr>
          <p:cNvPr id="9" name="Shape 7"/>
          <p:cNvSpPr/>
          <p:nvPr/>
        </p:nvSpPr>
        <p:spPr>
          <a:xfrm>
            <a:off x="4370832" y="1691640"/>
            <a:ext cx="3456432" cy="2560320"/>
          </a:xfrm>
          <a:prstGeom prst="roundRect">
            <a:avLst>
              <a:gd name="adj" fmla="val 1786"/>
            </a:avLst>
          </a:prstGeom>
          <a:solidFill>
            <a:srgbClr val="FBF6EC"/>
          </a:solidFill>
          <a:ln w="9525">
            <a:solidFill>
              <a:srgbClr val="D2C4AE"/>
            </a:solidFill>
            <a:prstDash val="solid"/>
          </a:ln>
        </p:spPr>
      </p:sp>
      <p:sp>
        <p:nvSpPr>
          <p:cNvPr id="10" name="Text 8"/>
          <p:cNvSpPr txBox="1"/>
          <p:nvPr/>
        </p:nvSpPr>
        <p:spPr>
          <a:xfrm>
            <a:off x="4626864" y="1856232"/>
            <a:ext cx="2944368" cy="274320"/>
          </a:xfrm>
          <a:prstGeom prst="rect">
            <a:avLst/>
          </a:prstGeom>
          <a:noFill/>
          <a:ln/>
        </p:spPr>
        <p:txBody>
          <a:bodyPr wrap="square" lIns="0" tIns="0" rIns="0" bIns="0" rtlCol="0" anchor="ctr"/>
          <a:lstStyle/>
          <a:p>
            <a:pPr indent="0" marL="0">
              <a:buNone/>
            </a:pPr>
            <a:r>
              <a:rPr lang="en-US" sz="1400" b="1" spc="100" kern="0" dirty="0">
                <a:solidFill>
                  <a:srgbClr val="9C5446"/>
                </a:solidFill>
                <a:latin typeface="メイリオ" pitchFamily="34" charset="0"/>
                <a:ea typeface="メイリオ" pitchFamily="34" charset="-122"/>
                <a:cs typeface="メイリオ" pitchFamily="34" charset="-120"/>
              </a:rPr>
              <a:t>育成・コミュニティ</a:t>
            </a:r>
            <a:endParaRPr lang="en-US" sz="1400" dirty="0"/>
          </a:p>
        </p:txBody>
      </p:sp>
      <p:sp>
        <p:nvSpPr>
          <p:cNvPr id="11" name="Text 9"/>
          <p:cNvSpPr txBox="1"/>
          <p:nvPr/>
        </p:nvSpPr>
        <p:spPr>
          <a:xfrm>
            <a:off x="4626864" y="2185416"/>
            <a:ext cx="2944368" cy="457200"/>
          </a:xfrm>
          <a:prstGeom prst="rect">
            <a:avLst/>
          </a:prstGeom>
          <a:noFill/>
          <a:ln/>
        </p:spPr>
        <p:txBody>
          <a:bodyPr wrap="square" lIns="0" tIns="0" rIns="0" bIns="0" rtlCol="0" anchor="t"/>
          <a:lstStyle/>
          <a:p>
            <a:pPr indent="0" marL="0">
              <a:lnSpc>
                <a:spcPts val="2100"/>
              </a:lnSpc>
              <a:buNone/>
            </a:pPr>
            <a:r>
              <a:rPr lang="en-US" sz="1700" b="1" dirty="0">
                <a:solidFill>
                  <a:srgbClr val="2B2620"/>
                </a:solidFill>
                <a:latin typeface="メイリオ" pitchFamily="34" charset="0"/>
                <a:ea typeface="メイリオ" pitchFamily="34" charset="-122"/>
                <a:cs typeface="メイリオ" pitchFamily="34" charset="-120"/>
              </a:rPr>
              <a:t>ここちめいど／ここちはり</a:t>
            </a:r>
            <a:endParaRPr lang="en-US" sz="1700" dirty="0"/>
          </a:p>
        </p:txBody>
      </p:sp>
      <p:sp>
        <p:nvSpPr>
          <p:cNvPr id="12" name="Text 10"/>
          <p:cNvSpPr txBox="1"/>
          <p:nvPr/>
        </p:nvSpPr>
        <p:spPr>
          <a:xfrm>
            <a:off x="4626864" y="2697480"/>
            <a:ext cx="2944368" cy="1353312"/>
          </a:xfrm>
          <a:prstGeom prst="rect">
            <a:avLst/>
          </a:prstGeom>
          <a:noFill/>
          <a:ln/>
        </p:spPr>
        <p:txBody>
          <a:bodyPr wrap="square" lIns="0" tIns="0" rIns="0" bIns="0" rtlCol="0" anchor="t"/>
          <a:lstStyle/>
          <a:p>
            <a:pPr indent="0" marL="0">
              <a:lnSpc>
                <a:spcPts val="1700"/>
              </a:lnSpc>
              <a:buNone/>
            </a:pPr>
            <a:r>
              <a:rPr lang="en-US" sz="1400" dirty="0">
                <a:solidFill>
                  <a:srgbClr val="5A5249"/>
                </a:solidFill>
                <a:latin typeface="メイリオ" pitchFamily="34" charset="0"/>
                <a:ea typeface="メイリオ" pitchFamily="34" charset="-122"/>
                <a:cs typeface="メイリオ" pitchFamily="34" charset="-120"/>
              </a:rPr>
              <a:t>傾聴を学ぶ鍼灸師のオンラインサロンを2020年から主宰。2025年からは施術者の育成事業も開始しました</a:t>
            </a:r>
            <a:endParaRPr lang="en-US" sz="1400" dirty="0"/>
          </a:p>
        </p:txBody>
      </p:sp>
      <p:sp>
        <p:nvSpPr>
          <p:cNvPr id="13" name="Shape 11"/>
          <p:cNvSpPr/>
          <p:nvPr/>
        </p:nvSpPr>
        <p:spPr>
          <a:xfrm>
            <a:off x="8055864" y="1691640"/>
            <a:ext cx="3456432" cy="2560320"/>
          </a:xfrm>
          <a:prstGeom prst="roundRect">
            <a:avLst>
              <a:gd name="adj" fmla="val 1786"/>
            </a:avLst>
          </a:prstGeom>
          <a:solidFill>
            <a:srgbClr val="FBF6EC"/>
          </a:solidFill>
          <a:ln w="9525">
            <a:solidFill>
              <a:srgbClr val="D2C4AE"/>
            </a:solidFill>
            <a:prstDash val="solid"/>
          </a:ln>
        </p:spPr>
      </p:sp>
      <p:sp>
        <p:nvSpPr>
          <p:cNvPr id="14" name="Text 12"/>
          <p:cNvSpPr txBox="1"/>
          <p:nvPr/>
        </p:nvSpPr>
        <p:spPr>
          <a:xfrm>
            <a:off x="8311896" y="1856232"/>
            <a:ext cx="2944368" cy="274320"/>
          </a:xfrm>
          <a:prstGeom prst="rect">
            <a:avLst/>
          </a:prstGeom>
          <a:noFill/>
          <a:ln/>
        </p:spPr>
        <p:txBody>
          <a:bodyPr wrap="square" lIns="0" tIns="0" rIns="0" bIns="0" rtlCol="0" anchor="ctr"/>
          <a:lstStyle/>
          <a:p>
            <a:pPr indent="0" marL="0">
              <a:buNone/>
            </a:pPr>
            <a:r>
              <a:rPr lang="en-US" sz="1400" b="1" spc="100" kern="0" dirty="0">
                <a:solidFill>
                  <a:srgbClr val="9C5446"/>
                </a:solidFill>
                <a:latin typeface="メイリオ" pitchFamily="34" charset="0"/>
                <a:ea typeface="メイリオ" pitchFamily="34" charset="-122"/>
                <a:cs typeface="メイリオ" pitchFamily="34" charset="-120"/>
              </a:rPr>
              <a:t>研究</a:t>
            </a:r>
            <a:endParaRPr lang="en-US" sz="1400" dirty="0"/>
          </a:p>
        </p:txBody>
      </p:sp>
      <p:sp>
        <p:nvSpPr>
          <p:cNvPr id="15" name="Text 13"/>
          <p:cNvSpPr txBox="1"/>
          <p:nvPr/>
        </p:nvSpPr>
        <p:spPr>
          <a:xfrm>
            <a:off x="8311896" y="2185416"/>
            <a:ext cx="2944368" cy="457200"/>
          </a:xfrm>
          <a:prstGeom prst="rect">
            <a:avLst/>
          </a:prstGeom>
          <a:noFill/>
          <a:ln/>
        </p:spPr>
        <p:txBody>
          <a:bodyPr wrap="square" lIns="0" tIns="0" rIns="0" bIns="0" rtlCol="0" anchor="t"/>
          <a:lstStyle/>
          <a:p>
            <a:pPr indent="0" marL="0">
              <a:lnSpc>
                <a:spcPts val="2100"/>
              </a:lnSpc>
              <a:buNone/>
            </a:pPr>
            <a:r>
              <a:rPr lang="en-US" sz="1700" b="1" dirty="0">
                <a:solidFill>
                  <a:srgbClr val="2B2620"/>
                </a:solidFill>
                <a:latin typeface="メイリオ" pitchFamily="34" charset="0"/>
                <a:ea typeface="メイリオ" pitchFamily="34" charset="-122"/>
                <a:cs typeface="メイリオ" pitchFamily="34" charset="-120"/>
              </a:rPr>
              <a:t>学会発表・産学連携</a:t>
            </a:r>
            <a:endParaRPr lang="en-US" sz="1700" dirty="0"/>
          </a:p>
        </p:txBody>
      </p:sp>
      <p:sp>
        <p:nvSpPr>
          <p:cNvPr id="16" name="Text 14"/>
          <p:cNvSpPr txBox="1"/>
          <p:nvPr/>
        </p:nvSpPr>
        <p:spPr>
          <a:xfrm>
            <a:off x="8311896" y="2697480"/>
            <a:ext cx="2944368" cy="1353312"/>
          </a:xfrm>
          <a:prstGeom prst="rect">
            <a:avLst/>
          </a:prstGeom>
          <a:noFill/>
          <a:ln/>
        </p:spPr>
        <p:txBody>
          <a:bodyPr wrap="square" lIns="0" tIns="0" rIns="0" bIns="0" rtlCol="0" anchor="t"/>
          <a:lstStyle/>
          <a:p>
            <a:pPr indent="0" marL="0">
              <a:lnSpc>
                <a:spcPts val="1700"/>
              </a:lnSpc>
              <a:buNone/>
            </a:pPr>
            <a:r>
              <a:rPr lang="en-US" sz="1400" dirty="0">
                <a:solidFill>
                  <a:srgbClr val="5A5249"/>
                </a:solidFill>
                <a:latin typeface="メイリオ" pitchFamily="34" charset="0"/>
                <a:ea typeface="メイリオ" pitchFamily="34" charset="-122"/>
                <a:cs typeface="メイリオ" pitchFamily="34" charset="-120"/>
              </a:rPr>
              <a:t>全日本鍼灸学会・日本うつ病学会で発表し、日本東洋医学会、日本精神神経学会にも招待講演にて登壇。理化学研究所や大学との共同研究に参画。</a:t>
            </a:r>
            <a:endParaRPr lang="en-US" sz="1400" dirty="0"/>
          </a:p>
        </p:txBody>
      </p:sp>
      <p:sp>
        <p:nvSpPr>
          <p:cNvPr id="17" name="Shape 15"/>
          <p:cNvSpPr/>
          <p:nvPr/>
        </p:nvSpPr>
        <p:spPr>
          <a:xfrm>
            <a:off x="685800" y="4526280"/>
            <a:ext cx="10820095" cy="7315"/>
          </a:xfrm>
          <a:prstGeom prst="rect">
            <a:avLst/>
          </a:prstGeom>
          <a:solidFill>
            <a:srgbClr val="D2C4AE"/>
          </a:solidFill>
          <a:ln/>
        </p:spPr>
      </p:sp>
      <p:sp>
        <p:nvSpPr>
          <p:cNvPr id="18" name="Text 16"/>
          <p:cNvSpPr txBox="1"/>
          <p:nvPr/>
        </p:nvSpPr>
        <p:spPr>
          <a:xfrm>
            <a:off x="685800" y="4681728"/>
            <a:ext cx="2522144" cy="548640"/>
          </a:xfrm>
          <a:prstGeom prst="rect">
            <a:avLst/>
          </a:prstGeom>
          <a:noFill/>
          <a:ln/>
        </p:spPr>
        <p:txBody>
          <a:bodyPr wrap="square" lIns="0" tIns="0" rIns="0" bIns="0" rtlCol="0" anchor="ctr"/>
          <a:lstStyle/>
          <a:p>
            <a:pPr indent="0" marL="0">
              <a:buNone/>
            </a:pPr>
            <a:r>
              <a:rPr lang="en-US" sz="2600" b="1" dirty="0">
                <a:solidFill>
                  <a:srgbClr val="2B2620"/>
                </a:solidFill>
                <a:latin typeface="メイリオ" pitchFamily="34" charset="0"/>
                <a:ea typeface="メイリオ" pitchFamily="34" charset="-122"/>
                <a:cs typeface="メイリオ" pitchFamily="34" charset="-120"/>
              </a:rPr>
              <a:t>12年目</a:t>
            </a:r>
            <a:endParaRPr lang="en-US" sz="2600" dirty="0"/>
          </a:p>
        </p:txBody>
      </p:sp>
      <p:sp>
        <p:nvSpPr>
          <p:cNvPr id="19" name="Text 17"/>
          <p:cNvSpPr txBox="1"/>
          <p:nvPr/>
        </p:nvSpPr>
        <p:spPr>
          <a:xfrm>
            <a:off x="685800" y="5266944"/>
            <a:ext cx="2522144" cy="310896"/>
          </a:xfrm>
          <a:prstGeom prst="rect">
            <a:avLst/>
          </a:prstGeom>
          <a:noFill/>
          <a:ln/>
        </p:spPr>
        <p:txBody>
          <a:bodyPr wrap="square" lIns="0" tIns="0" rIns="0" bIns="0" rtlCol="0" anchor="ctr"/>
          <a:lstStyle/>
          <a:p>
            <a:pPr indent="0" marL="0">
              <a:buNone/>
            </a:pPr>
            <a:r>
              <a:rPr lang="en-US" sz="1400" spc="100" kern="0" dirty="0">
                <a:solidFill>
                  <a:srgbClr val="8B8175"/>
                </a:solidFill>
                <a:latin typeface="メイリオ" pitchFamily="34" charset="0"/>
                <a:ea typeface="メイリオ" pitchFamily="34" charset="-122"/>
                <a:cs typeface="メイリオ" pitchFamily="34" charset="-120"/>
              </a:rPr>
              <a:t>鍼灸院 開業</a:t>
            </a:r>
            <a:endParaRPr lang="en-US" sz="1400" dirty="0"/>
          </a:p>
        </p:txBody>
      </p:sp>
      <p:sp>
        <p:nvSpPr>
          <p:cNvPr id="20" name="Text 18"/>
          <p:cNvSpPr txBox="1"/>
          <p:nvPr/>
        </p:nvSpPr>
        <p:spPr>
          <a:xfrm>
            <a:off x="3390824" y="4681728"/>
            <a:ext cx="2522144" cy="548640"/>
          </a:xfrm>
          <a:prstGeom prst="rect">
            <a:avLst/>
          </a:prstGeom>
          <a:noFill/>
          <a:ln/>
        </p:spPr>
        <p:txBody>
          <a:bodyPr wrap="square" lIns="0" tIns="0" rIns="0" bIns="0" rtlCol="0" anchor="ctr"/>
          <a:lstStyle/>
          <a:p>
            <a:pPr indent="0" marL="0">
              <a:buNone/>
            </a:pPr>
            <a:r>
              <a:rPr lang="en-US" sz="2600" b="1" dirty="0">
                <a:solidFill>
                  <a:srgbClr val="2B2620"/>
                </a:solidFill>
                <a:latin typeface="メイリオ" pitchFamily="34" charset="0"/>
                <a:ea typeface="メイリオ" pitchFamily="34" charset="-122"/>
                <a:cs typeface="メイリオ" pitchFamily="34" charset="-120"/>
              </a:rPr>
              <a:t>20,000人+</a:t>
            </a:r>
            <a:endParaRPr lang="en-US" sz="2600" dirty="0"/>
          </a:p>
        </p:txBody>
      </p:sp>
      <p:sp>
        <p:nvSpPr>
          <p:cNvPr id="21" name="Text 19"/>
          <p:cNvSpPr txBox="1"/>
          <p:nvPr/>
        </p:nvSpPr>
        <p:spPr>
          <a:xfrm>
            <a:off x="3390824" y="5266944"/>
            <a:ext cx="2522144" cy="310896"/>
          </a:xfrm>
          <a:prstGeom prst="rect">
            <a:avLst/>
          </a:prstGeom>
          <a:noFill/>
          <a:ln/>
        </p:spPr>
        <p:txBody>
          <a:bodyPr wrap="square" lIns="0" tIns="0" rIns="0" bIns="0" rtlCol="0" anchor="ctr"/>
          <a:lstStyle/>
          <a:p>
            <a:pPr indent="0" marL="0">
              <a:buNone/>
            </a:pPr>
            <a:r>
              <a:rPr lang="en-US" sz="1400" spc="100" kern="0" dirty="0">
                <a:solidFill>
                  <a:srgbClr val="8B8175"/>
                </a:solidFill>
                <a:latin typeface="メイリオ" pitchFamily="34" charset="0"/>
                <a:ea typeface="メイリオ" pitchFamily="34" charset="-122"/>
                <a:cs typeface="メイリオ" pitchFamily="34" charset="-120"/>
              </a:rPr>
              <a:t>のべ臨床患者数</a:t>
            </a:r>
            <a:endParaRPr lang="en-US" sz="1400" dirty="0"/>
          </a:p>
        </p:txBody>
      </p:sp>
      <p:sp>
        <p:nvSpPr>
          <p:cNvPr id="22" name="Text 20"/>
          <p:cNvSpPr txBox="1"/>
          <p:nvPr/>
        </p:nvSpPr>
        <p:spPr>
          <a:xfrm>
            <a:off x="6095848" y="4681728"/>
            <a:ext cx="2522144" cy="548640"/>
          </a:xfrm>
          <a:prstGeom prst="rect">
            <a:avLst/>
          </a:prstGeom>
          <a:noFill/>
          <a:ln/>
        </p:spPr>
        <p:txBody>
          <a:bodyPr wrap="square" lIns="0" tIns="0" rIns="0" bIns="0" rtlCol="0" anchor="ctr"/>
          <a:lstStyle/>
          <a:p>
            <a:pPr indent="0" marL="0">
              <a:buNone/>
            </a:pPr>
            <a:r>
              <a:rPr lang="en-US" sz="2600" b="1" dirty="0">
                <a:solidFill>
                  <a:srgbClr val="2B2620"/>
                </a:solidFill>
                <a:latin typeface="メイリオ" pitchFamily="34" charset="0"/>
                <a:ea typeface="メイリオ" pitchFamily="34" charset="-122"/>
                <a:cs typeface="メイリオ" pitchFamily="34" charset="-120"/>
              </a:rPr>
              <a:t>4学会</a:t>
            </a:r>
            <a:endParaRPr lang="en-US" sz="2600" dirty="0"/>
          </a:p>
        </p:txBody>
      </p:sp>
      <p:sp>
        <p:nvSpPr>
          <p:cNvPr id="23" name="Text 21"/>
          <p:cNvSpPr txBox="1"/>
          <p:nvPr/>
        </p:nvSpPr>
        <p:spPr>
          <a:xfrm>
            <a:off x="6095848" y="5266944"/>
            <a:ext cx="2522144" cy="310896"/>
          </a:xfrm>
          <a:prstGeom prst="rect">
            <a:avLst/>
          </a:prstGeom>
          <a:noFill/>
          <a:ln/>
        </p:spPr>
        <p:txBody>
          <a:bodyPr wrap="square" lIns="0" tIns="0" rIns="0" bIns="0" rtlCol="0" anchor="ctr"/>
          <a:lstStyle/>
          <a:p>
            <a:pPr indent="0" marL="0">
              <a:buNone/>
            </a:pPr>
            <a:r>
              <a:rPr lang="en-US" sz="1400" spc="100" kern="0" dirty="0">
                <a:solidFill>
                  <a:srgbClr val="8B8175"/>
                </a:solidFill>
                <a:latin typeface="メイリオ" pitchFamily="34" charset="0"/>
                <a:ea typeface="メイリオ" pitchFamily="34" charset="-122"/>
                <a:cs typeface="メイリオ" pitchFamily="34" charset="-120"/>
              </a:rPr>
              <a:t>発表・登壇</a:t>
            </a:r>
            <a:endParaRPr lang="en-US" sz="1400" dirty="0"/>
          </a:p>
        </p:txBody>
      </p:sp>
      <p:sp>
        <p:nvSpPr>
          <p:cNvPr id="24" name="Text 22"/>
          <p:cNvSpPr txBox="1"/>
          <p:nvPr/>
        </p:nvSpPr>
        <p:spPr>
          <a:xfrm>
            <a:off x="8800871" y="4681728"/>
            <a:ext cx="2522144" cy="548640"/>
          </a:xfrm>
          <a:prstGeom prst="rect">
            <a:avLst/>
          </a:prstGeom>
          <a:noFill/>
          <a:ln/>
        </p:spPr>
        <p:txBody>
          <a:bodyPr wrap="square" lIns="0" tIns="0" rIns="0" bIns="0" rtlCol="0" anchor="ctr"/>
          <a:lstStyle/>
          <a:p>
            <a:pPr indent="0" marL="0">
              <a:buNone/>
            </a:pPr>
            <a:r>
              <a:rPr lang="en-US" sz="2600" b="1" dirty="0">
                <a:solidFill>
                  <a:srgbClr val="2B2620"/>
                </a:solidFill>
                <a:latin typeface="メイリオ" pitchFamily="34" charset="0"/>
                <a:ea typeface="メイリオ" pitchFamily="34" charset="-122"/>
                <a:cs typeface="メイリオ" pitchFamily="34" charset="-120"/>
              </a:rPr>
              <a:t>修士</a:t>
            </a:r>
            <a:endParaRPr lang="en-US" sz="2600" dirty="0"/>
          </a:p>
        </p:txBody>
      </p:sp>
      <p:sp>
        <p:nvSpPr>
          <p:cNvPr id="25" name="Text 23"/>
          <p:cNvSpPr txBox="1"/>
          <p:nvPr/>
        </p:nvSpPr>
        <p:spPr>
          <a:xfrm>
            <a:off x="8800871" y="5266944"/>
            <a:ext cx="2522144" cy="310896"/>
          </a:xfrm>
          <a:prstGeom prst="rect">
            <a:avLst/>
          </a:prstGeom>
          <a:noFill/>
          <a:ln/>
        </p:spPr>
        <p:txBody>
          <a:bodyPr wrap="square" lIns="0" tIns="0" rIns="0" bIns="0" rtlCol="0" anchor="ctr"/>
          <a:lstStyle/>
          <a:p>
            <a:pPr indent="0" marL="0">
              <a:buNone/>
            </a:pPr>
            <a:r>
              <a:rPr lang="en-US" sz="1400" spc="100" kern="0" dirty="0">
                <a:solidFill>
                  <a:srgbClr val="8B8175"/>
                </a:solidFill>
                <a:latin typeface="メイリオ" pitchFamily="34" charset="0"/>
                <a:ea typeface="メイリオ" pitchFamily="34" charset="-122"/>
                <a:cs typeface="メイリオ" pitchFamily="34" charset="-120"/>
              </a:rPr>
              <a:t>武蔵野大学大学院 人間学</a:t>
            </a:r>
            <a:endParaRPr lang="en-US" sz="1400" dirty="0"/>
          </a:p>
        </p:txBody>
      </p:sp>
      <p:sp>
        <p:nvSpPr>
          <p:cNvPr id="26" name="Text 24"/>
          <p:cNvSpPr txBox="1"/>
          <p:nvPr/>
        </p:nvSpPr>
        <p:spPr>
          <a:xfrm>
            <a:off x="685800" y="6336792"/>
            <a:ext cx="7315200" cy="274320"/>
          </a:xfrm>
          <a:prstGeom prst="rect">
            <a:avLst/>
          </a:prstGeom>
          <a:noFill/>
          <a:ln/>
        </p:spPr>
        <p:txBody>
          <a:bodyPr wrap="square" lIns="0" tIns="0" rIns="0" bIns="0" rtlCol="0" anchor="ctr"/>
          <a:lstStyle/>
          <a:p>
            <a:pPr indent="0" marL="0">
              <a:buNone/>
            </a:pPr>
            <a:r>
              <a:rPr lang="en-US" sz="1200" spc="100" kern="0" dirty="0">
                <a:solidFill>
                  <a:srgbClr val="8B8175"/>
                </a:solidFill>
                <a:latin typeface="メイリオ" pitchFamily="34" charset="0"/>
                <a:ea typeface="メイリオ" pitchFamily="34" charset="-122"/>
                <a:cs typeface="メイリオ" pitchFamily="34" charset="-120"/>
              </a:rPr>
              <a:t>米倉まな｜アポプラスステーション様 ご提案</a:t>
            </a:r>
            <a:endParaRPr lang="en-US" sz="1200" dirty="0"/>
          </a:p>
        </p:txBody>
      </p:sp>
      <p:sp>
        <p:nvSpPr>
          <p:cNvPr id="27" name="Text 25"/>
          <p:cNvSpPr txBox="1"/>
          <p:nvPr/>
        </p:nvSpPr>
        <p:spPr>
          <a:xfrm>
            <a:off x="8305495" y="6336792"/>
            <a:ext cx="3200400" cy="274320"/>
          </a:xfrm>
          <a:prstGeom prst="rect">
            <a:avLst/>
          </a:prstGeom>
          <a:noFill/>
          <a:ln/>
        </p:spPr>
        <p:txBody>
          <a:bodyPr wrap="square" lIns="0" tIns="0" rIns="0" bIns="0" rtlCol="0" anchor="ctr"/>
          <a:lstStyle/>
          <a:p>
            <a:pPr algn="r" indent="0" marL="0">
              <a:buNone/>
            </a:pPr>
            <a:r>
              <a:rPr lang="en-US" sz="1200" dirty="0">
                <a:solidFill>
                  <a:srgbClr val="8B8175"/>
                </a:solidFill>
                <a:latin typeface="メイリオ" pitchFamily="34" charset="0"/>
                <a:ea typeface="メイリオ" pitchFamily="34" charset="-122"/>
                <a:cs typeface="メイリオ" pitchFamily="34" charset="-120"/>
              </a:rPr>
              <a:t>0:50 → 1:20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ADB"/>
        </a:solidFill>
      </p:bgPr>
    </p:bg>
    <p:spTree>
      <p:nvGrpSpPr>
        <p:cNvPr id="1" name=""/>
        <p:cNvGrpSpPr/>
        <p:nvPr/>
      </p:nvGrpSpPr>
      <p:grpSpPr>
        <a:xfrm>
          <a:off x="0" y="0"/>
          <a:ext cx="0" cy="0"/>
          <a:chOff x="0" y="0"/>
          <a:chExt cx="0" cy="0"/>
        </a:xfrm>
      </p:grpSpPr>
      <p:sp>
        <p:nvSpPr>
          <p:cNvPr id="2" name="Shape 0"/>
          <p:cNvSpPr/>
          <p:nvPr/>
        </p:nvSpPr>
        <p:spPr>
          <a:xfrm>
            <a:off x="685800" y="562356"/>
            <a:ext cx="237744" cy="12802"/>
          </a:xfrm>
          <a:prstGeom prst="rect">
            <a:avLst/>
          </a:prstGeom>
          <a:solidFill>
            <a:srgbClr val="9C5446"/>
          </a:solidFill>
          <a:ln/>
        </p:spPr>
      </p:sp>
      <p:sp>
        <p:nvSpPr>
          <p:cNvPr id="3" name="Text 1"/>
          <p:cNvSpPr txBox="1"/>
          <p:nvPr/>
        </p:nvSpPr>
        <p:spPr>
          <a:xfrm>
            <a:off x="996696" y="365760"/>
            <a:ext cx="7315200" cy="310896"/>
          </a:xfrm>
          <a:prstGeom prst="rect">
            <a:avLst/>
          </a:prstGeom>
          <a:noFill/>
          <a:ln/>
        </p:spPr>
        <p:txBody>
          <a:bodyPr wrap="square" lIns="0" tIns="0" rIns="0" bIns="0" rtlCol="0" anchor="ctr"/>
          <a:lstStyle/>
          <a:p>
            <a:pPr indent="0" marL="0">
              <a:buNone/>
            </a:pPr>
            <a:r>
              <a:rPr lang="en-US" sz="1400" b="1" spc="200" kern="0" dirty="0">
                <a:solidFill>
                  <a:srgbClr val="9C5446"/>
                </a:solidFill>
                <a:latin typeface="メイリオ" pitchFamily="34" charset="0"/>
                <a:ea typeface="メイリオ" pitchFamily="34" charset="-122"/>
                <a:cs typeface="メイリオ" pitchFamily="34" charset="-120"/>
              </a:rPr>
              <a:t>03   </a:t>
            </a:r>
            <a:pPr indent="0" marL="0">
              <a:buNone/>
            </a:pPr>
            <a:r>
              <a:rPr lang="en-US" sz="1400" spc="300" kern="0" dirty="0">
                <a:solidFill>
                  <a:srgbClr val="8B8175"/>
                </a:solidFill>
                <a:latin typeface="メイリオ" pitchFamily="34" charset="0"/>
                <a:ea typeface="メイリオ" pitchFamily="34" charset="-122"/>
                <a:cs typeface="メイリオ" pitchFamily="34" charset="-120"/>
              </a:rPr>
              <a:t>STRENGTH</a:t>
            </a:r>
            <a:endParaRPr lang="en-US" sz="1400" dirty="0"/>
          </a:p>
        </p:txBody>
      </p:sp>
      <p:sp>
        <p:nvSpPr>
          <p:cNvPr id="4" name="Text 2"/>
          <p:cNvSpPr txBox="1"/>
          <p:nvPr/>
        </p:nvSpPr>
        <p:spPr>
          <a:xfrm>
            <a:off x="685800" y="777240"/>
            <a:ext cx="10820095" cy="777240"/>
          </a:xfrm>
          <a:prstGeom prst="rect">
            <a:avLst/>
          </a:prstGeom>
          <a:noFill/>
          <a:ln/>
        </p:spPr>
        <p:txBody>
          <a:bodyPr wrap="square" lIns="0" tIns="0" rIns="0" bIns="0" rtlCol="0" anchor="ctr"/>
          <a:lstStyle/>
          <a:p>
            <a:pPr indent="0" marL="0">
              <a:buNone/>
            </a:pPr>
            <a:r>
              <a:rPr lang="en-US" sz="2800" b="1" spc="100" kern="0" dirty="0">
                <a:solidFill>
                  <a:srgbClr val="2B2620"/>
                </a:solidFill>
                <a:latin typeface="メイリオ" pitchFamily="34" charset="0"/>
                <a:ea typeface="メイリオ" pitchFamily="34" charset="-122"/>
                <a:cs typeface="メイリオ" pitchFamily="34" charset="-120"/>
              </a:rPr>
              <a:t>企業の新規事業に、専門家として入ってきました</a:t>
            </a:r>
            <a:endParaRPr lang="en-US" sz="2800" dirty="0"/>
          </a:p>
        </p:txBody>
      </p:sp>
      <p:sp>
        <p:nvSpPr>
          <p:cNvPr id="5" name="Shape 3"/>
          <p:cNvSpPr/>
          <p:nvPr/>
        </p:nvSpPr>
        <p:spPr>
          <a:xfrm>
            <a:off x="685800" y="1691640"/>
            <a:ext cx="3456432" cy="2651760"/>
          </a:xfrm>
          <a:prstGeom prst="roundRect">
            <a:avLst>
              <a:gd name="adj" fmla="val 1724"/>
            </a:avLst>
          </a:prstGeom>
          <a:solidFill>
            <a:srgbClr val="FBF6EC"/>
          </a:solidFill>
          <a:ln w="9525">
            <a:solidFill>
              <a:srgbClr val="D2C4AE"/>
            </a:solidFill>
            <a:prstDash val="solid"/>
          </a:ln>
        </p:spPr>
      </p:sp>
      <p:sp>
        <p:nvSpPr>
          <p:cNvPr id="6" name="Text 4"/>
          <p:cNvSpPr txBox="1"/>
          <p:nvPr/>
        </p:nvSpPr>
        <p:spPr>
          <a:xfrm>
            <a:off x="941832" y="1856232"/>
            <a:ext cx="2944368" cy="274320"/>
          </a:xfrm>
          <a:prstGeom prst="rect">
            <a:avLst/>
          </a:prstGeom>
          <a:noFill/>
          <a:ln/>
        </p:spPr>
        <p:txBody>
          <a:bodyPr wrap="square" lIns="0" tIns="0" rIns="0" bIns="0" rtlCol="0" anchor="ctr"/>
          <a:lstStyle/>
          <a:p>
            <a:pPr indent="0" marL="0">
              <a:buNone/>
            </a:pPr>
            <a:r>
              <a:rPr lang="en-US" sz="1400" b="1" spc="100" kern="0" dirty="0">
                <a:solidFill>
                  <a:srgbClr val="9C5446"/>
                </a:solidFill>
                <a:latin typeface="メイリオ" pitchFamily="34" charset="0"/>
                <a:ea typeface="メイリオ" pitchFamily="34" charset="-122"/>
                <a:cs typeface="メイリオ" pitchFamily="34" charset="-120"/>
              </a:rPr>
              <a:t>パパゲーノ</a:t>
            </a:r>
            <a:endParaRPr lang="en-US" sz="1400" dirty="0"/>
          </a:p>
        </p:txBody>
      </p:sp>
      <p:sp>
        <p:nvSpPr>
          <p:cNvPr id="7" name="Text 5"/>
          <p:cNvSpPr txBox="1"/>
          <p:nvPr/>
        </p:nvSpPr>
        <p:spPr>
          <a:xfrm>
            <a:off x="941832" y="2185416"/>
            <a:ext cx="2944368" cy="457200"/>
          </a:xfrm>
          <a:prstGeom prst="rect">
            <a:avLst/>
          </a:prstGeom>
          <a:noFill/>
          <a:ln/>
        </p:spPr>
        <p:txBody>
          <a:bodyPr wrap="square" lIns="0" tIns="0" rIns="0" bIns="0" rtlCol="0" anchor="t"/>
          <a:lstStyle/>
          <a:p>
            <a:pPr indent="0" marL="0">
              <a:lnSpc>
                <a:spcPts val="2100"/>
              </a:lnSpc>
              <a:buNone/>
            </a:pPr>
            <a:r>
              <a:rPr lang="en-US" sz="1700" b="1" dirty="0">
                <a:solidFill>
                  <a:srgbClr val="2B2620"/>
                </a:solidFill>
                <a:latin typeface="メイリオ" pitchFamily="34" charset="0"/>
                <a:ea typeface="メイリオ" pitchFamily="34" charset="-122"/>
                <a:cs typeface="メイリオ" pitchFamily="34" charset="-120"/>
              </a:rPr>
              <a:t>アンバサダー認定 第一号</a:t>
            </a:r>
            <a:endParaRPr lang="en-US" sz="1700" dirty="0"/>
          </a:p>
        </p:txBody>
      </p:sp>
      <p:sp>
        <p:nvSpPr>
          <p:cNvPr id="8" name="Text 6"/>
          <p:cNvSpPr txBox="1"/>
          <p:nvPr/>
        </p:nvSpPr>
        <p:spPr>
          <a:xfrm>
            <a:off x="941832" y="2697480"/>
            <a:ext cx="2944368" cy="1444752"/>
          </a:xfrm>
          <a:prstGeom prst="rect">
            <a:avLst/>
          </a:prstGeom>
          <a:noFill/>
          <a:ln/>
        </p:spPr>
        <p:txBody>
          <a:bodyPr wrap="square" lIns="0" tIns="0" rIns="0" bIns="0" rtlCol="0" anchor="t"/>
          <a:lstStyle/>
          <a:p>
            <a:pPr indent="0" marL="0">
              <a:lnSpc>
                <a:spcPts val="1700"/>
              </a:lnSpc>
              <a:buNone/>
            </a:pPr>
            <a:r>
              <a:rPr lang="en-US" sz="1400" dirty="0">
                <a:solidFill>
                  <a:srgbClr val="5A5249"/>
                </a:solidFill>
                <a:latin typeface="メイリオ" pitchFamily="34" charset="0"/>
                <a:ea typeface="メイリオ" pitchFamily="34" charset="-122"/>
                <a:cs typeface="メイリオ" pitchFamily="34" charset="-120"/>
              </a:rPr>
              <a:t>就労継続支援B型への発注を通じ、精神障害のある方が担う事業に伴走。認定制度の第一号企業です。</a:t>
            </a:r>
            <a:endParaRPr lang="en-US" sz="1400" dirty="0"/>
          </a:p>
        </p:txBody>
      </p:sp>
      <p:sp>
        <p:nvSpPr>
          <p:cNvPr id="9" name="Shape 7"/>
          <p:cNvSpPr/>
          <p:nvPr/>
        </p:nvSpPr>
        <p:spPr>
          <a:xfrm>
            <a:off x="4370832" y="1691640"/>
            <a:ext cx="3456432" cy="2651760"/>
          </a:xfrm>
          <a:prstGeom prst="roundRect">
            <a:avLst>
              <a:gd name="adj" fmla="val 1724"/>
            </a:avLst>
          </a:prstGeom>
          <a:solidFill>
            <a:srgbClr val="FBF6EC"/>
          </a:solidFill>
          <a:ln w="9525">
            <a:solidFill>
              <a:srgbClr val="D2C4AE"/>
            </a:solidFill>
            <a:prstDash val="solid"/>
          </a:ln>
        </p:spPr>
      </p:sp>
      <p:sp>
        <p:nvSpPr>
          <p:cNvPr id="10" name="Text 8"/>
          <p:cNvSpPr txBox="1"/>
          <p:nvPr/>
        </p:nvSpPr>
        <p:spPr>
          <a:xfrm>
            <a:off x="4626864" y="1856232"/>
            <a:ext cx="2944368" cy="274320"/>
          </a:xfrm>
          <a:prstGeom prst="rect">
            <a:avLst/>
          </a:prstGeom>
          <a:noFill/>
          <a:ln/>
        </p:spPr>
        <p:txBody>
          <a:bodyPr wrap="square" lIns="0" tIns="0" rIns="0" bIns="0" rtlCol="0" anchor="ctr"/>
          <a:lstStyle/>
          <a:p>
            <a:pPr indent="0" marL="0">
              <a:buNone/>
            </a:pPr>
            <a:r>
              <a:rPr lang="en-US" sz="1400" b="1" spc="100" kern="0" dirty="0">
                <a:solidFill>
                  <a:srgbClr val="9C5446"/>
                </a:solidFill>
                <a:latin typeface="メイリオ" pitchFamily="34" charset="0"/>
                <a:ea typeface="メイリオ" pitchFamily="34" charset="-122"/>
                <a:cs typeface="メイリオ" pitchFamily="34" charset="-120"/>
              </a:rPr>
              <a:t>ファンコミュニケーションズ</a:t>
            </a:r>
            <a:endParaRPr lang="en-US" sz="1400" dirty="0"/>
          </a:p>
        </p:txBody>
      </p:sp>
      <p:sp>
        <p:nvSpPr>
          <p:cNvPr id="11" name="Text 9"/>
          <p:cNvSpPr txBox="1"/>
          <p:nvPr/>
        </p:nvSpPr>
        <p:spPr>
          <a:xfrm>
            <a:off x="4626864" y="2185416"/>
            <a:ext cx="2944368" cy="457200"/>
          </a:xfrm>
          <a:prstGeom prst="rect">
            <a:avLst/>
          </a:prstGeom>
          <a:noFill/>
          <a:ln/>
        </p:spPr>
        <p:txBody>
          <a:bodyPr wrap="square" lIns="0" tIns="0" rIns="0" bIns="0" rtlCol="0" anchor="t"/>
          <a:lstStyle/>
          <a:p>
            <a:pPr indent="0" marL="0">
              <a:lnSpc>
                <a:spcPts val="2100"/>
              </a:lnSpc>
              <a:buNone/>
            </a:pPr>
            <a:r>
              <a:rPr lang="en-US" sz="1700" b="1" dirty="0">
                <a:solidFill>
                  <a:srgbClr val="2B2620"/>
                </a:solidFill>
                <a:latin typeface="メイリオ" pitchFamily="34" charset="0"/>
                <a:ea typeface="メイリオ" pitchFamily="34" charset="-122"/>
                <a:cs typeface="メイリオ" pitchFamily="34" charset="-120"/>
              </a:rPr>
              <a:t>ThirdTalk（サードトーク）</a:t>
            </a:r>
            <a:endParaRPr lang="en-US" sz="1700" dirty="0"/>
          </a:p>
        </p:txBody>
      </p:sp>
      <p:sp>
        <p:nvSpPr>
          <p:cNvPr id="12" name="Text 10"/>
          <p:cNvSpPr txBox="1"/>
          <p:nvPr/>
        </p:nvSpPr>
        <p:spPr>
          <a:xfrm>
            <a:off x="4626864" y="2697480"/>
            <a:ext cx="2944368" cy="1444752"/>
          </a:xfrm>
          <a:prstGeom prst="rect">
            <a:avLst/>
          </a:prstGeom>
          <a:noFill/>
          <a:ln/>
        </p:spPr>
        <p:txBody>
          <a:bodyPr wrap="square" lIns="0" tIns="0" rIns="0" bIns="0" rtlCol="0" anchor="t"/>
          <a:lstStyle/>
          <a:p>
            <a:pPr indent="0" marL="0">
              <a:lnSpc>
                <a:spcPts val="1700"/>
              </a:lnSpc>
              <a:buNone/>
            </a:pPr>
            <a:r>
              <a:rPr lang="en-US" sz="1400" dirty="0">
                <a:solidFill>
                  <a:srgbClr val="5A5249"/>
                </a:solidFill>
                <a:latin typeface="メイリオ" pitchFamily="34" charset="0"/>
                <a:ea typeface="メイリオ" pitchFamily="34" charset="-122"/>
                <a:cs typeface="メイリオ" pitchFamily="34" charset="-120"/>
              </a:rPr>
              <a:t>「病院やカウンセリングに行く、その一歩手前」を想定したオンライン対話サービス。企画段階からご相談をいただきました。</a:t>
            </a:r>
            <a:endParaRPr lang="en-US" sz="1400" dirty="0"/>
          </a:p>
        </p:txBody>
      </p:sp>
      <p:sp>
        <p:nvSpPr>
          <p:cNvPr id="13" name="Shape 11"/>
          <p:cNvSpPr/>
          <p:nvPr/>
        </p:nvSpPr>
        <p:spPr>
          <a:xfrm>
            <a:off x="8055864" y="1691640"/>
            <a:ext cx="3456432" cy="2651760"/>
          </a:xfrm>
          <a:prstGeom prst="roundRect">
            <a:avLst>
              <a:gd name="adj" fmla="val 1724"/>
            </a:avLst>
          </a:prstGeom>
          <a:solidFill>
            <a:srgbClr val="FBF6EC"/>
          </a:solidFill>
          <a:ln w="9525">
            <a:solidFill>
              <a:srgbClr val="D2C4AE"/>
            </a:solidFill>
            <a:prstDash val="solid"/>
          </a:ln>
        </p:spPr>
      </p:sp>
      <p:sp>
        <p:nvSpPr>
          <p:cNvPr id="14" name="Text 12"/>
          <p:cNvSpPr txBox="1"/>
          <p:nvPr/>
        </p:nvSpPr>
        <p:spPr>
          <a:xfrm>
            <a:off x="8311896" y="1856232"/>
            <a:ext cx="2944368" cy="274320"/>
          </a:xfrm>
          <a:prstGeom prst="rect">
            <a:avLst/>
          </a:prstGeom>
          <a:noFill/>
          <a:ln/>
        </p:spPr>
        <p:txBody>
          <a:bodyPr wrap="square" lIns="0" tIns="0" rIns="0" bIns="0" rtlCol="0" anchor="ctr"/>
          <a:lstStyle/>
          <a:p>
            <a:pPr indent="0" marL="0">
              <a:buNone/>
            </a:pPr>
            <a:r>
              <a:rPr lang="en-US" sz="1400" b="1" spc="100" kern="0" dirty="0">
                <a:solidFill>
                  <a:srgbClr val="9C5446"/>
                </a:solidFill>
                <a:latin typeface="メイリオ" pitchFamily="34" charset="0"/>
                <a:ea typeface="メイリオ" pitchFamily="34" charset="-122"/>
                <a:cs typeface="メイリオ" pitchFamily="34" charset="-120"/>
              </a:rPr>
              <a:t>stand up</a:t>
            </a:r>
            <a:endParaRPr lang="en-US" sz="1400" dirty="0"/>
          </a:p>
        </p:txBody>
      </p:sp>
      <p:sp>
        <p:nvSpPr>
          <p:cNvPr id="15" name="Text 13"/>
          <p:cNvSpPr txBox="1"/>
          <p:nvPr/>
        </p:nvSpPr>
        <p:spPr>
          <a:xfrm>
            <a:off x="8311896" y="2185416"/>
            <a:ext cx="2944368" cy="457200"/>
          </a:xfrm>
          <a:prstGeom prst="rect">
            <a:avLst/>
          </a:prstGeom>
          <a:noFill/>
          <a:ln/>
        </p:spPr>
        <p:txBody>
          <a:bodyPr wrap="square" lIns="0" tIns="0" rIns="0" bIns="0" rtlCol="0" anchor="t"/>
          <a:lstStyle/>
          <a:p>
            <a:pPr indent="0" marL="0">
              <a:lnSpc>
                <a:spcPts val="2100"/>
              </a:lnSpc>
              <a:buNone/>
            </a:pPr>
            <a:r>
              <a:rPr lang="en-US" sz="1700" b="1" dirty="0">
                <a:solidFill>
                  <a:srgbClr val="2B2620"/>
                </a:solidFill>
                <a:latin typeface="メイリオ" pitchFamily="34" charset="0"/>
                <a:ea typeface="メイリオ" pitchFamily="34" charset="-122"/>
                <a:cs typeface="メイリオ" pitchFamily="34" charset="-120"/>
              </a:rPr>
              <a:t>アミューズメント事業</a:t>
            </a:r>
            <a:endParaRPr lang="en-US" sz="1700" dirty="0"/>
          </a:p>
        </p:txBody>
      </p:sp>
      <p:sp>
        <p:nvSpPr>
          <p:cNvPr id="16" name="Text 14"/>
          <p:cNvSpPr txBox="1"/>
          <p:nvPr/>
        </p:nvSpPr>
        <p:spPr>
          <a:xfrm>
            <a:off x="8311896" y="2697480"/>
            <a:ext cx="2944368" cy="1444752"/>
          </a:xfrm>
          <a:prstGeom prst="rect">
            <a:avLst/>
          </a:prstGeom>
          <a:noFill/>
          <a:ln/>
        </p:spPr>
        <p:txBody>
          <a:bodyPr wrap="square" lIns="0" tIns="0" rIns="0" bIns="0" rtlCol="0" anchor="t"/>
          <a:lstStyle/>
          <a:p>
            <a:pPr indent="0" marL="0">
              <a:lnSpc>
                <a:spcPts val="1700"/>
              </a:lnSpc>
              <a:buNone/>
            </a:pPr>
            <a:r>
              <a:rPr lang="en-US" sz="1400" dirty="0">
                <a:solidFill>
                  <a:srgbClr val="5A5249"/>
                </a:solidFill>
                <a:latin typeface="メイリオ" pitchFamily="34" charset="0"/>
                <a:ea typeface="メイリオ" pitchFamily="34" charset="-122"/>
                <a:cs typeface="メイリオ" pitchFamily="34" charset="-120"/>
              </a:rPr>
              <a:t>新規事業の立ち上げについてご相談をいただき、現在もお取引が続いています。医療以外の業種にも入っています。</a:t>
            </a:r>
            <a:endParaRPr lang="en-US" sz="1400" dirty="0"/>
          </a:p>
        </p:txBody>
      </p:sp>
      <p:sp>
        <p:nvSpPr>
          <p:cNvPr id="17" name="Shape 15"/>
          <p:cNvSpPr/>
          <p:nvPr/>
        </p:nvSpPr>
        <p:spPr>
          <a:xfrm>
            <a:off x="685800" y="4526280"/>
            <a:ext cx="10820095" cy="1143000"/>
          </a:xfrm>
          <a:prstGeom prst="roundRect">
            <a:avLst>
              <a:gd name="adj" fmla="val 4000"/>
            </a:avLst>
          </a:prstGeom>
          <a:solidFill>
            <a:srgbClr val="FBF6EC"/>
          </a:solidFill>
          <a:ln w="9525">
            <a:solidFill>
              <a:srgbClr val="5E7060"/>
            </a:solidFill>
            <a:prstDash val="solid"/>
          </a:ln>
        </p:spPr>
      </p:sp>
      <p:sp>
        <p:nvSpPr>
          <p:cNvPr id="18" name="Text 16"/>
          <p:cNvSpPr txBox="1"/>
          <p:nvPr/>
        </p:nvSpPr>
        <p:spPr>
          <a:xfrm>
            <a:off x="960120" y="4727448"/>
            <a:ext cx="10271455" cy="237744"/>
          </a:xfrm>
          <a:prstGeom prst="rect">
            <a:avLst/>
          </a:prstGeom>
          <a:noFill/>
          <a:ln/>
        </p:spPr>
        <p:txBody>
          <a:bodyPr wrap="square" lIns="0" tIns="0" rIns="0" bIns="0" rtlCol="0" anchor="ctr"/>
          <a:lstStyle/>
          <a:p>
            <a:pPr indent="0" marL="0">
              <a:buNone/>
            </a:pPr>
            <a:r>
              <a:rPr lang="en-US" sz="1200" b="1" spc="100" kern="0" dirty="0">
                <a:solidFill>
                  <a:srgbClr val="5E7060"/>
                </a:solidFill>
                <a:latin typeface="メイリオ" pitchFamily="34" charset="0"/>
                <a:ea typeface="メイリオ" pitchFamily="34" charset="-122"/>
                <a:cs typeface="メイリオ" pitchFamily="34" charset="-120"/>
              </a:rPr>
              <a:t>共通してやってきたこと</a:t>
            </a:r>
            <a:endParaRPr lang="en-US" sz="1200" dirty="0"/>
          </a:p>
        </p:txBody>
      </p:sp>
      <p:sp>
        <p:nvSpPr>
          <p:cNvPr id="19" name="Text 17"/>
          <p:cNvSpPr txBox="1"/>
          <p:nvPr/>
        </p:nvSpPr>
        <p:spPr>
          <a:xfrm>
            <a:off x="960120" y="5038344"/>
            <a:ext cx="10271455" cy="411480"/>
          </a:xfrm>
          <a:prstGeom prst="rect">
            <a:avLst/>
          </a:prstGeom>
          <a:noFill/>
          <a:ln/>
        </p:spPr>
        <p:txBody>
          <a:bodyPr wrap="square" lIns="0" tIns="0" rIns="0" bIns="0" rtlCol="0" anchor="t"/>
          <a:lstStyle/>
          <a:p>
            <a:pPr indent="0" marL="0">
              <a:lnSpc>
                <a:spcPts val="1900"/>
              </a:lnSpc>
              <a:buNone/>
            </a:pPr>
            <a:r>
              <a:rPr lang="en-US" sz="1400" dirty="0">
                <a:solidFill>
                  <a:srgbClr val="5A5249"/>
                </a:solidFill>
                <a:latin typeface="メイリオ" pitchFamily="34" charset="0"/>
                <a:ea typeface="メイリオ" pitchFamily="34" charset="-122"/>
                <a:cs typeface="メイリオ" pitchFamily="34" charset="-120"/>
              </a:rPr>
              <a:t>なかでもThirdTalkは、今日お話ししてきた</a:t>
            </a:r>
            <a:pPr indent="0" marL="0">
              <a:lnSpc>
                <a:spcPts val="1900"/>
              </a:lnSpc>
              <a:buNone/>
            </a:pPr>
            <a:r>
              <a:rPr lang="en-US" sz="1400" b="1" dirty="0">
                <a:solidFill>
                  <a:srgbClr val="2B2620"/>
                </a:solidFill>
                <a:latin typeface="メイリオ" pitchFamily="34" charset="0"/>
                <a:ea typeface="メイリオ" pitchFamily="34" charset="-122"/>
                <a:cs typeface="メイリオ" pitchFamily="34" charset="-120"/>
              </a:rPr>
              <a:t>「病院の一歩手前」という発想を、そのまま事業にしたもの</a:t>
            </a:r>
            <a:pPr indent="0" marL="0">
              <a:lnSpc>
                <a:spcPts val="1900"/>
              </a:lnSpc>
              <a:buNone/>
            </a:pPr>
            <a:r>
              <a:rPr lang="en-US" sz="1400" dirty="0">
                <a:solidFill>
                  <a:srgbClr val="5A5249"/>
                </a:solidFill>
                <a:latin typeface="メイリオ" pitchFamily="34" charset="0"/>
                <a:ea typeface="メイリオ" pitchFamily="34" charset="-122"/>
                <a:cs typeface="メイリオ" pitchFamily="34" charset="-120"/>
              </a:rPr>
              <a:t>でした。</a:t>
            </a:r>
            <a:endParaRPr lang="en-US" sz="1400" dirty="0"/>
          </a:p>
        </p:txBody>
      </p:sp>
      <p:sp>
        <p:nvSpPr>
          <p:cNvPr id="20" name="Text 18"/>
          <p:cNvSpPr txBox="1"/>
          <p:nvPr/>
        </p:nvSpPr>
        <p:spPr>
          <a:xfrm>
            <a:off x="685800" y="5833872"/>
            <a:ext cx="10820095" cy="457200"/>
          </a:xfrm>
          <a:prstGeom prst="rect">
            <a:avLst/>
          </a:prstGeom>
          <a:noFill/>
          <a:ln/>
        </p:spPr>
        <p:txBody>
          <a:bodyPr wrap="square" lIns="0" tIns="0" rIns="0" bIns="0" rtlCol="0" anchor="t"/>
          <a:lstStyle/>
          <a:p>
            <a:pPr indent="0" marL="0">
              <a:lnSpc>
                <a:spcPts val="1500"/>
              </a:lnSpc>
              <a:buNone/>
            </a:pPr>
            <a:r>
              <a:rPr lang="en-US" sz="1100" dirty="0">
                <a:solidFill>
                  <a:srgbClr val="8B8175"/>
                </a:solidFill>
                <a:latin typeface="メイリオ" pitchFamily="34" charset="0"/>
                <a:ea typeface="メイリオ" pitchFamily="34" charset="-122"/>
                <a:cs typeface="メイリオ" pitchFamily="34" charset="-120"/>
              </a:rPr>
              <a:t>出典：株式会社ファンコミュニケーションズ ニュースリリース（2022.8.26）／株式会社パパゲーノ プレスリリース</a:t>
            </a:r>
            <a:endParaRPr lang="en-US" sz="1100" dirty="0"/>
          </a:p>
        </p:txBody>
      </p:sp>
      <p:sp>
        <p:nvSpPr>
          <p:cNvPr id="21" name="Text 19"/>
          <p:cNvSpPr txBox="1"/>
          <p:nvPr/>
        </p:nvSpPr>
        <p:spPr>
          <a:xfrm>
            <a:off x="685800" y="6336792"/>
            <a:ext cx="7315200" cy="274320"/>
          </a:xfrm>
          <a:prstGeom prst="rect">
            <a:avLst/>
          </a:prstGeom>
          <a:noFill/>
          <a:ln/>
        </p:spPr>
        <p:txBody>
          <a:bodyPr wrap="square" lIns="0" tIns="0" rIns="0" bIns="0" rtlCol="0" anchor="ctr"/>
          <a:lstStyle/>
          <a:p>
            <a:pPr indent="0" marL="0">
              <a:buNone/>
            </a:pPr>
            <a:r>
              <a:rPr lang="en-US" sz="1200" spc="100" kern="0" dirty="0">
                <a:solidFill>
                  <a:srgbClr val="8B8175"/>
                </a:solidFill>
                <a:latin typeface="メイリオ" pitchFamily="34" charset="0"/>
                <a:ea typeface="メイリオ" pitchFamily="34" charset="-122"/>
                <a:cs typeface="メイリオ" pitchFamily="34" charset="-120"/>
              </a:rPr>
              <a:t>米倉まな｜アポプラスステーション様 ご提案</a:t>
            </a:r>
            <a:endParaRPr lang="en-US" sz="1200" dirty="0"/>
          </a:p>
        </p:txBody>
      </p:sp>
      <p:sp>
        <p:nvSpPr>
          <p:cNvPr id="22" name="Text 20"/>
          <p:cNvSpPr txBox="1"/>
          <p:nvPr/>
        </p:nvSpPr>
        <p:spPr>
          <a:xfrm>
            <a:off x="8305495" y="6336792"/>
            <a:ext cx="3200400" cy="274320"/>
          </a:xfrm>
          <a:prstGeom prst="rect">
            <a:avLst/>
          </a:prstGeom>
          <a:noFill/>
          <a:ln/>
        </p:spPr>
        <p:txBody>
          <a:bodyPr wrap="square" lIns="0" tIns="0" rIns="0" bIns="0" rtlCol="0" anchor="ctr"/>
          <a:lstStyle/>
          <a:p>
            <a:pPr algn="r" indent="0" marL="0">
              <a:buNone/>
            </a:pPr>
            <a:r>
              <a:rPr lang="en-US" sz="1200" dirty="0">
                <a:solidFill>
                  <a:srgbClr val="8B8175"/>
                </a:solidFill>
                <a:latin typeface="メイリオ" pitchFamily="34" charset="0"/>
                <a:ea typeface="メイリオ" pitchFamily="34" charset="-122"/>
                <a:cs typeface="メイリオ" pitchFamily="34" charset="-120"/>
              </a:rPr>
              <a:t>1:20 → 1:55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ADB"/>
        </a:solidFill>
      </p:bgPr>
    </p:bg>
    <p:spTree>
      <p:nvGrpSpPr>
        <p:cNvPr id="1" name=""/>
        <p:cNvGrpSpPr/>
        <p:nvPr/>
      </p:nvGrpSpPr>
      <p:grpSpPr>
        <a:xfrm>
          <a:off x="0" y="0"/>
          <a:ext cx="0" cy="0"/>
          <a:chOff x="0" y="0"/>
          <a:chExt cx="0" cy="0"/>
        </a:xfrm>
      </p:grpSpPr>
      <p:sp>
        <p:nvSpPr>
          <p:cNvPr id="2" name="Shape 0"/>
          <p:cNvSpPr/>
          <p:nvPr/>
        </p:nvSpPr>
        <p:spPr>
          <a:xfrm>
            <a:off x="685800" y="562356"/>
            <a:ext cx="237744" cy="12802"/>
          </a:xfrm>
          <a:prstGeom prst="rect">
            <a:avLst/>
          </a:prstGeom>
          <a:solidFill>
            <a:srgbClr val="9C5446"/>
          </a:solidFill>
          <a:ln/>
        </p:spPr>
      </p:sp>
      <p:sp>
        <p:nvSpPr>
          <p:cNvPr id="3" name="Text 1"/>
          <p:cNvSpPr txBox="1"/>
          <p:nvPr/>
        </p:nvSpPr>
        <p:spPr>
          <a:xfrm>
            <a:off x="996696" y="365760"/>
            <a:ext cx="7315200" cy="310896"/>
          </a:xfrm>
          <a:prstGeom prst="rect">
            <a:avLst/>
          </a:prstGeom>
          <a:noFill/>
          <a:ln/>
        </p:spPr>
        <p:txBody>
          <a:bodyPr wrap="square" lIns="0" tIns="0" rIns="0" bIns="0" rtlCol="0" anchor="ctr"/>
          <a:lstStyle/>
          <a:p>
            <a:pPr indent="0" marL="0">
              <a:buNone/>
            </a:pPr>
            <a:r>
              <a:rPr lang="en-US" sz="1400" b="1" spc="200" kern="0" dirty="0">
                <a:solidFill>
                  <a:srgbClr val="9C5446"/>
                </a:solidFill>
                <a:latin typeface="メイリオ" pitchFamily="34" charset="0"/>
                <a:ea typeface="メイリオ" pitchFamily="34" charset="-122"/>
                <a:cs typeface="メイリオ" pitchFamily="34" charset="-120"/>
              </a:rPr>
              <a:t>04   </a:t>
            </a:r>
            <a:pPr indent="0" marL="0">
              <a:buNone/>
            </a:pPr>
            <a:r>
              <a:rPr lang="en-US" sz="1400" spc="300" kern="0" dirty="0">
                <a:solidFill>
                  <a:srgbClr val="8B8175"/>
                </a:solidFill>
                <a:latin typeface="メイリオ" pitchFamily="34" charset="0"/>
                <a:ea typeface="メイリオ" pitchFamily="34" charset="-122"/>
                <a:cs typeface="メイリオ" pitchFamily="34" charset="-120"/>
              </a:rPr>
              <a:t>ACTION</a:t>
            </a:r>
            <a:endParaRPr lang="en-US" sz="1400" dirty="0"/>
          </a:p>
        </p:txBody>
      </p:sp>
      <p:sp>
        <p:nvSpPr>
          <p:cNvPr id="4" name="Text 2"/>
          <p:cNvSpPr txBox="1"/>
          <p:nvPr/>
        </p:nvSpPr>
        <p:spPr>
          <a:xfrm>
            <a:off x="685800" y="777240"/>
            <a:ext cx="10820095" cy="777240"/>
          </a:xfrm>
          <a:prstGeom prst="rect">
            <a:avLst/>
          </a:prstGeom>
          <a:noFill/>
          <a:ln/>
        </p:spPr>
        <p:txBody>
          <a:bodyPr wrap="square" lIns="0" tIns="0" rIns="0" bIns="0" rtlCol="0" anchor="ctr"/>
          <a:lstStyle/>
          <a:p>
            <a:pPr indent="0" marL="0">
              <a:buNone/>
            </a:pPr>
            <a:r>
              <a:rPr lang="en-US" sz="2800" b="1" spc="100" kern="0" dirty="0">
                <a:solidFill>
                  <a:srgbClr val="2B2620"/>
                </a:solidFill>
                <a:latin typeface="メイリオ" pitchFamily="34" charset="0"/>
                <a:ea typeface="メイリオ" pitchFamily="34" charset="-122"/>
                <a:cs typeface="メイリオ" pitchFamily="34" charset="-120"/>
              </a:rPr>
              <a:t>新規事業「ねここち」を立ち上げます</a:t>
            </a:r>
            <a:endParaRPr lang="en-US" sz="2800" dirty="0"/>
          </a:p>
        </p:txBody>
      </p:sp>
      <p:sp>
        <p:nvSpPr>
          <p:cNvPr id="5" name="Text 3"/>
          <p:cNvSpPr txBox="1"/>
          <p:nvPr/>
        </p:nvSpPr>
        <p:spPr>
          <a:xfrm>
            <a:off x="685800" y="1874520"/>
            <a:ext cx="6675120" cy="3840480"/>
          </a:xfrm>
          <a:prstGeom prst="rect">
            <a:avLst/>
          </a:prstGeom>
          <a:noFill/>
          <a:ln/>
        </p:spPr>
        <p:txBody>
          <a:bodyPr wrap="square" lIns="0" tIns="0" rIns="0" bIns="0" rtlCol="0" anchor="t"/>
          <a:lstStyle/>
          <a:p>
            <a:pPr marL="342900" indent="-342900">
              <a:lnSpc>
                <a:spcPts val="2400"/>
              </a:lnSpc>
              <a:buSzPct val="100000"/>
              <a:buChar char="•"/>
            </a:pPr>
            <a:r>
              <a:rPr lang="en-US" sz="1400" b="1" dirty="0">
                <a:solidFill>
                  <a:srgbClr val="2B2620"/>
                </a:solidFill>
                <a:latin typeface="メイリオ" pitchFamily="34" charset="0"/>
                <a:ea typeface="メイリオ" pitchFamily="34" charset="-122"/>
                <a:cs typeface="メイリオ" pitchFamily="34" charset="-120"/>
              </a:rPr>
              <a:t>ねここち</a:t>
            </a:r>
            <a:pPr indent="0" marL="0">
              <a:lnSpc>
                <a:spcPts val="2400"/>
              </a:lnSpc>
              <a:spcAft>
                <a:spcPts val="1000"/>
              </a:spcAft>
              <a:buNone/>
            </a:pPr>
            <a:r>
              <a:rPr lang="en-US" sz="1400" dirty="0">
                <a:solidFill>
                  <a:srgbClr val="5A5249"/>
                </a:solidFill>
                <a:latin typeface="メイリオ" pitchFamily="34" charset="0"/>
                <a:ea typeface="メイリオ" pitchFamily="34" charset="-122"/>
                <a:cs typeface="メイリオ" pitchFamily="34" charset="-120"/>
              </a:rPr>
              <a:t>／頭オフ事業。考えごとで止まらない頭を、強制的にオフにする時間を売ります。いま準備中です。</a:t>
            </a:r>
            <a:endParaRPr lang="en-US" sz="1400" dirty="0"/>
          </a:p>
          <a:p>
            <a:pPr marL="342900" indent="-342900">
              <a:lnSpc>
                <a:spcPts val="2400"/>
              </a:lnSpc>
              <a:buSzPct val="100000"/>
              <a:buChar char="•"/>
            </a:pPr>
            <a:r>
              <a:rPr lang="en-US" sz="1400" dirty="0">
                <a:solidFill>
                  <a:srgbClr val="5A5249"/>
                </a:solidFill>
                <a:latin typeface="メイリオ" pitchFamily="34" charset="0"/>
                <a:ea typeface="メイリオ" pitchFamily="34" charset="-122"/>
                <a:cs typeface="メイリオ" pitchFamily="34" charset="-120"/>
              </a:rPr>
              <a:t>扱うのは睡眠そのものではなく、</a:t>
            </a:r>
            <a:pPr indent="0" marL="0">
              <a:lnSpc>
                <a:spcPts val="2400"/>
              </a:lnSpc>
              <a:buNone/>
            </a:pPr>
            <a:r>
              <a:rPr lang="en-US" sz="1400" b="1" dirty="0">
                <a:solidFill>
                  <a:srgbClr val="2B2620"/>
                </a:solidFill>
                <a:latin typeface="メイリオ" pitchFamily="34" charset="0"/>
                <a:ea typeface="メイリオ" pitchFamily="34" charset="-122"/>
                <a:cs typeface="メイリオ" pitchFamily="34" charset="-120"/>
              </a:rPr>
              <a:t>思考が止まらない状態</a:t>
            </a:r>
            <a:pPr indent="0" marL="0">
              <a:lnSpc>
                <a:spcPts val="2400"/>
              </a:lnSpc>
              <a:spcAft>
                <a:spcPts val="1000"/>
              </a:spcAft>
              <a:buNone/>
            </a:pPr>
            <a:r>
              <a:rPr lang="en-US" sz="1400" dirty="0">
                <a:solidFill>
                  <a:srgbClr val="5A5249"/>
                </a:solidFill>
                <a:latin typeface="メイリオ" pitchFamily="34" charset="0"/>
                <a:ea typeface="メイリオ" pitchFamily="34" charset="-122"/>
                <a:cs typeface="メイリオ" pitchFamily="34" charset="-120"/>
              </a:rPr>
              <a:t>です。眠れないの手前にある、頭が休まらない時間を扱います。</a:t>
            </a:r>
            <a:endParaRPr lang="en-US" sz="1400" dirty="0"/>
          </a:p>
          <a:p>
            <a:pPr marL="342900" indent="-342900">
              <a:lnSpc>
                <a:spcPts val="2400"/>
              </a:lnSpc>
              <a:buSzPct val="100000"/>
              <a:buChar char="•"/>
            </a:pPr>
            <a:r>
              <a:rPr lang="en-US" sz="1400" dirty="0">
                <a:solidFill>
                  <a:srgbClr val="5A5249"/>
                </a:solidFill>
                <a:latin typeface="メイリオ" pitchFamily="34" charset="0"/>
                <a:ea typeface="メイリオ" pitchFamily="34" charset="-122"/>
                <a:cs typeface="メイリオ" pitchFamily="34" charset="-120"/>
              </a:rPr>
              <a:t>施術は</a:t>
            </a:r>
            <a:pPr indent="0" marL="0">
              <a:lnSpc>
                <a:spcPts val="2400"/>
              </a:lnSpc>
              <a:buNone/>
            </a:pPr>
            <a:r>
              <a:rPr lang="en-US" sz="1400" b="1" dirty="0">
                <a:solidFill>
                  <a:srgbClr val="2B2620"/>
                </a:solidFill>
                <a:latin typeface="メイリオ" pitchFamily="34" charset="0"/>
                <a:ea typeface="メイリオ" pitchFamily="34" charset="-122"/>
                <a:cs typeface="メイリオ" pitchFamily="34" charset="-120"/>
              </a:rPr>
              <a:t>鍼灸師の国家資格を持つ人</a:t>
            </a:r>
            <a:pPr indent="0" marL="0">
              <a:lnSpc>
                <a:spcPts val="2400"/>
              </a:lnSpc>
              <a:spcAft>
                <a:spcPts val="1000"/>
              </a:spcAft>
              <a:buNone/>
            </a:pPr>
            <a:r>
              <a:rPr lang="en-US" sz="1400" dirty="0">
                <a:solidFill>
                  <a:srgbClr val="5A5249"/>
                </a:solidFill>
                <a:latin typeface="メイリオ" pitchFamily="34" charset="0"/>
                <a:ea typeface="メイリオ" pitchFamily="34" charset="-122"/>
                <a:cs typeface="メイリオ" pitchFamily="34" charset="-120"/>
              </a:rPr>
              <a:t>が行います。医療の知識を持つ人が、治療の手前の層に関わる形です。</a:t>
            </a:r>
            <a:endParaRPr lang="en-US" sz="1400" dirty="0"/>
          </a:p>
          <a:p>
            <a:pPr marL="342900" indent="-342900">
              <a:lnSpc>
                <a:spcPts val="2400"/>
              </a:lnSpc>
              <a:buSzPct val="100000"/>
              <a:buChar char="•"/>
            </a:pPr>
            <a:r>
              <a:rPr lang="en-US" sz="1400" dirty="0">
                <a:solidFill>
                  <a:srgbClr val="5A5249"/>
                </a:solidFill>
                <a:latin typeface="メイリオ" pitchFamily="34" charset="0"/>
                <a:ea typeface="メイリオ" pitchFamily="34" charset="-122"/>
                <a:cs typeface="メイリオ" pitchFamily="34" charset="-120"/>
              </a:rPr>
              <a:t>「治療」と身構えずに入れる入口をつくり、</a:t>
            </a:r>
            <a:pPr indent="0" marL="0">
              <a:lnSpc>
                <a:spcPts val="2400"/>
              </a:lnSpc>
              <a:buNone/>
            </a:pPr>
            <a:r>
              <a:rPr lang="en-US" sz="1400" b="1" dirty="0">
                <a:solidFill>
                  <a:srgbClr val="2B2620"/>
                </a:solidFill>
                <a:latin typeface="メイリオ" pitchFamily="34" charset="0"/>
                <a:ea typeface="メイリオ" pitchFamily="34" charset="-122"/>
                <a:cs typeface="メイリオ" pitchFamily="34" charset="-120"/>
              </a:rPr>
              <a:t>必要な人だけを鍼灸や医療につなぐ</a:t>
            </a:r>
            <a:pPr indent="0" marL="0">
              <a:lnSpc>
                <a:spcPts val="2400"/>
              </a:lnSpc>
              <a:spcAft>
                <a:spcPts val="1000"/>
              </a:spcAft>
              <a:buNone/>
            </a:pPr>
            <a:r>
              <a:rPr lang="en-US" sz="1400" dirty="0">
                <a:solidFill>
                  <a:srgbClr val="5A5249"/>
                </a:solidFill>
                <a:latin typeface="メイリオ" pitchFamily="34" charset="0"/>
                <a:ea typeface="メイリオ" pitchFamily="34" charset="-122"/>
                <a:cs typeface="メイリオ" pitchFamily="34" charset="-120"/>
              </a:rPr>
              <a:t>。未病の層に継続的に関わるための事業です。</a:t>
            </a:r>
            <a:endParaRPr lang="en-US" sz="1400" dirty="0"/>
          </a:p>
        </p:txBody>
      </p:sp>
      <p:sp>
        <p:nvSpPr>
          <p:cNvPr id="6" name="Shape 4"/>
          <p:cNvSpPr/>
          <p:nvPr/>
        </p:nvSpPr>
        <p:spPr>
          <a:xfrm>
            <a:off x="7726680" y="1783080"/>
            <a:ext cx="3776472" cy="2286000"/>
          </a:xfrm>
          <a:prstGeom prst="roundRect">
            <a:avLst>
              <a:gd name="adj" fmla="val 2000"/>
            </a:avLst>
          </a:prstGeom>
          <a:solidFill>
            <a:srgbClr val="F3E3DE"/>
          </a:solidFill>
          <a:ln w="9525">
            <a:solidFill>
              <a:srgbClr val="9C5446"/>
            </a:solidFill>
            <a:prstDash val="solid"/>
          </a:ln>
        </p:spPr>
      </p:sp>
      <p:sp>
        <p:nvSpPr>
          <p:cNvPr id="7" name="Text 5"/>
          <p:cNvSpPr txBox="1"/>
          <p:nvPr/>
        </p:nvSpPr>
        <p:spPr>
          <a:xfrm>
            <a:off x="7726680" y="2011680"/>
            <a:ext cx="3776472" cy="274320"/>
          </a:xfrm>
          <a:prstGeom prst="rect">
            <a:avLst/>
          </a:prstGeom>
          <a:noFill/>
          <a:ln/>
        </p:spPr>
        <p:txBody>
          <a:bodyPr wrap="square" lIns="0" tIns="0" rIns="0" bIns="0" rtlCol="0" anchor="ctr"/>
          <a:lstStyle/>
          <a:p>
            <a:pPr algn="ctr" indent="0" marL="0">
              <a:buNone/>
            </a:pPr>
            <a:r>
              <a:rPr lang="en-US" sz="1400" b="1" spc="300" kern="0" dirty="0">
                <a:solidFill>
                  <a:srgbClr val="9C5446"/>
                </a:solidFill>
                <a:latin typeface="メイリオ" pitchFamily="34" charset="0"/>
                <a:ea typeface="メイリオ" pitchFamily="34" charset="-122"/>
                <a:cs typeface="メイリオ" pitchFamily="34" charset="-120"/>
              </a:rPr>
              <a:t>1店舗あたり</a:t>
            </a:r>
            <a:endParaRPr lang="en-US" sz="1400" dirty="0"/>
          </a:p>
        </p:txBody>
      </p:sp>
      <p:sp>
        <p:nvSpPr>
          <p:cNvPr id="8" name="Text 6"/>
          <p:cNvSpPr txBox="1"/>
          <p:nvPr/>
        </p:nvSpPr>
        <p:spPr>
          <a:xfrm>
            <a:off x="7726680" y="2331720"/>
            <a:ext cx="3776472" cy="731520"/>
          </a:xfrm>
          <a:prstGeom prst="rect">
            <a:avLst/>
          </a:prstGeom>
          <a:noFill/>
          <a:ln/>
        </p:spPr>
        <p:txBody>
          <a:bodyPr wrap="square" lIns="0" tIns="0" rIns="0" bIns="0" rtlCol="0" anchor="ctr"/>
          <a:lstStyle/>
          <a:p>
            <a:pPr algn="ctr" indent="0" marL="0">
              <a:buNone/>
            </a:pPr>
            <a:r>
              <a:rPr lang="en-US" sz="3200" b="1" dirty="0">
                <a:solidFill>
                  <a:srgbClr val="2B2620"/>
                </a:solidFill>
                <a:latin typeface="メイリオ" pitchFamily="34" charset="0"/>
                <a:ea typeface="メイリオ" pitchFamily="34" charset="-122"/>
                <a:cs typeface="メイリオ" pitchFamily="34" charset="-120"/>
              </a:rPr>
              <a:t>月次利益 30</a:t>
            </a:r>
            <a:pPr algn="ctr" indent="0" marL="0">
              <a:buNone/>
            </a:pPr>
            <a:r>
              <a:rPr lang="en-US" sz="1800" b="1" dirty="0">
                <a:solidFill>
                  <a:srgbClr val="2B2620"/>
                </a:solidFill>
                <a:latin typeface="メイリオ" pitchFamily="34" charset="0"/>
                <a:ea typeface="メイリオ" pitchFamily="34" charset="-122"/>
                <a:cs typeface="メイリオ" pitchFamily="34" charset="-120"/>
              </a:rPr>
              <a:t>万円</a:t>
            </a:r>
            <a:endParaRPr lang="en-US" sz="3200" dirty="0"/>
          </a:p>
        </p:txBody>
      </p:sp>
      <p:sp>
        <p:nvSpPr>
          <p:cNvPr id="9" name="Text 7"/>
          <p:cNvSpPr txBox="1"/>
          <p:nvPr/>
        </p:nvSpPr>
        <p:spPr>
          <a:xfrm>
            <a:off x="8001000" y="3154680"/>
            <a:ext cx="3227832" cy="731520"/>
          </a:xfrm>
          <a:prstGeom prst="rect">
            <a:avLst/>
          </a:prstGeom>
          <a:noFill/>
          <a:ln/>
        </p:spPr>
        <p:txBody>
          <a:bodyPr wrap="square" lIns="0" tIns="0" rIns="0" bIns="0" rtlCol="0" anchor="t"/>
          <a:lstStyle/>
          <a:p>
            <a:pPr algn="ctr" indent="0" marL="0">
              <a:lnSpc>
                <a:spcPts val="1600"/>
              </a:lnSpc>
              <a:buNone/>
            </a:pPr>
            <a:r>
              <a:rPr lang="en-US" sz="1400" dirty="0">
                <a:solidFill>
                  <a:srgbClr val="5A5249"/>
                </a:solidFill>
                <a:latin typeface="メイリオ" pitchFamily="34" charset="0"/>
                <a:ea typeface="メイリオ" pitchFamily="34" charset="-122"/>
                <a:cs typeface="メイリオ" pitchFamily="34" charset="-120"/>
              </a:rPr>
              <a:t>想定値。多店舗展開を前提に設計。</a:t>
            </a:r>
            <a:endParaRPr lang="en-US" sz="1400" dirty="0"/>
          </a:p>
        </p:txBody>
      </p:sp>
      <p:sp>
        <p:nvSpPr>
          <p:cNvPr id="10" name="Text 8"/>
          <p:cNvSpPr txBox="1"/>
          <p:nvPr/>
        </p:nvSpPr>
        <p:spPr>
          <a:xfrm>
            <a:off x="685800" y="6336792"/>
            <a:ext cx="7315200" cy="274320"/>
          </a:xfrm>
          <a:prstGeom prst="rect">
            <a:avLst/>
          </a:prstGeom>
          <a:noFill/>
          <a:ln/>
        </p:spPr>
        <p:txBody>
          <a:bodyPr wrap="square" lIns="0" tIns="0" rIns="0" bIns="0" rtlCol="0" anchor="ctr"/>
          <a:lstStyle/>
          <a:p>
            <a:pPr indent="0" marL="0">
              <a:buNone/>
            </a:pPr>
            <a:r>
              <a:rPr lang="en-US" sz="1200" spc="100" kern="0" dirty="0">
                <a:solidFill>
                  <a:srgbClr val="8B8175"/>
                </a:solidFill>
                <a:latin typeface="メイリオ" pitchFamily="34" charset="0"/>
                <a:ea typeface="メイリオ" pitchFamily="34" charset="-122"/>
                <a:cs typeface="メイリオ" pitchFamily="34" charset="-120"/>
              </a:rPr>
              <a:t>米倉まな｜アポプラスステーション様 ご提案</a:t>
            </a:r>
            <a:endParaRPr lang="en-US" sz="1200" dirty="0"/>
          </a:p>
        </p:txBody>
      </p:sp>
      <p:sp>
        <p:nvSpPr>
          <p:cNvPr id="11" name="Text 9"/>
          <p:cNvSpPr txBox="1"/>
          <p:nvPr/>
        </p:nvSpPr>
        <p:spPr>
          <a:xfrm>
            <a:off x="8305495" y="6336792"/>
            <a:ext cx="3200400" cy="274320"/>
          </a:xfrm>
          <a:prstGeom prst="rect">
            <a:avLst/>
          </a:prstGeom>
          <a:noFill/>
          <a:ln/>
        </p:spPr>
        <p:txBody>
          <a:bodyPr wrap="square" lIns="0" tIns="0" rIns="0" bIns="0" rtlCol="0" anchor="ctr"/>
          <a:lstStyle/>
          <a:p>
            <a:pPr algn="r" indent="0" marL="0">
              <a:buNone/>
            </a:pPr>
            <a:r>
              <a:rPr lang="en-US" sz="1200" dirty="0">
                <a:solidFill>
                  <a:srgbClr val="8B8175"/>
                </a:solidFill>
                <a:latin typeface="メイリオ" pitchFamily="34" charset="0"/>
                <a:ea typeface="メイリオ" pitchFamily="34" charset="-122"/>
                <a:cs typeface="メイリオ" pitchFamily="34" charset="-120"/>
              </a:rPr>
              <a:t>1:55 → 2:30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ADB"/>
        </a:solidFill>
      </p:bgPr>
    </p:bg>
    <p:spTree>
      <p:nvGrpSpPr>
        <p:cNvPr id="1" name=""/>
        <p:cNvGrpSpPr/>
        <p:nvPr/>
      </p:nvGrpSpPr>
      <p:grpSpPr>
        <a:xfrm>
          <a:off x="0" y="0"/>
          <a:ext cx="0" cy="0"/>
          <a:chOff x="0" y="0"/>
          <a:chExt cx="0" cy="0"/>
        </a:xfrm>
      </p:grpSpPr>
      <p:sp>
        <p:nvSpPr>
          <p:cNvPr id="2" name="Shape 0"/>
          <p:cNvSpPr/>
          <p:nvPr/>
        </p:nvSpPr>
        <p:spPr>
          <a:xfrm>
            <a:off x="685800" y="562356"/>
            <a:ext cx="237744" cy="12802"/>
          </a:xfrm>
          <a:prstGeom prst="rect">
            <a:avLst/>
          </a:prstGeom>
          <a:solidFill>
            <a:srgbClr val="9C5446"/>
          </a:solidFill>
          <a:ln/>
        </p:spPr>
      </p:sp>
      <p:sp>
        <p:nvSpPr>
          <p:cNvPr id="3" name="Text 1"/>
          <p:cNvSpPr txBox="1"/>
          <p:nvPr/>
        </p:nvSpPr>
        <p:spPr>
          <a:xfrm>
            <a:off x="996696" y="365760"/>
            <a:ext cx="7315200" cy="310896"/>
          </a:xfrm>
          <a:prstGeom prst="rect">
            <a:avLst/>
          </a:prstGeom>
          <a:noFill/>
          <a:ln/>
        </p:spPr>
        <p:txBody>
          <a:bodyPr wrap="square" lIns="0" tIns="0" rIns="0" bIns="0" rtlCol="0" anchor="ctr"/>
          <a:lstStyle/>
          <a:p>
            <a:pPr indent="0" marL="0">
              <a:buNone/>
            </a:pPr>
            <a:r>
              <a:rPr lang="en-US" sz="1400" b="1" spc="200" kern="0" dirty="0">
                <a:solidFill>
                  <a:srgbClr val="9C5446"/>
                </a:solidFill>
                <a:latin typeface="メイリオ" pitchFamily="34" charset="0"/>
                <a:ea typeface="メイリオ" pitchFamily="34" charset="-122"/>
                <a:cs typeface="メイリオ" pitchFamily="34" charset="-120"/>
              </a:rPr>
              <a:t>05   </a:t>
            </a:r>
            <a:pPr indent="0" marL="0">
              <a:buNone/>
            </a:pPr>
            <a:r>
              <a:rPr lang="en-US" sz="1400" spc="300" kern="0" dirty="0">
                <a:solidFill>
                  <a:srgbClr val="8B8175"/>
                </a:solidFill>
                <a:latin typeface="メイリオ" pitchFamily="34" charset="0"/>
                <a:ea typeface="メイリオ" pitchFamily="34" charset="-122"/>
                <a:cs typeface="メイリオ" pitchFamily="34" charset="-120"/>
              </a:rPr>
              <a:t>CASE</a:t>
            </a:r>
            <a:endParaRPr lang="en-US" sz="1400" dirty="0"/>
          </a:p>
        </p:txBody>
      </p:sp>
      <p:sp>
        <p:nvSpPr>
          <p:cNvPr id="4" name="Text 2"/>
          <p:cNvSpPr txBox="1"/>
          <p:nvPr/>
        </p:nvSpPr>
        <p:spPr>
          <a:xfrm>
            <a:off x="685800" y="777240"/>
            <a:ext cx="10820095" cy="777240"/>
          </a:xfrm>
          <a:prstGeom prst="rect">
            <a:avLst/>
          </a:prstGeom>
          <a:noFill/>
          <a:ln/>
        </p:spPr>
        <p:txBody>
          <a:bodyPr wrap="square" lIns="0" tIns="0" rIns="0" bIns="0" rtlCol="0" anchor="ctr"/>
          <a:lstStyle/>
          <a:p>
            <a:pPr indent="0" marL="0">
              <a:buNone/>
            </a:pPr>
            <a:r>
              <a:rPr lang="en-US" sz="2800" b="1" spc="100" kern="0" dirty="0">
                <a:solidFill>
                  <a:srgbClr val="2B2620"/>
                </a:solidFill>
                <a:latin typeface="メイリオ" pitchFamily="34" charset="0"/>
                <a:ea typeface="メイリオ" pitchFamily="34" charset="-122"/>
                <a:cs typeface="メイリオ" pitchFamily="34" charset="-120"/>
              </a:rPr>
              <a:t>「企業 × 鍼灸」は、すでに成立しています</a:t>
            </a:r>
            <a:endParaRPr lang="en-US" sz="2800" dirty="0"/>
          </a:p>
        </p:txBody>
      </p:sp>
      <p:sp>
        <p:nvSpPr>
          <p:cNvPr id="5" name="Text 3"/>
          <p:cNvSpPr txBox="1"/>
          <p:nvPr/>
        </p:nvSpPr>
        <p:spPr>
          <a:xfrm>
            <a:off x="685800" y="1783080"/>
            <a:ext cx="6035040" cy="3840480"/>
          </a:xfrm>
          <a:prstGeom prst="rect">
            <a:avLst/>
          </a:prstGeom>
          <a:noFill/>
          <a:ln/>
        </p:spPr>
        <p:txBody>
          <a:bodyPr wrap="square" lIns="0" tIns="0" rIns="0" bIns="0" rtlCol="0" anchor="t"/>
          <a:lstStyle/>
          <a:p>
            <a:pPr marL="342900" indent="-342900">
              <a:lnSpc>
                <a:spcPts val="2400"/>
              </a:lnSpc>
              <a:buSzPct val="100000"/>
              <a:buChar char="•"/>
            </a:pPr>
            <a:r>
              <a:rPr lang="en-US" sz="1400" dirty="0">
                <a:solidFill>
                  <a:srgbClr val="5A5249"/>
                </a:solidFill>
                <a:latin typeface="メイリオ" pitchFamily="34" charset="0"/>
                <a:ea typeface="メイリオ" pitchFamily="34" charset="-122"/>
                <a:cs typeface="メイリオ" pitchFamily="34" charset="-120"/>
              </a:rPr>
              <a:t>睡眠製品のブレインスリープ社は、</a:t>
            </a:r>
            <a:pPr indent="0" marL="0">
              <a:lnSpc>
                <a:spcPts val="2400"/>
              </a:lnSpc>
              <a:buNone/>
            </a:pPr>
            <a:r>
              <a:rPr lang="en-US" sz="1400" b="1" dirty="0">
                <a:solidFill>
                  <a:srgbClr val="2B2620"/>
                </a:solidFill>
                <a:latin typeface="メイリオ" pitchFamily="34" charset="0"/>
                <a:ea typeface="メイリオ" pitchFamily="34" charset="-122"/>
                <a:cs typeface="メイリオ" pitchFamily="34" charset="-120"/>
              </a:rPr>
              <a:t>睡眠専門の鍼灸マッサージ「コンディショニングスタジオ」</a:t>
            </a:r>
            <a:pPr indent="0" marL="0">
              <a:lnSpc>
                <a:spcPts val="2400"/>
              </a:lnSpc>
              <a:spcAft>
                <a:spcPts val="1000"/>
              </a:spcAft>
              <a:buNone/>
            </a:pPr>
            <a:r>
              <a:rPr lang="en-US" sz="1400" dirty="0">
                <a:solidFill>
                  <a:srgbClr val="5A5249"/>
                </a:solidFill>
                <a:latin typeface="メイリオ" pitchFamily="34" charset="0"/>
                <a:ea typeface="メイリオ" pitchFamily="34" charset="-122"/>
                <a:cs typeface="メイリオ" pitchFamily="34" charset="-120"/>
              </a:rPr>
              <a:t>を自社ブランドで運営。枕の売り場ではなく、独立した鍼灸院です。</a:t>
            </a:r>
            <a:endParaRPr lang="en-US" sz="1400" dirty="0"/>
          </a:p>
          <a:p>
            <a:pPr marL="342900" indent="-342900">
              <a:lnSpc>
                <a:spcPts val="2400"/>
              </a:lnSpc>
              <a:buSzPct val="100000"/>
              <a:buChar char="•"/>
            </a:pPr>
            <a:r>
              <a:rPr lang="en-US" sz="1400" dirty="0">
                <a:solidFill>
                  <a:srgbClr val="5A5249"/>
                </a:solidFill>
                <a:latin typeface="メイリオ" pitchFamily="34" charset="0"/>
                <a:ea typeface="メイリオ" pitchFamily="34" charset="-122"/>
                <a:cs typeface="メイリオ" pitchFamily="34" charset="-120"/>
              </a:rPr>
              <a:t>二子玉川・南青山・</a:t>
            </a:r>
            <a:pPr indent="0" marL="0">
              <a:lnSpc>
                <a:spcPts val="2400"/>
              </a:lnSpc>
              <a:buNone/>
            </a:pPr>
            <a:r>
              <a:rPr lang="en-US" sz="1400" b="1" dirty="0">
                <a:solidFill>
                  <a:srgbClr val="2B2620"/>
                </a:solidFill>
                <a:latin typeface="メイリオ" pitchFamily="34" charset="0"/>
                <a:ea typeface="メイリオ" pitchFamily="34" charset="-122"/>
                <a:cs typeface="メイリオ" pitchFamily="34" charset="-120"/>
              </a:rPr>
              <a:t>有楽町マルイ</a:t>
            </a:r>
            <a:pPr indent="0" marL="0">
              <a:lnSpc>
                <a:spcPts val="2400"/>
              </a:lnSpc>
              <a:buNone/>
            </a:pPr>
            <a:r>
              <a:rPr lang="en-US" sz="1400" dirty="0">
                <a:solidFill>
                  <a:srgbClr val="5A5249"/>
                </a:solidFill>
                <a:latin typeface="メイリオ" pitchFamily="34" charset="0"/>
                <a:ea typeface="メイリオ" pitchFamily="34" charset="-122"/>
                <a:cs typeface="メイリオ" pitchFamily="34" charset="-120"/>
              </a:rPr>
              <a:t>・東京ミッドタウン八重洲の</a:t>
            </a:r>
            <a:pPr indent="0" marL="0">
              <a:lnSpc>
                <a:spcPts val="2400"/>
              </a:lnSpc>
              <a:buNone/>
            </a:pPr>
            <a:r>
              <a:rPr lang="en-US" sz="1400" b="1" dirty="0">
                <a:solidFill>
                  <a:srgbClr val="2B2620"/>
                </a:solidFill>
                <a:latin typeface="メイリオ" pitchFamily="34" charset="0"/>
                <a:ea typeface="メイリオ" pitchFamily="34" charset="-122"/>
                <a:cs typeface="メイリオ" pitchFamily="34" charset="-120"/>
              </a:rPr>
              <a:t>4店舗</a:t>
            </a:r>
            <a:pPr indent="0" marL="0">
              <a:lnSpc>
                <a:spcPts val="2400"/>
              </a:lnSpc>
              <a:spcAft>
                <a:spcPts val="1000"/>
              </a:spcAft>
              <a:buNone/>
            </a:pPr>
            <a:r>
              <a:rPr lang="en-US" sz="1400" dirty="0">
                <a:solidFill>
                  <a:srgbClr val="5A5249"/>
                </a:solidFill>
                <a:latin typeface="メイリオ" pitchFamily="34" charset="0"/>
                <a:ea typeface="メイリオ" pitchFamily="34" charset="-122"/>
                <a:cs typeface="メイリオ" pitchFamily="34" charset="-120"/>
              </a:rPr>
              <a:t>。商業施設側の丸井グループも、自らプレスリリースを出しています。</a:t>
            </a:r>
            <a:endParaRPr lang="en-US" sz="1400" dirty="0"/>
          </a:p>
          <a:p>
            <a:pPr marL="342900" indent="-342900">
              <a:lnSpc>
                <a:spcPts val="2400"/>
              </a:lnSpc>
              <a:buSzPct val="100000"/>
              <a:buChar char="•"/>
            </a:pPr>
            <a:r>
              <a:rPr lang="en-US" sz="1400" dirty="0">
                <a:solidFill>
                  <a:srgbClr val="5A5249"/>
                </a:solidFill>
                <a:latin typeface="メイリオ" pitchFamily="34" charset="0"/>
                <a:ea typeface="メイリオ" pitchFamily="34" charset="-122"/>
                <a:cs typeface="メイリオ" pitchFamily="34" charset="-120"/>
              </a:rPr>
              <a:t>オープン以来</a:t>
            </a:r>
            <a:pPr indent="0" marL="0">
              <a:lnSpc>
                <a:spcPts val="2400"/>
              </a:lnSpc>
              <a:buNone/>
            </a:pPr>
            <a:r>
              <a:rPr lang="en-US" sz="1400" b="1" dirty="0">
                <a:solidFill>
                  <a:srgbClr val="2B2620"/>
                </a:solidFill>
                <a:latin typeface="メイリオ" pitchFamily="34" charset="0"/>
                <a:ea typeface="メイリオ" pitchFamily="34" charset="-122"/>
                <a:cs typeface="メイリオ" pitchFamily="34" charset="-120"/>
              </a:rPr>
              <a:t>累計1万人以上</a:t>
            </a:r>
            <a:pPr indent="0" marL="0">
              <a:lnSpc>
                <a:spcPts val="2400"/>
              </a:lnSpc>
              <a:buNone/>
            </a:pPr>
            <a:r>
              <a:rPr lang="en-US" sz="1400" dirty="0">
                <a:solidFill>
                  <a:srgbClr val="5A5249"/>
                </a:solidFill>
                <a:latin typeface="メイリオ" pitchFamily="34" charset="0"/>
                <a:ea typeface="メイリオ" pitchFamily="34" charset="-122"/>
                <a:cs typeface="メイリオ" pitchFamily="34" charset="-120"/>
              </a:rPr>
              <a:t>が利用。自社研究では、1度の施術で眠りの深さが</a:t>
            </a:r>
            <a:pPr indent="0" marL="0">
              <a:lnSpc>
                <a:spcPts val="2400"/>
              </a:lnSpc>
              <a:buNone/>
            </a:pPr>
            <a:r>
              <a:rPr lang="en-US" sz="1400" b="1" dirty="0">
                <a:solidFill>
                  <a:srgbClr val="2B2620"/>
                </a:solidFill>
                <a:latin typeface="メイリオ" pitchFamily="34" charset="0"/>
                <a:ea typeface="メイリオ" pitchFamily="34" charset="-122"/>
                <a:cs typeface="メイリオ" pitchFamily="34" charset="-120"/>
              </a:rPr>
              <a:t>35%</a:t>
            </a:r>
            <a:pPr indent="0" marL="0">
              <a:lnSpc>
                <a:spcPts val="2400"/>
              </a:lnSpc>
              <a:buNone/>
            </a:pPr>
            <a:r>
              <a:rPr lang="en-US" sz="1400" dirty="0">
                <a:solidFill>
                  <a:srgbClr val="5A5249"/>
                </a:solidFill>
                <a:latin typeface="メイリオ" pitchFamily="34" charset="0"/>
                <a:ea typeface="メイリオ" pitchFamily="34" charset="-122"/>
                <a:cs typeface="メイリオ" pitchFamily="34" charset="-120"/>
              </a:rPr>
              <a:t>、疲労回復度が</a:t>
            </a:r>
            <a:pPr indent="0" marL="0">
              <a:lnSpc>
                <a:spcPts val="2400"/>
              </a:lnSpc>
              <a:buNone/>
            </a:pPr>
            <a:r>
              <a:rPr lang="en-US" sz="1400" b="1" dirty="0">
                <a:solidFill>
                  <a:srgbClr val="2B2620"/>
                </a:solidFill>
                <a:latin typeface="メイリオ" pitchFamily="34" charset="0"/>
                <a:ea typeface="メイリオ" pitchFamily="34" charset="-122"/>
                <a:cs typeface="メイリオ" pitchFamily="34" charset="-120"/>
              </a:rPr>
              <a:t>59%</a:t>
            </a:r>
            <a:pPr indent="0" marL="0">
              <a:lnSpc>
                <a:spcPts val="2400"/>
              </a:lnSpc>
              <a:spcAft>
                <a:spcPts val="1000"/>
              </a:spcAft>
              <a:buNone/>
            </a:pPr>
            <a:r>
              <a:rPr lang="en-US" sz="1400" dirty="0">
                <a:solidFill>
                  <a:srgbClr val="5A5249"/>
                </a:solidFill>
                <a:latin typeface="メイリオ" pitchFamily="34" charset="0"/>
                <a:ea typeface="メイリオ" pitchFamily="34" charset="-122"/>
                <a:cs typeface="メイリオ" pitchFamily="34" charset="-120"/>
              </a:rPr>
              <a:t>向上したと公表。</a:t>
            </a:r>
            <a:endParaRPr lang="en-US" sz="1400" dirty="0"/>
          </a:p>
          <a:p>
            <a:pPr marL="342900" indent="-342900">
              <a:lnSpc>
                <a:spcPts val="2400"/>
              </a:lnSpc>
              <a:buSzPct val="100000"/>
              <a:buChar char="•"/>
            </a:pPr>
            <a:r>
              <a:rPr lang="en-US" sz="1400" dirty="0">
                <a:solidFill>
                  <a:srgbClr val="5A5249"/>
                </a:solidFill>
                <a:latin typeface="メイリオ" pitchFamily="34" charset="0"/>
                <a:ea typeface="メイリオ" pitchFamily="34" charset="-122"/>
                <a:cs typeface="メイリオ" pitchFamily="34" charset="-120"/>
              </a:rPr>
              <a:t>スタッフは全員が国家資格保有者。自社資格「スリーププランナー」も取得。</a:t>
            </a:r>
            <a:pPr indent="0" marL="0">
              <a:lnSpc>
                <a:spcPts val="2400"/>
              </a:lnSpc>
              <a:buNone/>
            </a:pPr>
            <a:r>
              <a:rPr lang="en-US" sz="1400" b="1" dirty="0">
                <a:solidFill>
                  <a:srgbClr val="2B2620"/>
                </a:solidFill>
                <a:latin typeface="メイリオ" pitchFamily="34" charset="0"/>
                <a:ea typeface="メイリオ" pitchFamily="34" charset="-122"/>
                <a:cs typeface="メイリオ" pitchFamily="34" charset="-120"/>
              </a:rPr>
              <a:t>定額プラン</a:t>
            </a:r>
            <a:pPr indent="0" marL="0">
              <a:lnSpc>
                <a:spcPts val="2400"/>
              </a:lnSpc>
              <a:spcAft>
                <a:spcPts val="1000"/>
              </a:spcAft>
              <a:buNone/>
            </a:pPr>
            <a:r>
              <a:rPr lang="en-US" sz="1400" dirty="0">
                <a:solidFill>
                  <a:srgbClr val="5A5249"/>
                </a:solidFill>
                <a:latin typeface="メイリオ" pitchFamily="34" charset="0"/>
                <a:ea typeface="メイリオ" pitchFamily="34" charset="-122"/>
                <a:cs typeface="メイリオ" pitchFamily="34" charset="-120"/>
              </a:rPr>
              <a:t>で、継続して通う前提が設計されています。</a:t>
            </a:r>
            <a:endParaRPr lang="en-US" sz="1400" dirty="0"/>
          </a:p>
        </p:txBody>
      </p:sp>
      <p:sp>
        <p:nvSpPr>
          <p:cNvPr id="6" name="Shape 4"/>
          <p:cNvSpPr/>
          <p:nvPr/>
        </p:nvSpPr>
        <p:spPr>
          <a:xfrm>
            <a:off x="7040880" y="1783080"/>
            <a:ext cx="4462272" cy="3200400"/>
          </a:xfrm>
          <a:prstGeom prst="roundRect">
            <a:avLst>
              <a:gd name="adj" fmla="val 1429"/>
            </a:avLst>
          </a:prstGeom>
          <a:solidFill>
            <a:srgbClr val="FBF6EC"/>
          </a:solidFill>
          <a:ln w="9525">
            <a:solidFill>
              <a:srgbClr val="5E7060"/>
            </a:solidFill>
            <a:prstDash val="solid"/>
          </a:ln>
        </p:spPr>
      </p:sp>
      <p:sp>
        <p:nvSpPr>
          <p:cNvPr id="7" name="Text 5"/>
          <p:cNvSpPr txBox="1"/>
          <p:nvPr/>
        </p:nvSpPr>
        <p:spPr>
          <a:xfrm>
            <a:off x="7315200" y="1984248"/>
            <a:ext cx="3913632" cy="237744"/>
          </a:xfrm>
          <a:prstGeom prst="rect">
            <a:avLst/>
          </a:prstGeom>
          <a:noFill/>
          <a:ln/>
        </p:spPr>
        <p:txBody>
          <a:bodyPr wrap="square" lIns="0" tIns="0" rIns="0" bIns="0" rtlCol="0" anchor="ctr"/>
          <a:lstStyle/>
          <a:p>
            <a:pPr indent="0" marL="0">
              <a:buNone/>
            </a:pPr>
            <a:r>
              <a:rPr lang="en-US" sz="1200" b="1" spc="100" kern="0" dirty="0">
                <a:solidFill>
                  <a:srgbClr val="5E7060"/>
                </a:solidFill>
                <a:latin typeface="メイリオ" pitchFamily="34" charset="0"/>
                <a:ea typeface="メイリオ" pitchFamily="34" charset="-122"/>
                <a:cs typeface="メイリオ" pitchFamily="34" charset="-120"/>
              </a:rPr>
              <a:t>ここから私が受け取ったこと</a:t>
            </a:r>
            <a:endParaRPr lang="en-US" sz="1200" dirty="0"/>
          </a:p>
        </p:txBody>
      </p:sp>
      <p:sp>
        <p:nvSpPr>
          <p:cNvPr id="8" name="Text 6"/>
          <p:cNvSpPr txBox="1"/>
          <p:nvPr/>
        </p:nvSpPr>
        <p:spPr>
          <a:xfrm>
            <a:off x="7315200" y="2295144"/>
            <a:ext cx="3913632" cy="2468880"/>
          </a:xfrm>
          <a:prstGeom prst="rect">
            <a:avLst/>
          </a:prstGeom>
          <a:noFill/>
          <a:ln/>
        </p:spPr>
        <p:txBody>
          <a:bodyPr wrap="square" lIns="0" tIns="0" rIns="0" bIns="0" rtlCol="0" anchor="t"/>
          <a:lstStyle/>
          <a:p>
            <a:pPr indent="0" marL="0">
              <a:lnSpc>
                <a:spcPts val="1900"/>
              </a:lnSpc>
              <a:buNone/>
            </a:pPr>
            <a:r>
              <a:rPr lang="en-US" sz="1400" dirty="0">
                <a:solidFill>
                  <a:srgbClr val="5A5249"/>
                </a:solidFill>
                <a:latin typeface="メイリオ" pitchFamily="34" charset="0"/>
                <a:ea typeface="メイリオ" pitchFamily="34" charset="-122"/>
                <a:cs typeface="メイリオ" pitchFamily="34" charset="-120"/>
              </a:rPr>
              <a:t>製品を売って終わりにせず、施術という接点で人と関わり続ける。効果を数字で示し、資格者を自社で育て、定額で通ってもらう。このあとお話しする私の事業も、同じ構造です。</a:t>
            </a:r>
            <a:endParaRPr lang="en-US" sz="1400" dirty="0"/>
          </a:p>
          <a:p>
            <a:pPr indent="0" marL="0">
              <a:lnSpc>
                <a:spcPts val="1900"/>
              </a:lnSpc>
              <a:buNone/>
            </a:pPr>
            <a:endParaRPr lang="en-US" sz="1400" dirty="0"/>
          </a:p>
          <a:p>
            <a:pPr indent="0" marL="0">
              <a:lnSpc>
                <a:spcPts val="1900"/>
              </a:lnSpc>
              <a:buNone/>
            </a:pPr>
            <a:r>
              <a:rPr lang="en-US" sz="1400" dirty="0">
                <a:solidFill>
                  <a:srgbClr val="5A5249"/>
                </a:solidFill>
                <a:latin typeface="メイリオ" pitchFamily="34" charset="0"/>
                <a:ea typeface="メイリオ" pitchFamily="34" charset="-122"/>
                <a:cs typeface="メイリオ" pitchFamily="34" charset="-120"/>
              </a:rPr>
              <a:t>違いは入口です。</a:t>
            </a:r>
            <a:endParaRPr lang="en-US" sz="1400" dirty="0"/>
          </a:p>
          <a:p>
            <a:pPr indent="0" marL="0">
              <a:lnSpc>
                <a:spcPts val="1900"/>
              </a:lnSpc>
              <a:buNone/>
            </a:pPr>
            <a:r>
              <a:rPr lang="en-US" sz="1400" b="1" dirty="0">
                <a:solidFill>
                  <a:srgbClr val="2B2620"/>
                </a:solidFill>
                <a:latin typeface="メイリオ" pitchFamily="34" charset="0"/>
                <a:ea typeface="メイリオ" pitchFamily="34" charset="-122"/>
                <a:cs typeface="メイリオ" pitchFamily="34" charset="-120"/>
              </a:rPr>
              <a:t>ブレインスリープは「睡眠」から入った。私は「こころ」から入ります。</a:t>
            </a:r>
            <a:endParaRPr lang="en-US" sz="1400" dirty="0"/>
          </a:p>
        </p:txBody>
      </p:sp>
      <p:sp>
        <p:nvSpPr>
          <p:cNvPr id="9" name="Text 7"/>
          <p:cNvSpPr txBox="1"/>
          <p:nvPr/>
        </p:nvSpPr>
        <p:spPr>
          <a:xfrm>
            <a:off x="685800" y="5852160"/>
            <a:ext cx="10820095" cy="457200"/>
          </a:xfrm>
          <a:prstGeom prst="rect">
            <a:avLst/>
          </a:prstGeom>
          <a:noFill/>
          <a:ln/>
        </p:spPr>
        <p:txBody>
          <a:bodyPr wrap="square" lIns="0" tIns="0" rIns="0" bIns="0" rtlCol="0" anchor="t"/>
          <a:lstStyle/>
          <a:p>
            <a:pPr indent="0" marL="0">
              <a:lnSpc>
                <a:spcPts val="1500"/>
              </a:lnSpc>
              <a:buNone/>
            </a:pPr>
            <a:r>
              <a:rPr lang="en-US" sz="1100" dirty="0">
                <a:solidFill>
                  <a:srgbClr val="8B8175"/>
                </a:solidFill>
                <a:latin typeface="メイリオ" pitchFamily="34" charset="0"/>
                <a:ea typeface="メイリオ" pitchFamily="34" charset="-122"/>
                <a:cs typeface="メイリオ" pitchFamily="34" charset="-120"/>
              </a:rPr>
              <a:t>出典：株式会社丸井グループ プレスリリース（2024.11.15）／株式会社ブレインスリープ プレスリリース／ブレインスリープ コンディショニングスタジオ 公式サイト</a:t>
            </a:r>
            <a:endParaRPr lang="en-US" sz="1100" dirty="0"/>
          </a:p>
        </p:txBody>
      </p:sp>
      <p:sp>
        <p:nvSpPr>
          <p:cNvPr id="10" name="Text 8"/>
          <p:cNvSpPr txBox="1"/>
          <p:nvPr/>
        </p:nvSpPr>
        <p:spPr>
          <a:xfrm>
            <a:off x="685800" y="6336792"/>
            <a:ext cx="7315200" cy="274320"/>
          </a:xfrm>
          <a:prstGeom prst="rect">
            <a:avLst/>
          </a:prstGeom>
          <a:noFill/>
          <a:ln/>
        </p:spPr>
        <p:txBody>
          <a:bodyPr wrap="square" lIns="0" tIns="0" rIns="0" bIns="0" rtlCol="0" anchor="ctr"/>
          <a:lstStyle/>
          <a:p>
            <a:pPr indent="0" marL="0">
              <a:buNone/>
            </a:pPr>
            <a:r>
              <a:rPr lang="en-US" sz="1200" spc="100" kern="0" dirty="0">
                <a:solidFill>
                  <a:srgbClr val="8B8175"/>
                </a:solidFill>
                <a:latin typeface="メイリオ" pitchFamily="34" charset="0"/>
                <a:ea typeface="メイリオ" pitchFamily="34" charset="-122"/>
                <a:cs typeface="メイリオ" pitchFamily="34" charset="-120"/>
              </a:rPr>
              <a:t>米倉まな｜アポプラスステーション様 ご提案</a:t>
            </a:r>
            <a:endParaRPr lang="en-US" sz="1200" dirty="0"/>
          </a:p>
        </p:txBody>
      </p:sp>
      <p:sp>
        <p:nvSpPr>
          <p:cNvPr id="11" name="Text 9"/>
          <p:cNvSpPr txBox="1"/>
          <p:nvPr/>
        </p:nvSpPr>
        <p:spPr>
          <a:xfrm>
            <a:off x="8305495" y="6336792"/>
            <a:ext cx="3200400" cy="274320"/>
          </a:xfrm>
          <a:prstGeom prst="rect">
            <a:avLst/>
          </a:prstGeom>
          <a:noFill/>
          <a:ln/>
        </p:spPr>
        <p:txBody>
          <a:bodyPr wrap="square" lIns="0" tIns="0" rIns="0" bIns="0" rtlCol="0" anchor="ctr"/>
          <a:lstStyle/>
          <a:p>
            <a:pPr algn="r" indent="0" marL="0">
              <a:buNone/>
            </a:pPr>
            <a:r>
              <a:rPr lang="en-US" sz="1200" dirty="0">
                <a:solidFill>
                  <a:srgbClr val="8B8175"/>
                </a:solidFill>
                <a:latin typeface="メイリオ" pitchFamily="34" charset="0"/>
                <a:ea typeface="メイリオ" pitchFamily="34" charset="-122"/>
                <a:cs typeface="メイリオ" pitchFamily="34" charset="-120"/>
              </a:rPr>
              <a:t>2:30 → 3:05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ADB"/>
        </a:solidFill>
      </p:bgPr>
    </p:bg>
    <p:spTree>
      <p:nvGrpSpPr>
        <p:cNvPr id="1" name=""/>
        <p:cNvGrpSpPr/>
        <p:nvPr/>
      </p:nvGrpSpPr>
      <p:grpSpPr>
        <a:xfrm>
          <a:off x="0" y="0"/>
          <a:ext cx="0" cy="0"/>
          <a:chOff x="0" y="0"/>
          <a:chExt cx="0" cy="0"/>
        </a:xfrm>
      </p:grpSpPr>
      <p:sp>
        <p:nvSpPr>
          <p:cNvPr id="2" name="Shape 0"/>
          <p:cNvSpPr/>
          <p:nvPr/>
        </p:nvSpPr>
        <p:spPr>
          <a:xfrm>
            <a:off x="685800" y="562356"/>
            <a:ext cx="237744" cy="12802"/>
          </a:xfrm>
          <a:prstGeom prst="rect">
            <a:avLst/>
          </a:prstGeom>
          <a:solidFill>
            <a:srgbClr val="9C5446"/>
          </a:solidFill>
          <a:ln/>
        </p:spPr>
      </p:sp>
      <p:sp>
        <p:nvSpPr>
          <p:cNvPr id="3" name="Text 1"/>
          <p:cNvSpPr txBox="1"/>
          <p:nvPr/>
        </p:nvSpPr>
        <p:spPr>
          <a:xfrm>
            <a:off x="996696" y="365760"/>
            <a:ext cx="7315200" cy="310896"/>
          </a:xfrm>
          <a:prstGeom prst="rect">
            <a:avLst/>
          </a:prstGeom>
          <a:noFill/>
          <a:ln/>
        </p:spPr>
        <p:txBody>
          <a:bodyPr wrap="square" lIns="0" tIns="0" rIns="0" bIns="0" rtlCol="0" anchor="ctr"/>
          <a:lstStyle/>
          <a:p>
            <a:pPr indent="0" marL="0">
              <a:buNone/>
            </a:pPr>
            <a:r>
              <a:rPr lang="en-US" sz="1400" b="1" spc="200" kern="0" dirty="0">
                <a:solidFill>
                  <a:srgbClr val="9C5446"/>
                </a:solidFill>
                <a:latin typeface="メイリオ" pitchFamily="34" charset="0"/>
                <a:ea typeface="メイリオ" pitchFamily="34" charset="-122"/>
                <a:cs typeface="メイリオ" pitchFamily="34" charset="-120"/>
              </a:rPr>
              <a:t>06   </a:t>
            </a:r>
            <a:pPr indent="0" marL="0">
              <a:buNone/>
            </a:pPr>
            <a:r>
              <a:rPr lang="en-US" sz="1400" spc="300" kern="0" dirty="0">
                <a:solidFill>
                  <a:srgbClr val="8B8175"/>
                </a:solidFill>
                <a:latin typeface="メイリオ" pitchFamily="34" charset="0"/>
                <a:ea typeface="メイリオ" pitchFamily="34" charset="-122"/>
                <a:cs typeface="メイリオ" pitchFamily="34" charset="-120"/>
              </a:rPr>
              <a:t>ISSUE</a:t>
            </a:r>
            <a:endParaRPr lang="en-US" sz="1400" dirty="0"/>
          </a:p>
        </p:txBody>
      </p:sp>
      <p:sp>
        <p:nvSpPr>
          <p:cNvPr id="4" name="Text 2"/>
          <p:cNvSpPr txBox="1"/>
          <p:nvPr/>
        </p:nvSpPr>
        <p:spPr>
          <a:xfrm>
            <a:off x="685800" y="777240"/>
            <a:ext cx="10820095" cy="777240"/>
          </a:xfrm>
          <a:prstGeom prst="rect">
            <a:avLst/>
          </a:prstGeom>
          <a:noFill/>
          <a:ln/>
        </p:spPr>
        <p:txBody>
          <a:bodyPr wrap="square" lIns="0" tIns="0" rIns="0" bIns="0" rtlCol="0" anchor="ctr"/>
          <a:lstStyle/>
          <a:p>
            <a:pPr indent="0" marL="0">
              <a:buNone/>
            </a:pPr>
            <a:r>
              <a:rPr lang="en-US" sz="2800" b="1" spc="100" kern="0" dirty="0">
                <a:solidFill>
                  <a:srgbClr val="2B2620"/>
                </a:solidFill>
                <a:latin typeface="メイリオ" pitchFamily="34" charset="0"/>
                <a:ea typeface="メイリオ" pitchFamily="34" charset="-122"/>
                <a:cs typeface="メイリオ" pitchFamily="34" charset="-120"/>
              </a:rPr>
              <a:t>これは私の実感であり、社会の数字でもあります</a:t>
            </a:r>
            <a:endParaRPr lang="en-US" sz="2800" dirty="0"/>
          </a:p>
        </p:txBody>
      </p:sp>
      <p:sp>
        <p:nvSpPr>
          <p:cNvPr id="5" name="Text 3"/>
          <p:cNvSpPr txBox="1"/>
          <p:nvPr/>
        </p:nvSpPr>
        <p:spPr>
          <a:xfrm>
            <a:off x="685800" y="1627632"/>
            <a:ext cx="5029200" cy="256032"/>
          </a:xfrm>
          <a:prstGeom prst="rect">
            <a:avLst/>
          </a:prstGeom>
          <a:noFill/>
          <a:ln/>
        </p:spPr>
        <p:txBody>
          <a:bodyPr wrap="square" lIns="0" tIns="0" rIns="0" bIns="0" rtlCol="0" anchor="ctr"/>
          <a:lstStyle/>
          <a:p>
            <a:pPr indent="0" marL="0">
              <a:buNone/>
            </a:pPr>
            <a:r>
              <a:rPr lang="en-US" sz="1400" b="1" spc="200" kern="0" dirty="0">
                <a:solidFill>
                  <a:srgbClr val="9C5446"/>
                </a:solidFill>
                <a:latin typeface="メイリオ" pitchFamily="34" charset="0"/>
                <a:ea typeface="メイリオ" pitchFamily="34" charset="-122"/>
                <a:cs typeface="メイリオ" pitchFamily="34" charset="-120"/>
              </a:rPr>
              <a:t>社会で起きていること</a:t>
            </a:r>
            <a:endParaRPr lang="en-US" sz="1400" dirty="0"/>
          </a:p>
        </p:txBody>
      </p:sp>
      <p:sp>
        <p:nvSpPr>
          <p:cNvPr id="6" name="Text 4"/>
          <p:cNvSpPr txBox="1"/>
          <p:nvPr/>
        </p:nvSpPr>
        <p:spPr>
          <a:xfrm>
            <a:off x="6309360" y="1627632"/>
            <a:ext cx="5193792" cy="256032"/>
          </a:xfrm>
          <a:prstGeom prst="rect">
            <a:avLst/>
          </a:prstGeom>
          <a:noFill/>
          <a:ln/>
        </p:spPr>
        <p:txBody>
          <a:bodyPr wrap="square" lIns="0" tIns="0" rIns="0" bIns="0" rtlCol="0" anchor="ctr"/>
          <a:lstStyle/>
          <a:p>
            <a:pPr indent="0" marL="0">
              <a:buNone/>
            </a:pPr>
            <a:r>
              <a:rPr lang="en-US" sz="1400" b="1" spc="200" kern="0" dirty="0">
                <a:solidFill>
                  <a:srgbClr val="5E7060"/>
                </a:solidFill>
                <a:latin typeface="メイリオ" pitchFamily="34" charset="0"/>
                <a:ea typeface="メイリオ" pitchFamily="34" charset="-122"/>
                <a:cs typeface="メイリオ" pitchFamily="34" charset="-120"/>
              </a:rPr>
              <a:t>私が現場で見ていること</a:t>
            </a:r>
            <a:endParaRPr lang="en-US" sz="1400" dirty="0"/>
          </a:p>
        </p:txBody>
      </p:sp>
      <p:sp>
        <p:nvSpPr>
          <p:cNvPr id="7" name="Shape 5"/>
          <p:cNvSpPr/>
          <p:nvPr/>
        </p:nvSpPr>
        <p:spPr>
          <a:xfrm>
            <a:off x="685800" y="1792224"/>
            <a:ext cx="5029200" cy="7315"/>
          </a:xfrm>
          <a:prstGeom prst="rect">
            <a:avLst/>
          </a:prstGeom>
          <a:solidFill>
            <a:srgbClr val="D2C4AE"/>
          </a:solidFill>
          <a:ln/>
        </p:spPr>
      </p:sp>
      <p:sp>
        <p:nvSpPr>
          <p:cNvPr id="8" name="Shape 6"/>
          <p:cNvSpPr/>
          <p:nvPr/>
        </p:nvSpPr>
        <p:spPr>
          <a:xfrm>
            <a:off x="6309360" y="1792224"/>
            <a:ext cx="5193792" cy="7315"/>
          </a:xfrm>
          <a:prstGeom prst="rect">
            <a:avLst/>
          </a:prstGeom>
          <a:solidFill>
            <a:srgbClr val="D2C4AE"/>
          </a:solidFill>
          <a:ln/>
        </p:spPr>
      </p:sp>
      <p:sp>
        <p:nvSpPr>
          <p:cNvPr id="9" name="Text 7"/>
          <p:cNvSpPr txBox="1"/>
          <p:nvPr/>
        </p:nvSpPr>
        <p:spPr>
          <a:xfrm>
            <a:off x="685800" y="1920240"/>
            <a:ext cx="5029200" cy="1005840"/>
          </a:xfrm>
          <a:prstGeom prst="rect">
            <a:avLst/>
          </a:prstGeom>
          <a:noFill/>
          <a:ln/>
        </p:spPr>
        <p:txBody>
          <a:bodyPr wrap="square" lIns="0" tIns="0" rIns="0" bIns="0" rtlCol="0" anchor="t"/>
          <a:lstStyle/>
          <a:p>
            <a:pPr indent="0" marL="0">
              <a:lnSpc>
                <a:spcPts val="2200"/>
              </a:lnSpc>
              <a:buNone/>
            </a:pPr>
            <a:r>
              <a:rPr lang="en-US" sz="1700" b="1" dirty="0">
                <a:solidFill>
                  <a:srgbClr val="9C5446"/>
                </a:solidFill>
                <a:latin typeface="メイリオ" pitchFamily="34" charset="0"/>
                <a:ea typeface="メイリオ" pitchFamily="34" charset="-122"/>
                <a:cs typeface="メイリオ" pitchFamily="34" charset="-120"/>
              </a:rPr>
              <a:t>約600万人　</a:t>
            </a:r>
            <a:pPr indent="0" marL="0">
              <a:lnSpc>
                <a:spcPts val="2200"/>
              </a:lnSpc>
              <a:buNone/>
            </a:pPr>
            <a:r>
              <a:rPr lang="en-US" sz="1400" dirty="0">
                <a:solidFill>
                  <a:srgbClr val="2B2620"/>
                </a:solidFill>
                <a:latin typeface="メイリオ" pitchFamily="34" charset="0"/>
                <a:ea typeface="メイリオ" pitchFamily="34" charset="-122"/>
                <a:cs typeface="メイリオ" pitchFamily="34" charset="-120"/>
              </a:rPr>
              <a:t>精神疾患を持つ患者数。国は2024年、厚生労働白書で初めて「こころの健康」をテーマに。</a:t>
            </a:r>
            <a:endParaRPr lang="en-US" sz="1400" dirty="0"/>
          </a:p>
        </p:txBody>
      </p:sp>
      <p:sp>
        <p:nvSpPr>
          <p:cNvPr id="10" name="Text 8"/>
          <p:cNvSpPr txBox="1"/>
          <p:nvPr/>
        </p:nvSpPr>
        <p:spPr>
          <a:xfrm>
            <a:off x="6309360" y="1920240"/>
            <a:ext cx="5193792" cy="960120"/>
          </a:xfrm>
          <a:prstGeom prst="rect">
            <a:avLst/>
          </a:prstGeom>
          <a:noFill/>
          <a:ln/>
        </p:spPr>
        <p:txBody>
          <a:bodyPr wrap="square" lIns="0" tIns="0" rIns="0" bIns="0" rtlCol="0" anchor="t"/>
          <a:lstStyle/>
          <a:p>
            <a:pPr indent="0" marL="0">
              <a:lnSpc>
                <a:spcPts val="2200"/>
              </a:lnSpc>
              <a:buNone/>
            </a:pPr>
            <a:r>
              <a:rPr lang="en-US" sz="1400" dirty="0">
                <a:solidFill>
                  <a:srgbClr val="5A5249"/>
                </a:solidFill>
                <a:latin typeface="メイリオ" pitchFamily="34" charset="0"/>
                <a:ea typeface="メイリオ" pitchFamily="34" charset="-122"/>
                <a:cs typeface="メイリオ" pitchFamily="34" charset="-120"/>
              </a:rPr>
              <a:t>のべ20,000人を診てきて、心の不調の方が明らかに増えました。</a:t>
            </a:r>
            <a:endParaRPr lang="en-US" sz="1400" dirty="0"/>
          </a:p>
        </p:txBody>
      </p:sp>
      <p:sp>
        <p:nvSpPr>
          <p:cNvPr id="11" name="Shape 9"/>
          <p:cNvSpPr/>
          <p:nvPr/>
        </p:nvSpPr>
        <p:spPr>
          <a:xfrm>
            <a:off x="685800" y="2843784"/>
            <a:ext cx="5029200" cy="7315"/>
          </a:xfrm>
          <a:prstGeom prst="rect">
            <a:avLst/>
          </a:prstGeom>
          <a:solidFill>
            <a:srgbClr val="D2C4AE"/>
          </a:solidFill>
          <a:ln/>
        </p:spPr>
      </p:sp>
      <p:sp>
        <p:nvSpPr>
          <p:cNvPr id="12" name="Shape 10"/>
          <p:cNvSpPr/>
          <p:nvPr/>
        </p:nvSpPr>
        <p:spPr>
          <a:xfrm>
            <a:off x="6309360" y="2843784"/>
            <a:ext cx="5193792" cy="7315"/>
          </a:xfrm>
          <a:prstGeom prst="rect">
            <a:avLst/>
          </a:prstGeom>
          <a:solidFill>
            <a:srgbClr val="D2C4AE"/>
          </a:solidFill>
          <a:ln/>
        </p:spPr>
      </p:sp>
      <p:sp>
        <p:nvSpPr>
          <p:cNvPr id="13" name="Text 11"/>
          <p:cNvSpPr txBox="1"/>
          <p:nvPr/>
        </p:nvSpPr>
        <p:spPr>
          <a:xfrm>
            <a:off x="685800" y="2971800"/>
            <a:ext cx="5029200" cy="1005840"/>
          </a:xfrm>
          <a:prstGeom prst="rect">
            <a:avLst/>
          </a:prstGeom>
          <a:noFill/>
          <a:ln/>
        </p:spPr>
        <p:txBody>
          <a:bodyPr wrap="square" lIns="0" tIns="0" rIns="0" bIns="0" rtlCol="0" anchor="t"/>
          <a:lstStyle/>
          <a:p>
            <a:pPr indent="0" marL="0">
              <a:lnSpc>
                <a:spcPts val="2200"/>
              </a:lnSpc>
              <a:buNone/>
            </a:pPr>
            <a:r>
              <a:rPr lang="en-US" sz="1700" b="1" dirty="0">
                <a:solidFill>
                  <a:srgbClr val="9C5446"/>
                </a:solidFill>
                <a:latin typeface="メイリオ" pitchFamily="34" charset="0"/>
                <a:ea typeface="メイリオ" pitchFamily="34" charset="-122"/>
                <a:cs typeface="メイリオ" pitchFamily="34" charset="-120"/>
              </a:rPr>
              <a:t>2028年4月　</a:t>
            </a:r>
            <a:pPr indent="0" marL="0">
              <a:lnSpc>
                <a:spcPts val="2200"/>
              </a:lnSpc>
              <a:buNone/>
            </a:pPr>
            <a:r>
              <a:rPr lang="en-US" sz="1400" dirty="0">
                <a:solidFill>
                  <a:srgbClr val="2B2620"/>
                </a:solidFill>
                <a:latin typeface="メイリオ" pitchFamily="34" charset="0"/>
                <a:ea typeface="メイリオ" pitchFamily="34" charset="-122"/>
                <a:cs typeface="メイリオ" pitchFamily="34" charset="-120"/>
              </a:rPr>
              <a:t>50人未満の事業場にもストレスチェックが義務化。現在の実施率は6割弱です。</a:t>
            </a:r>
            <a:endParaRPr lang="en-US" sz="1400" dirty="0"/>
          </a:p>
        </p:txBody>
      </p:sp>
      <p:sp>
        <p:nvSpPr>
          <p:cNvPr id="14" name="Text 12"/>
          <p:cNvSpPr txBox="1"/>
          <p:nvPr/>
        </p:nvSpPr>
        <p:spPr>
          <a:xfrm>
            <a:off x="6309360" y="2971800"/>
            <a:ext cx="5193792" cy="960120"/>
          </a:xfrm>
          <a:prstGeom prst="rect">
            <a:avLst/>
          </a:prstGeom>
          <a:noFill/>
          <a:ln/>
        </p:spPr>
        <p:txBody>
          <a:bodyPr wrap="square" lIns="0" tIns="0" rIns="0" bIns="0" rtlCol="0" anchor="t"/>
          <a:lstStyle/>
          <a:p>
            <a:pPr indent="0" marL="0">
              <a:lnSpc>
                <a:spcPts val="2200"/>
              </a:lnSpc>
              <a:buNone/>
            </a:pPr>
            <a:r>
              <a:rPr lang="en-US" sz="1400" dirty="0">
                <a:solidFill>
                  <a:srgbClr val="5A5249"/>
                </a:solidFill>
                <a:latin typeface="メイリオ" pitchFamily="34" charset="0"/>
                <a:ea typeface="メイリオ" pitchFamily="34" charset="-122"/>
                <a:cs typeface="メイリオ" pitchFamily="34" charset="-120"/>
              </a:rPr>
              <a:t>気づいても、次に行く場所がない。精神科は予約が埋まり、新規を止める医療機関も出ています。</a:t>
            </a:r>
            <a:endParaRPr lang="en-US" sz="1400" dirty="0"/>
          </a:p>
        </p:txBody>
      </p:sp>
      <p:sp>
        <p:nvSpPr>
          <p:cNvPr id="15" name="Shape 13"/>
          <p:cNvSpPr/>
          <p:nvPr/>
        </p:nvSpPr>
        <p:spPr>
          <a:xfrm>
            <a:off x="685800" y="3895344"/>
            <a:ext cx="5029200" cy="7315"/>
          </a:xfrm>
          <a:prstGeom prst="rect">
            <a:avLst/>
          </a:prstGeom>
          <a:solidFill>
            <a:srgbClr val="D2C4AE"/>
          </a:solidFill>
          <a:ln/>
        </p:spPr>
      </p:sp>
      <p:sp>
        <p:nvSpPr>
          <p:cNvPr id="16" name="Shape 14"/>
          <p:cNvSpPr/>
          <p:nvPr/>
        </p:nvSpPr>
        <p:spPr>
          <a:xfrm>
            <a:off x="6309360" y="3895344"/>
            <a:ext cx="5193792" cy="7315"/>
          </a:xfrm>
          <a:prstGeom prst="rect">
            <a:avLst/>
          </a:prstGeom>
          <a:solidFill>
            <a:srgbClr val="D2C4AE"/>
          </a:solidFill>
          <a:ln/>
        </p:spPr>
      </p:sp>
      <p:sp>
        <p:nvSpPr>
          <p:cNvPr id="17" name="Text 15"/>
          <p:cNvSpPr txBox="1"/>
          <p:nvPr/>
        </p:nvSpPr>
        <p:spPr>
          <a:xfrm>
            <a:off x="685800" y="4023360"/>
            <a:ext cx="5029200" cy="1005840"/>
          </a:xfrm>
          <a:prstGeom prst="rect">
            <a:avLst/>
          </a:prstGeom>
          <a:noFill/>
          <a:ln/>
        </p:spPr>
        <p:txBody>
          <a:bodyPr wrap="square" lIns="0" tIns="0" rIns="0" bIns="0" rtlCol="0" anchor="t"/>
          <a:lstStyle/>
          <a:p>
            <a:pPr indent="0" marL="0">
              <a:lnSpc>
                <a:spcPts val="2200"/>
              </a:lnSpc>
              <a:buNone/>
            </a:pPr>
            <a:r>
              <a:rPr lang="en-US" sz="1700" b="1" dirty="0">
                <a:solidFill>
                  <a:srgbClr val="9C5446"/>
                </a:solidFill>
                <a:latin typeface="メイリオ" pitchFamily="34" charset="0"/>
                <a:ea typeface="メイリオ" pitchFamily="34" charset="-122"/>
                <a:cs typeface="メイリオ" pitchFamily="34" charset="-120"/>
              </a:rPr>
              <a:t>年7.6兆円　</a:t>
            </a:r>
            <a:pPr indent="0" marL="0">
              <a:lnSpc>
                <a:spcPts val="2200"/>
              </a:lnSpc>
              <a:buNone/>
            </a:pPr>
            <a:r>
              <a:rPr lang="en-US" sz="1400" dirty="0">
                <a:solidFill>
                  <a:srgbClr val="2B2620"/>
                </a:solidFill>
                <a:latin typeface="メイリオ" pitchFamily="34" charset="0"/>
                <a:ea typeface="メイリオ" pitchFamily="34" charset="-122"/>
                <a:cs typeface="メイリオ" pitchFamily="34" charset="-120"/>
              </a:rPr>
              <a:t>メンタル不調による経済損失。休職・欠勤（アブセンティーイズム）は0.3兆円。残り7.3兆円は出社している人（プレゼンティーイズム）です。</a:t>
            </a:r>
            <a:endParaRPr lang="en-US" sz="1400" dirty="0"/>
          </a:p>
        </p:txBody>
      </p:sp>
      <p:sp>
        <p:nvSpPr>
          <p:cNvPr id="18" name="Text 16"/>
          <p:cNvSpPr txBox="1"/>
          <p:nvPr/>
        </p:nvSpPr>
        <p:spPr>
          <a:xfrm>
            <a:off x="6309360" y="4023360"/>
            <a:ext cx="5193792" cy="960120"/>
          </a:xfrm>
          <a:prstGeom prst="rect">
            <a:avLst/>
          </a:prstGeom>
          <a:noFill/>
          <a:ln/>
        </p:spPr>
        <p:txBody>
          <a:bodyPr wrap="square" lIns="0" tIns="0" rIns="0" bIns="0" rtlCol="0" anchor="t"/>
          <a:lstStyle/>
          <a:p>
            <a:pPr indent="0" marL="0">
              <a:lnSpc>
                <a:spcPts val="2200"/>
              </a:lnSpc>
              <a:buNone/>
            </a:pPr>
            <a:r>
              <a:rPr lang="en-US" sz="1400" dirty="0">
                <a:solidFill>
                  <a:srgbClr val="5A5249"/>
                </a:solidFill>
                <a:latin typeface="メイリオ" pitchFamily="34" charset="0"/>
                <a:ea typeface="メイリオ" pitchFamily="34" charset="-122"/>
                <a:cs typeface="メイリオ" pitchFamily="34" charset="-120"/>
              </a:rPr>
              <a:t>休職や通院の手前で止まる方が、いちばん多い。この層は誰の担当でもありません。</a:t>
            </a:r>
            <a:endParaRPr lang="en-US" sz="1400" dirty="0"/>
          </a:p>
        </p:txBody>
      </p:sp>
      <p:sp>
        <p:nvSpPr>
          <p:cNvPr id="19" name="Text 17"/>
          <p:cNvSpPr txBox="1"/>
          <p:nvPr/>
        </p:nvSpPr>
        <p:spPr>
          <a:xfrm>
            <a:off x="685800" y="5120640"/>
            <a:ext cx="10820095" cy="548640"/>
          </a:xfrm>
          <a:prstGeom prst="rect">
            <a:avLst/>
          </a:prstGeom>
          <a:noFill/>
          <a:ln/>
        </p:spPr>
        <p:txBody>
          <a:bodyPr wrap="square" lIns="0" tIns="0" rIns="0" bIns="0" rtlCol="0" anchor="ctr"/>
          <a:lstStyle/>
          <a:p>
            <a:pPr indent="0" marL="0">
              <a:buNone/>
            </a:pPr>
            <a:r>
              <a:rPr lang="en-US" sz="2400" b="1" dirty="0">
                <a:solidFill>
                  <a:srgbClr val="9C5446"/>
                </a:solidFill>
                <a:latin typeface="メイリオ" pitchFamily="34" charset="0"/>
                <a:ea typeface="メイリオ" pitchFamily="34" charset="-122"/>
                <a:cs typeface="メイリオ" pitchFamily="34" charset="-120"/>
              </a:rPr>
              <a:t>だから、未病の段階で止めておきたい。</a:t>
            </a:r>
            <a:endParaRPr lang="en-US" sz="2400" dirty="0"/>
          </a:p>
        </p:txBody>
      </p:sp>
      <p:sp>
        <p:nvSpPr>
          <p:cNvPr id="20" name="Text 18"/>
          <p:cNvSpPr txBox="1"/>
          <p:nvPr/>
        </p:nvSpPr>
        <p:spPr>
          <a:xfrm>
            <a:off x="685800" y="5852160"/>
            <a:ext cx="10820095" cy="457200"/>
          </a:xfrm>
          <a:prstGeom prst="rect">
            <a:avLst/>
          </a:prstGeom>
          <a:noFill/>
          <a:ln/>
        </p:spPr>
        <p:txBody>
          <a:bodyPr wrap="square" lIns="0" tIns="0" rIns="0" bIns="0" rtlCol="0" anchor="t"/>
          <a:lstStyle/>
          <a:p>
            <a:pPr indent="0" marL="0">
              <a:lnSpc>
                <a:spcPts val="1500"/>
              </a:lnSpc>
              <a:buNone/>
            </a:pPr>
            <a:r>
              <a:rPr lang="en-US" sz="1100" dirty="0">
                <a:solidFill>
                  <a:srgbClr val="8B8175"/>
                </a:solidFill>
                <a:latin typeface="メイリオ" pitchFamily="34" charset="0"/>
                <a:ea typeface="メイリオ" pitchFamily="34" charset="-122"/>
                <a:cs typeface="メイリオ" pitchFamily="34" charset="-120"/>
              </a:rPr>
              <a:t>出典：厚生労働省 患者調査／令和6年版 厚生労働白書／改正労働安全衛生法（2025年5月公布・2028年4月施行）／メンタルヘルス不調による経済損失の試算</a:t>
            </a:r>
            <a:endParaRPr lang="en-US" sz="1100" dirty="0"/>
          </a:p>
        </p:txBody>
      </p:sp>
      <p:sp>
        <p:nvSpPr>
          <p:cNvPr id="21" name="Text 19"/>
          <p:cNvSpPr txBox="1"/>
          <p:nvPr/>
        </p:nvSpPr>
        <p:spPr>
          <a:xfrm>
            <a:off x="685800" y="6336792"/>
            <a:ext cx="7315200" cy="274320"/>
          </a:xfrm>
          <a:prstGeom prst="rect">
            <a:avLst/>
          </a:prstGeom>
          <a:noFill/>
          <a:ln/>
        </p:spPr>
        <p:txBody>
          <a:bodyPr wrap="square" lIns="0" tIns="0" rIns="0" bIns="0" rtlCol="0" anchor="ctr"/>
          <a:lstStyle/>
          <a:p>
            <a:pPr indent="0" marL="0">
              <a:buNone/>
            </a:pPr>
            <a:r>
              <a:rPr lang="en-US" sz="1200" spc="100" kern="0" dirty="0">
                <a:solidFill>
                  <a:srgbClr val="8B8175"/>
                </a:solidFill>
                <a:latin typeface="メイリオ" pitchFamily="34" charset="0"/>
                <a:ea typeface="メイリオ" pitchFamily="34" charset="-122"/>
                <a:cs typeface="メイリオ" pitchFamily="34" charset="-120"/>
              </a:rPr>
              <a:t>米倉まな｜アポプラスステーション様 ご提案</a:t>
            </a:r>
            <a:endParaRPr lang="en-US" sz="1200" dirty="0"/>
          </a:p>
        </p:txBody>
      </p:sp>
      <p:sp>
        <p:nvSpPr>
          <p:cNvPr id="22" name="Text 20"/>
          <p:cNvSpPr txBox="1"/>
          <p:nvPr/>
        </p:nvSpPr>
        <p:spPr>
          <a:xfrm>
            <a:off x="8305495" y="6336792"/>
            <a:ext cx="3200400" cy="274320"/>
          </a:xfrm>
          <a:prstGeom prst="rect">
            <a:avLst/>
          </a:prstGeom>
          <a:noFill/>
          <a:ln/>
        </p:spPr>
        <p:txBody>
          <a:bodyPr wrap="square" lIns="0" tIns="0" rIns="0" bIns="0" rtlCol="0" anchor="ctr"/>
          <a:lstStyle/>
          <a:p>
            <a:pPr algn="r" indent="0" marL="0">
              <a:buNone/>
            </a:pPr>
            <a:r>
              <a:rPr lang="en-US" sz="1200" dirty="0">
                <a:solidFill>
                  <a:srgbClr val="8B8175"/>
                </a:solidFill>
                <a:latin typeface="メイリオ" pitchFamily="34" charset="0"/>
                <a:ea typeface="メイリオ" pitchFamily="34" charset="-122"/>
                <a:cs typeface="メイリオ" pitchFamily="34" charset="-120"/>
              </a:rPr>
              <a:t>3:05 → 3:50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ADB"/>
        </a:solidFill>
      </p:bgPr>
    </p:bg>
    <p:spTree>
      <p:nvGrpSpPr>
        <p:cNvPr id="1" name=""/>
        <p:cNvGrpSpPr/>
        <p:nvPr/>
      </p:nvGrpSpPr>
      <p:grpSpPr>
        <a:xfrm>
          <a:off x="0" y="0"/>
          <a:ext cx="0" cy="0"/>
          <a:chOff x="0" y="0"/>
          <a:chExt cx="0" cy="0"/>
        </a:xfrm>
      </p:grpSpPr>
      <p:sp>
        <p:nvSpPr>
          <p:cNvPr id="2" name="Shape 0"/>
          <p:cNvSpPr/>
          <p:nvPr/>
        </p:nvSpPr>
        <p:spPr>
          <a:xfrm>
            <a:off x="685800" y="562356"/>
            <a:ext cx="237744" cy="12802"/>
          </a:xfrm>
          <a:prstGeom prst="rect">
            <a:avLst/>
          </a:prstGeom>
          <a:solidFill>
            <a:srgbClr val="9C5446"/>
          </a:solidFill>
          <a:ln/>
        </p:spPr>
      </p:sp>
      <p:sp>
        <p:nvSpPr>
          <p:cNvPr id="3" name="Text 1"/>
          <p:cNvSpPr txBox="1"/>
          <p:nvPr/>
        </p:nvSpPr>
        <p:spPr>
          <a:xfrm>
            <a:off x="996696" y="365760"/>
            <a:ext cx="7315200" cy="310896"/>
          </a:xfrm>
          <a:prstGeom prst="rect">
            <a:avLst/>
          </a:prstGeom>
          <a:noFill/>
          <a:ln/>
        </p:spPr>
        <p:txBody>
          <a:bodyPr wrap="square" lIns="0" tIns="0" rIns="0" bIns="0" rtlCol="0" anchor="ctr"/>
          <a:lstStyle/>
          <a:p>
            <a:pPr indent="0" marL="0">
              <a:buNone/>
            </a:pPr>
            <a:r>
              <a:rPr lang="en-US" sz="1400" b="1" spc="200" kern="0" dirty="0">
                <a:solidFill>
                  <a:srgbClr val="9C5446"/>
                </a:solidFill>
                <a:latin typeface="メイリオ" pitchFamily="34" charset="0"/>
                <a:ea typeface="メイリオ" pitchFamily="34" charset="-122"/>
                <a:cs typeface="メイリオ" pitchFamily="34" charset="-120"/>
              </a:rPr>
              <a:t>07   </a:t>
            </a:r>
            <a:pPr indent="0" marL="0">
              <a:buNone/>
            </a:pPr>
            <a:r>
              <a:rPr lang="en-US" sz="1400" spc="300" kern="0" dirty="0">
                <a:solidFill>
                  <a:srgbClr val="8B8175"/>
                </a:solidFill>
                <a:latin typeface="メイリオ" pitchFamily="34" charset="0"/>
                <a:ea typeface="メイリオ" pitchFamily="34" charset="-122"/>
                <a:cs typeface="メイリオ" pitchFamily="34" charset="-120"/>
              </a:rPr>
              <a:t>MY LIMIT</a:t>
            </a:r>
            <a:endParaRPr lang="en-US" sz="1400" dirty="0"/>
          </a:p>
        </p:txBody>
      </p:sp>
      <p:sp>
        <p:nvSpPr>
          <p:cNvPr id="4" name="Text 2"/>
          <p:cNvSpPr txBox="1"/>
          <p:nvPr/>
        </p:nvSpPr>
        <p:spPr>
          <a:xfrm>
            <a:off x="685800" y="777240"/>
            <a:ext cx="10820095" cy="777240"/>
          </a:xfrm>
          <a:prstGeom prst="rect">
            <a:avLst/>
          </a:prstGeom>
          <a:noFill/>
          <a:ln/>
        </p:spPr>
        <p:txBody>
          <a:bodyPr wrap="square" lIns="0" tIns="0" rIns="0" bIns="0" rtlCol="0" anchor="ctr"/>
          <a:lstStyle/>
          <a:p>
            <a:pPr indent="0" marL="0">
              <a:buNone/>
            </a:pPr>
            <a:r>
              <a:rPr lang="en-US" sz="2800" b="1" spc="100" kern="0" dirty="0">
                <a:solidFill>
                  <a:srgbClr val="2B2620"/>
                </a:solidFill>
                <a:latin typeface="メイリオ" pitchFamily="34" charset="0"/>
                <a:ea typeface="メイリオ" pitchFamily="34" charset="-122"/>
                <a:cs typeface="メイリオ" pitchFamily="34" charset="-120"/>
              </a:rPr>
              <a:t>私の課題：私1人で抱えられる量に天井があります</a:t>
            </a:r>
            <a:endParaRPr lang="en-US" sz="2800" dirty="0"/>
          </a:p>
        </p:txBody>
      </p:sp>
      <p:sp>
        <p:nvSpPr>
          <p:cNvPr id="5" name="Text 3"/>
          <p:cNvSpPr txBox="1"/>
          <p:nvPr/>
        </p:nvSpPr>
        <p:spPr>
          <a:xfrm>
            <a:off x="685800" y="2057400"/>
            <a:ext cx="457200" cy="365760"/>
          </a:xfrm>
          <a:prstGeom prst="rect">
            <a:avLst/>
          </a:prstGeom>
          <a:noFill/>
          <a:ln/>
        </p:spPr>
        <p:txBody>
          <a:bodyPr wrap="square" lIns="0" tIns="0" rIns="0" bIns="0" rtlCol="0" anchor="ctr"/>
          <a:lstStyle/>
          <a:p>
            <a:pPr indent="0" marL="0">
              <a:buNone/>
            </a:pPr>
            <a:r>
              <a:rPr lang="en-US" sz="1600" b="1" dirty="0">
                <a:solidFill>
                  <a:srgbClr val="9C5446"/>
                </a:solidFill>
                <a:latin typeface="メイリオ" pitchFamily="34" charset="0"/>
                <a:ea typeface="メイリオ" pitchFamily="34" charset="-122"/>
                <a:cs typeface="メイリオ" pitchFamily="34" charset="-120"/>
              </a:rPr>
              <a:t>01</a:t>
            </a:r>
            <a:endParaRPr lang="en-US" sz="1600" dirty="0"/>
          </a:p>
        </p:txBody>
      </p:sp>
      <p:sp>
        <p:nvSpPr>
          <p:cNvPr id="6" name="Text 4"/>
          <p:cNvSpPr txBox="1"/>
          <p:nvPr/>
        </p:nvSpPr>
        <p:spPr>
          <a:xfrm>
            <a:off x="1234440" y="2057400"/>
            <a:ext cx="4937760" cy="640080"/>
          </a:xfrm>
          <a:prstGeom prst="rect">
            <a:avLst/>
          </a:prstGeom>
          <a:noFill/>
          <a:ln/>
        </p:spPr>
        <p:txBody>
          <a:bodyPr wrap="square" lIns="0" tIns="0" rIns="0" bIns="0" rtlCol="0" anchor="ctr"/>
          <a:lstStyle/>
          <a:p>
            <a:pPr indent="0" marL="0">
              <a:lnSpc>
                <a:spcPts val="1900"/>
              </a:lnSpc>
              <a:buNone/>
            </a:pPr>
            <a:r>
              <a:rPr lang="en-US" sz="1400" dirty="0">
                <a:solidFill>
                  <a:srgbClr val="2B2620"/>
                </a:solidFill>
                <a:latin typeface="メイリオ" pitchFamily="34" charset="0"/>
                <a:ea typeface="メイリオ" pitchFamily="34" charset="-122"/>
                <a:cs typeface="メイリオ" pitchFamily="34" charset="-120"/>
              </a:rPr>
              <a:t>臨床も、育成も、研究も、いまは私に紐づいている（属人）</a:t>
            </a:r>
            <a:endParaRPr lang="en-US" sz="1400" dirty="0"/>
          </a:p>
        </p:txBody>
      </p:sp>
      <p:sp>
        <p:nvSpPr>
          <p:cNvPr id="7" name="Text 5"/>
          <p:cNvSpPr txBox="1"/>
          <p:nvPr/>
        </p:nvSpPr>
        <p:spPr>
          <a:xfrm>
            <a:off x="685800" y="2834640"/>
            <a:ext cx="457200" cy="365760"/>
          </a:xfrm>
          <a:prstGeom prst="rect">
            <a:avLst/>
          </a:prstGeom>
          <a:noFill/>
          <a:ln/>
        </p:spPr>
        <p:txBody>
          <a:bodyPr wrap="square" lIns="0" tIns="0" rIns="0" bIns="0" rtlCol="0" anchor="ctr"/>
          <a:lstStyle/>
          <a:p>
            <a:pPr indent="0" marL="0">
              <a:buNone/>
            </a:pPr>
            <a:r>
              <a:rPr lang="en-US" sz="1600" b="1" dirty="0">
                <a:solidFill>
                  <a:srgbClr val="9C5446"/>
                </a:solidFill>
                <a:latin typeface="メイリオ" pitchFamily="34" charset="0"/>
                <a:ea typeface="メイリオ" pitchFamily="34" charset="-122"/>
                <a:cs typeface="メイリオ" pitchFamily="34" charset="-120"/>
              </a:rPr>
              <a:t>02</a:t>
            </a:r>
            <a:endParaRPr lang="en-US" sz="1600" dirty="0"/>
          </a:p>
        </p:txBody>
      </p:sp>
      <p:sp>
        <p:nvSpPr>
          <p:cNvPr id="8" name="Text 6"/>
          <p:cNvSpPr txBox="1"/>
          <p:nvPr/>
        </p:nvSpPr>
        <p:spPr>
          <a:xfrm>
            <a:off x="1234440" y="2834640"/>
            <a:ext cx="4937760" cy="640080"/>
          </a:xfrm>
          <a:prstGeom prst="rect">
            <a:avLst/>
          </a:prstGeom>
          <a:noFill/>
          <a:ln/>
        </p:spPr>
        <p:txBody>
          <a:bodyPr wrap="square" lIns="0" tIns="0" rIns="0" bIns="0" rtlCol="0" anchor="ctr"/>
          <a:lstStyle/>
          <a:p>
            <a:pPr indent="0" marL="0">
              <a:lnSpc>
                <a:spcPts val="1900"/>
              </a:lnSpc>
              <a:buNone/>
            </a:pPr>
            <a:r>
              <a:rPr lang="en-US" sz="1400" dirty="0">
                <a:solidFill>
                  <a:srgbClr val="2B2620"/>
                </a:solidFill>
                <a:latin typeface="メイリオ" pitchFamily="34" charset="0"/>
                <a:ea typeface="メイリオ" pitchFamily="34" charset="-122"/>
                <a:cs typeface="メイリオ" pitchFamily="34" charset="-120"/>
              </a:rPr>
              <a:t>店舗は増やせても、施術者と運営を担える人は増やせていない</a:t>
            </a:r>
            <a:endParaRPr lang="en-US" sz="1400" dirty="0"/>
          </a:p>
        </p:txBody>
      </p:sp>
      <p:sp>
        <p:nvSpPr>
          <p:cNvPr id="9" name="Text 7"/>
          <p:cNvSpPr txBox="1"/>
          <p:nvPr/>
        </p:nvSpPr>
        <p:spPr>
          <a:xfrm>
            <a:off x="685800" y="3611880"/>
            <a:ext cx="457200" cy="365760"/>
          </a:xfrm>
          <a:prstGeom prst="rect">
            <a:avLst/>
          </a:prstGeom>
          <a:noFill/>
          <a:ln/>
        </p:spPr>
        <p:txBody>
          <a:bodyPr wrap="square" lIns="0" tIns="0" rIns="0" bIns="0" rtlCol="0" anchor="ctr"/>
          <a:lstStyle/>
          <a:p>
            <a:pPr indent="0" marL="0">
              <a:buNone/>
            </a:pPr>
            <a:r>
              <a:rPr lang="en-US" sz="1600" b="1" dirty="0">
                <a:solidFill>
                  <a:srgbClr val="9C5446"/>
                </a:solidFill>
                <a:latin typeface="メイリオ" pitchFamily="34" charset="0"/>
                <a:ea typeface="メイリオ" pitchFamily="34" charset="-122"/>
                <a:cs typeface="メイリオ" pitchFamily="34" charset="-120"/>
              </a:rPr>
              <a:t>03</a:t>
            </a:r>
            <a:endParaRPr lang="en-US" sz="1600" dirty="0"/>
          </a:p>
        </p:txBody>
      </p:sp>
      <p:sp>
        <p:nvSpPr>
          <p:cNvPr id="10" name="Text 8"/>
          <p:cNvSpPr txBox="1"/>
          <p:nvPr/>
        </p:nvSpPr>
        <p:spPr>
          <a:xfrm>
            <a:off x="1234440" y="3611880"/>
            <a:ext cx="4937760" cy="640080"/>
          </a:xfrm>
          <a:prstGeom prst="rect">
            <a:avLst/>
          </a:prstGeom>
          <a:noFill/>
          <a:ln/>
        </p:spPr>
        <p:txBody>
          <a:bodyPr wrap="square" lIns="0" tIns="0" rIns="0" bIns="0" rtlCol="0" anchor="ctr"/>
          <a:lstStyle/>
          <a:p>
            <a:pPr indent="0" marL="0">
              <a:lnSpc>
                <a:spcPts val="1900"/>
              </a:lnSpc>
              <a:buNone/>
            </a:pPr>
            <a:r>
              <a:rPr lang="en-US" sz="1400" dirty="0">
                <a:solidFill>
                  <a:srgbClr val="2B2620"/>
                </a:solidFill>
                <a:latin typeface="メイリオ" pitchFamily="34" charset="0"/>
                <a:ea typeface="メイリオ" pitchFamily="34" charset="-122"/>
                <a:cs typeface="メイリオ" pitchFamily="34" charset="-120"/>
              </a:rPr>
              <a:t>課題の大きさに対して、届けられる人数が圧倒的に足りない</a:t>
            </a:r>
            <a:endParaRPr lang="en-US" sz="1400" dirty="0"/>
          </a:p>
        </p:txBody>
      </p:sp>
      <p:sp>
        <p:nvSpPr>
          <p:cNvPr id="11" name="Text 9"/>
          <p:cNvSpPr txBox="1"/>
          <p:nvPr/>
        </p:nvSpPr>
        <p:spPr>
          <a:xfrm>
            <a:off x="6583680" y="2011680"/>
            <a:ext cx="4919472" cy="1371600"/>
          </a:xfrm>
          <a:prstGeom prst="rect">
            <a:avLst/>
          </a:prstGeom>
          <a:noFill/>
          <a:ln/>
        </p:spPr>
        <p:txBody>
          <a:bodyPr wrap="square" lIns="0" tIns="0" rIns="0" bIns="0" rtlCol="0" anchor="t"/>
          <a:lstStyle/>
          <a:p>
            <a:pPr indent="0" marL="0">
              <a:lnSpc>
                <a:spcPts val="4200"/>
              </a:lnSpc>
              <a:buNone/>
            </a:pPr>
            <a:r>
              <a:rPr lang="en-US" sz="2600" b="1" dirty="0">
                <a:solidFill>
                  <a:srgbClr val="2B2620"/>
                </a:solidFill>
                <a:latin typeface="メイリオ" pitchFamily="34" charset="0"/>
                <a:ea typeface="メイリオ" pitchFamily="34" charset="-122"/>
                <a:cs typeface="メイリオ" pitchFamily="34" charset="-120"/>
              </a:rPr>
              <a:t>仕組みと、人と、</a:t>
            </a:r>
            <a:endParaRPr lang="en-US" sz="2600" dirty="0"/>
          </a:p>
          <a:p>
            <a:pPr indent="0" marL="0">
              <a:lnSpc>
                <a:spcPts val="4200"/>
              </a:lnSpc>
              <a:buNone/>
            </a:pPr>
            <a:r>
              <a:rPr lang="en-US" sz="2600" b="1" dirty="0">
                <a:solidFill>
                  <a:srgbClr val="2B2620"/>
                </a:solidFill>
                <a:latin typeface="メイリオ" pitchFamily="34" charset="0"/>
                <a:ea typeface="メイリオ" pitchFamily="34" charset="-122"/>
                <a:cs typeface="メイリオ" pitchFamily="34" charset="-120"/>
              </a:rPr>
              <a:t>座組みが要る。</a:t>
            </a:r>
            <a:endParaRPr lang="en-US" sz="2600" dirty="0"/>
          </a:p>
        </p:txBody>
      </p:sp>
      <p:sp>
        <p:nvSpPr>
          <p:cNvPr id="12" name="Text 10"/>
          <p:cNvSpPr txBox="1"/>
          <p:nvPr/>
        </p:nvSpPr>
        <p:spPr>
          <a:xfrm>
            <a:off x="6583680" y="3611880"/>
            <a:ext cx="4919472" cy="822960"/>
          </a:xfrm>
          <a:prstGeom prst="rect">
            <a:avLst/>
          </a:prstGeom>
          <a:noFill/>
          <a:ln/>
        </p:spPr>
        <p:txBody>
          <a:bodyPr wrap="square" lIns="0" tIns="0" rIns="0" bIns="0" rtlCol="0" anchor="t"/>
          <a:lstStyle/>
          <a:p>
            <a:pPr indent="0" marL="0">
              <a:lnSpc>
                <a:spcPts val="1900"/>
              </a:lnSpc>
              <a:buNone/>
            </a:pPr>
            <a:r>
              <a:rPr lang="en-US" sz="1400" dirty="0">
                <a:solidFill>
                  <a:srgbClr val="5A5249"/>
                </a:solidFill>
                <a:latin typeface="メイリオ" pitchFamily="34" charset="0"/>
                <a:ea typeface="メイリオ" pitchFamily="34" charset="-122"/>
                <a:cs typeface="メイリオ" pitchFamily="34" charset="-120"/>
              </a:rPr>
              <a:t>ここは私が最も苦手な領域であり、御社が強い領域だと考えています。</a:t>
            </a:r>
            <a:endParaRPr lang="en-US" sz="1400" dirty="0"/>
          </a:p>
        </p:txBody>
      </p:sp>
      <p:sp>
        <p:nvSpPr>
          <p:cNvPr id="13" name="Text 11"/>
          <p:cNvSpPr txBox="1"/>
          <p:nvPr/>
        </p:nvSpPr>
        <p:spPr>
          <a:xfrm>
            <a:off x="685800" y="6336792"/>
            <a:ext cx="7315200" cy="274320"/>
          </a:xfrm>
          <a:prstGeom prst="rect">
            <a:avLst/>
          </a:prstGeom>
          <a:noFill/>
          <a:ln/>
        </p:spPr>
        <p:txBody>
          <a:bodyPr wrap="square" lIns="0" tIns="0" rIns="0" bIns="0" rtlCol="0" anchor="ctr"/>
          <a:lstStyle/>
          <a:p>
            <a:pPr indent="0" marL="0">
              <a:buNone/>
            </a:pPr>
            <a:r>
              <a:rPr lang="en-US" sz="1200" spc="100" kern="0" dirty="0">
                <a:solidFill>
                  <a:srgbClr val="8B8175"/>
                </a:solidFill>
                <a:latin typeface="メイリオ" pitchFamily="34" charset="0"/>
                <a:ea typeface="メイリオ" pitchFamily="34" charset="-122"/>
                <a:cs typeface="メイリオ" pitchFamily="34" charset="-120"/>
              </a:rPr>
              <a:t>米倉まな｜アポプラスステーション様 ご提案</a:t>
            </a:r>
            <a:endParaRPr lang="en-US" sz="1200" dirty="0"/>
          </a:p>
        </p:txBody>
      </p:sp>
      <p:sp>
        <p:nvSpPr>
          <p:cNvPr id="14" name="Text 12"/>
          <p:cNvSpPr txBox="1"/>
          <p:nvPr/>
        </p:nvSpPr>
        <p:spPr>
          <a:xfrm>
            <a:off x="8305495" y="6336792"/>
            <a:ext cx="3200400" cy="274320"/>
          </a:xfrm>
          <a:prstGeom prst="rect">
            <a:avLst/>
          </a:prstGeom>
          <a:noFill/>
          <a:ln/>
        </p:spPr>
        <p:txBody>
          <a:bodyPr wrap="square" lIns="0" tIns="0" rIns="0" bIns="0" rtlCol="0" anchor="ctr"/>
          <a:lstStyle/>
          <a:p>
            <a:pPr algn="r" indent="0" marL="0">
              <a:buNone/>
            </a:pPr>
            <a:r>
              <a:rPr lang="en-US" sz="1200" dirty="0">
                <a:solidFill>
                  <a:srgbClr val="8B8175"/>
                </a:solidFill>
                <a:latin typeface="メイリオ" pitchFamily="34" charset="0"/>
                <a:ea typeface="メイリオ" pitchFamily="34" charset="-122"/>
                <a:cs typeface="メイリオ" pitchFamily="34" charset="-120"/>
              </a:rPr>
              <a:t>3:50 → 4:10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ADB"/>
        </a:solidFill>
      </p:bgPr>
    </p:bg>
    <p:spTree>
      <p:nvGrpSpPr>
        <p:cNvPr id="1" name=""/>
        <p:cNvGrpSpPr/>
        <p:nvPr/>
      </p:nvGrpSpPr>
      <p:grpSpPr>
        <a:xfrm>
          <a:off x="0" y="0"/>
          <a:ext cx="0" cy="0"/>
          <a:chOff x="0" y="0"/>
          <a:chExt cx="0" cy="0"/>
        </a:xfrm>
      </p:grpSpPr>
      <p:sp>
        <p:nvSpPr>
          <p:cNvPr id="2" name="Shape 0"/>
          <p:cNvSpPr/>
          <p:nvPr/>
        </p:nvSpPr>
        <p:spPr>
          <a:xfrm>
            <a:off x="685800" y="562356"/>
            <a:ext cx="237744" cy="12802"/>
          </a:xfrm>
          <a:prstGeom prst="rect">
            <a:avLst/>
          </a:prstGeom>
          <a:solidFill>
            <a:srgbClr val="9C5446"/>
          </a:solidFill>
          <a:ln/>
        </p:spPr>
      </p:sp>
      <p:sp>
        <p:nvSpPr>
          <p:cNvPr id="3" name="Text 1"/>
          <p:cNvSpPr txBox="1"/>
          <p:nvPr/>
        </p:nvSpPr>
        <p:spPr>
          <a:xfrm>
            <a:off x="996696" y="365760"/>
            <a:ext cx="7315200" cy="310896"/>
          </a:xfrm>
          <a:prstGeom prst="rect">
            <a:avLst/>
          </a:prstGeom>
          <a:noFill/>
          <a:ln/>
        </p:spPr>
        <p:txBody>
          <a:bodyPr wrap="square" lIns="0" tIns="0" rIns="0" bIns="0" rtlCol="0" anchor="ctr"/>
          <a:lstStyle/>
          <a:p>
            <a:pPr indent="0" marL="0">
              <a:buNone/>
            </a:pPr>
            <a:r>
              <a:rPr lang="en-US" sz="1400" b="1" spc="200" kern="0" dirty="0">
                <a:solidFill>
                  <a:srgbClr val="9C5446"/>
                </a:solidFill>
                <a:latin typeface="メイリオ" pitchFamily="34" charset="0"/>
                <a:ea typeface="メイリオ" pitchFamily="34" charset="-122"/>
                <a:cs typeface="メイリオ" pitchFamily="34" charset="-120"/>
              </a:rPr>
              <a:t>08   </a:t>
            </a:r>
            <a:pPr indent="0" marL="0">
              <a:buNone/>
            </a:pPr>
            <a:r>
              <a:rPr lang="en-US" sz="1400" spc="300" kern="0" dirty="0">
                <a:solidFill>
                  <a:srgbClr val="8B8175"/>
                </a:solidFill>
                <a:latin typeface="メイリオ" pitchFamily="34" charset="0"/>
                <a:ea typeface="メイリオ" pitchFamily="34" charset="-122"/>
                <a:cs typeface="メイリオ" pitchFamily="34" charset="-120"/>
              </a:rPr>
              <a:t>PRODUCT</a:t>
            </a:r>
            <a:endParaRPr lang="en-US" sz="1400" dirty="0"/>
          </a:p>
        </p:txBody>
      </p:sp>
      <p:sp>
        <p:nvSpPr>
          <p:cNvPr id="4" name="Text 2"/>
          <p:cNvSpPr txBox="1"/>
          <p:nvPr/>
        </p:nvSpPr>
        <p:spPr>
          <a:xfrm>
            <a:off x="685800" y="777240"/>
            <a:ext cx="10820095" cy="777240"/>
          </a:xfrm>
          <a:prstGeom prst="rect">
            <a:avLst/>
          </a:prstGeom>
          <a:noFill/>
          <a:ln/>
        </p:spPr>
        <p:txBody>
          <a:bodyPr wrap="square" lIns="0" tIns="0" rIns="0" bIns="0" rtlCol="0" anchor="ctr"/>
          <a:lstStyle/>
          <a:p>
            <a:pPr indent="0" marL="0">
              <a:buNone/>
            </a:pPr>
            <a:r>
              <a:rPr lang="en-US" sz="2800" b="1" spc="100" kern="0" dirty="0">
                <a:solidFill>
                  <a:srgbClr val="2B2620"/>
                </a:solidFill>
                <a:latin typeface="メイリオ" pitchFamily="34" charset="0"/>
                <a:ea typeface="メイリオ" pitchFamily="34" charset="-122"/>
                <a:cs typeface="メイリオ" pitchFamily="34" charset="-120"/>
              </a:rPr>
              <a:t>いま提案したいのは「未病ノート」です</a:t>
            </a:r>
            <a:endParaRPr lang="en-US" sz="2800" dirty="0"/>
          </a:p>
        </p:txBody>
      </p:sp>
      <p:pic>
        <p:nvPicPr>
          <p:cNvPr id="5" name="Image 0" descr="/home/user/manayonekura/proposals/flow.png">    </p:cNvPr>
          <p:cNvPicPr>
            <a:picLocks noChangeAspect="1"/>
          </p:cNvPicPr>
          <p:nvPr/>
        </p:nvPicPr>
        <p:blipFill>
          <a:blip r:embed="rId1"/>
          <a:stretch>
            <a:fillRect/>
          </a:stretch>
        </p:blipFill>
        <p:spPr>
          <a:xfrm>
            <a:off x="685800" y="1645920"/>
            <a:ext cx="10820095" cy="2511079"/>
          </a:xfrm>
          <a:prstGeom prst="rect">
            <a:avLst/>
          </a:prstGeom>
        </p:spPr>
      </p:pic>
      <p:sp>
        <p:nvSpPr>
          <p:cNvPr id="6" name="Shape 3"/>
          <p:cNvSpPr/>
          <p:nvPr/>
        </p:nvSpPr>
        <p:spPr>
          <a:xfrm>
            <a:off x="685800" y="4343400"/>
            <a:ext cx="10820095" cy="1325880"/>
          </a:xfrm>
          <a:prstGeom prst="roundRect">
            <a:avLst>
              <a:gd name="adj" fmla="val 3448"/>
            </a:avLst>
          </a:prstGeom>
          <a:solidFill>
            <a:srgbClr val="FBF6EC"/>
          </a:solidFill>
          <a:ln w="9525">
            <a:solidFill>
              <a:srgbClr val="5E7060"/>
            </a:solidFill>
            <a:prstDash val="solid"/>
          </a:ln>
        </p:spPr>
      </p:sp>
      <p:sp>
        <p:nvSpPr>
          <p:cNvPr id="7" name="Text 4"/>
          <p:cNvSpPr txBox="1"/>
          <p:nvPr/>
        </p:nvSpPr>
        <p:spPr>
          <a:xfrm>
            <a:off x="960120" y="4544568"/>
            <a:ext cx="10271455" cy="237744"/>
          </a:xfrm>
          <a:prstGeom prst="rect">
            <a:avLst/>
          </a:prstGeom>
          <a:noFill/>
          <a:ln/>
        </p:spPr>
        <p:txBody>
          <a:bodyPr wrap="square" lIns="0" tIns="0" rIns="0" bIns="0" rtlCol="0" anchor="ctr"/>
          <a:lstStyle/>
          <a:p>
            <a:pPr indent="0" marL="0">
              <a:buNone/>
            </a:pPr>
            <a:r>
              <a:rPr lang="en-US" sz="1200" b="1" spc="100" kern="0" dirty="0">
                <a:solidFill>
                  <a:srgbClr val="5E7060"/>
                </a:solidFill>
                <a:latin typeface="メイリオ" pitchFamily="34" charset="0"/>
                <a:ea typeface="メイリオ" pitchFamily="34" charset="-122"/>
                <a:cs typeface="メイリオ" pitchFamily="34" charset="-120"/>
              </a:rPr>
              <a:t>設計</a:t>
            </a:r>
            <a:endParaRPr lang="en-US" sz="1200" dirty="0"/>
          </a:p>
        </p:txBody>
      </p:sp>
      <p:sp>
        <p:nvSpPr>
          <p:cNvPr id="8" name="Text 5"/>
          <p:cNvSpPr txBox="1"/>
          <p:nvPr/>
        </p:nvSpPr>
        <p:spPr>
          <a:xfrm>
            <a:off x="960120" y="4855464"/>
            <a:ext cx="10271455" cy="594360"/>
          </a:xfrm>
          <a:prstGeom prst="rect">
            <a:avLst/>
          </a:prstGeom>
          <a:noFill/>
          <a:ln/>
        </p:spPr>
        <p:txBody>
          <a:bodyPr wrap="square" lIns="0" tIns="0" rIns="0" bIns="0" rtlCol="0" anchor="t"/>
          <a:lstStyle/>
          <a:p>
            <a:pPr indent="0" marL="0">
              <a:lnSpc>
                <a:spcPts val="1900"/>
              </a:lnSpc>
              <a:buNone/>
            </a:pPr>
            <a:r>
              <a:rPr lang="en-US" sz="1400" b="1" dirty="0">
                <a:solidFill>
                  <a:srgbClr val="2B2620"/>
                </a:solidFill>
                <a:latin typeface="メイリオ" pitchFamily="34" charset="0"/>
                <a:ea typeface="メイリオ" pitchFamily="34" charset="-122"/>
                <a:cs typeface="メイリオ" pitchFamily="34" charset="-120"/>
              </a:rPr>
              <a:t>記録して終わりにしない。返事があるから続き、続くからデータになる。</a:t>
            </a:r>
            <a:pPr indent="0" marL="0">
              <a:lnSpc>
                <a:spcPts val="1900"/>
              </a:lnSpc>
              <a:buNone/>
            </a:pPr>
            <a:r>
              <a:rPr lang="en-US" sz="1400" dirty="0">
                <a:solidFill>
                  <a:srgbClr val="5A5249"/>
                </a:solidFill>
                <a:latin typeface="メイリオ" pitchFamily="34" charset="0"/>
                <a:ea typeface="メイリオ" pitchFamily="34" charset="-122"/>
                <a:cs typeface="メイリオ" pitchFamily="34" charset="-120"/>
              </a:rPr>
              <a:t>これがほかの記録アプリとの違いです。玉川大学 柴田研究室との共同提案で、私は臨床監修を担当します。</a:t>
            </a:r>
            <a:endParaRPr lang="en-US" sz="1400" dirty="0"/>
          </a:p>
        </p:txBody>
      </p:sp>
      <p:sp>
        <p:nvSpPr>
          <p:cNvPr id="9" name="Text 6"/>
          <p:cNvSpPr txBox="1"/>
          <p:nvPr/>
        </p:nvSpPr>
        <p:spPr>
          <a:xfrm>
            <a:off x="685800" y="6336792"/>
            <a:ext cx="7315200" cy="274320"/>
          </a:xfrm>
          <a:prstGeom prst="rect">
            <a:avLst/>
          </a:prstGeom>
          <a:noFill/>
          <a:ln/>
        </p:spPr>
        <p:txBody>
          <a:bodyPr wrap="square" lIns="0" tIns="0" rIns="0" bIns="0" rtlCol="0" anchor="ctr"/>
          <a:lstStyle/>
          <a:p>
            <a:pPr indent="0" marL="0">
              <a:buNone/>
            </a:pPr>
            <a:r>
              <a:rPr lang="en-US" sz="1200" spc="100" kern="0" dirty="0">
                <a:solidFill>
                  <a:srgbClr val="8B8175"/>
                </a:solidFill>
                <a:latin typeface="メイリオ" pitchFamily="34" charset="0"/>
                <a:ea typeface="メイリオ" pitchFamily="34" charset="-122"/>
                <a:cs typeface="メイリオ" pitchFamily="34" charset="-120"/>
              </a:rPr>
              <a:t>米倉まな｜アポプラスステーション様 ご提案</a:t>
            </a:r>
            <a:endParaRPr lang="en-US" sz="1200" dirty="0"/>
          </a:p>
        </p:txBody>
      </p:sp>
      <p:sp>
        <p:nvSpPr>
          <p:cNvPr id="10" name="Text 7"/>
          <p:cNvSpPr txBox="1"/>
          <p:nvPr/>
        </p:nvSpPr>
        <p:spPr>
          <a:xfrm>
            <a:off x="8305495" y="6336792"/>
            <a:ext cx="3200400" cy="274320"/>
          </a:xfrm>
          <a:prstGeom prst="rect">
            <a:avLst/>
          </a:prstGeom>
          <a:noFill/>
          <a:ln/>
        </p:spPr>
        <p:txBody>
          <a:bodyPr wrap="square" lIns="0" tIns="0" rIns="0" bIns="0" rtlCol="0" anchor="ctr"/>
          <a:lstStyle/>
          <a:p>
            <a:pPr algn="r" indent="0" marL="0">
              <a:buNone/>
            </a:pPr>
            <a:r>
              <a:rPr lang="en-US" sz="1200" dirty="0">
                <a:solidFill>
                  <a:srgbClr val="8B8175"/>
                </a:solidFill>
                <a:latin typeface="メイリオ" pitchFamily="34" charset="0"/>
                <a:ea typeface="メイリオ" pitchFamily="34" charset="-122"/>
                <a:cs typeface="メイリオ" pitchFamily="34" charset="-120"/>
              </a:rPr>
              <a:t>4:10 → 4:55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ADB"/>
        </a:solidFill>
      </p:bgPr>
    </p:bg>
    <p:spTree>
      <p:nvGrpSpPr>
        <p:cNvPr id="1" name=""/>
        <p:cNvGrpSpPr/>
        <p:nvPr/>
      </p:nvGrpSpPr>
      <p:grpSpPr>
        <a:xfrm>
          <a:off x="0" y="0"/>
          <a:ext cx="0" cy="0"/>
          <a:chOff x="0" y="0"/>
          <a:chExt cx="0" cy="0"/>
        </a:xfrm>
      </p:grpSpPr>
      <p:sp>
        <p:nvSpPr>
          <p:cNvPr id="2" name="Shape 0"/>
          <p:cNvSpPr/>
          <p:nvPr/>
        </p:nvSpPr>
        <p:spPr>
          <a:xfrm>
            <a:off x="685800" y="562356"/>
            <a:ext cx="237744" cy="12802"/>
          </a:xfrm>
          <a:prstGeom prst="rect">
            <a:avLst/>
          </a:prstGeom>
          <a:solidFill>
            <a:srgbClr val="9C5446"/>
          </a:solidFill>
          <a:ln/>
        </p:spPr>
      </p:sp>
      <p:sp>
        <p:nvSpPr>
          <p:cNvPr id="3" name="Text 1"/>
          <p:cNvSpPr txBox="1"/>
          <p:nvPr/>
        </p:nvSpPr>
        <p:spPr>
          <a:xfrm>
            <a:off x="996696" y="365760"/>
            <a:ext cx="7315200" cy="310896"/>
          </a:xfrm>
          <a:prstGeom prst="rect">
            <a:avLst/>
          </a:prstGeom>
          <a:noFill/>
          <a:ln/>
        </p:spPr>
        <p:txBody>
          <a:bodyPr wrap="square" lIns="0" tIns="0" rIns="0" bIns="0" rtlCol="0" anchor="ctr"/>
          <a:lstStyle/>
          <a:p>
            <a:pPr indent="0" marL="0">
              <a:buNone/>
            </a:pPr>
            <a:r>
              <a:rPr lang="en-US" sz="1400" b="1" spc="200" kern="0" dirty="0">
                <a:solidFill>
                  <a:srgbClr val="9C5446"/>
                </a:solidFill>
                <a:latin typeface="メイリオ" pitchFamily="34" charset="0"/>
                <a:ea typeface="メイリオ" pitchFamily="34" charset="-122"/>
                <a:cs typeface="メイリオ" pitchFamily="34" charset="-120"/>
              </a:rPr>
              <a:t>09   </a:t>
            </a:r>
            <a:pPr indent="0" marL="0">
              <a:buNone/>
            </a:pPr>
            <a:r>
              <a:rPr lang="en-US" sz="1400" spc="300" kern="0" dirty="0">
                <a:solidFill>
                  <a:srgbClr val="8B8175"/>
                </a:solidFill>
                <a:latin typeface="メイリオ" pitchFamily="34" charset="0"/>
                <a:ea typeface="メイリオ" pitchFamily="34" charset="-122"/>
                <a:cs typeface="メイリオ" pitchFamily="34" charset="-120"/>
              </a:rPr>
              <a:t>STRATEGIC FIT</a:t>
            </a:r>
            <a:endParaRPr lang="en-US" sz="1400" dirty="0"/>
          </a:p>
        </p:txBody>
      </p:sp>
      <p:sp>
        <p:nvSpPr>
          <p:cNvPr id="4" name="Text 2"/>
          <p:cNvSpPr txBox="1"/>
          <p:nvPr/>
        </p:nvSpPr>
        <p:spPr>
          <a:xfrm>
            <a:off x="685800" y="777240"/>
            <a:ext cx="10820095" cy="777240"/>
          </a:xfrm>
          <a:prstGeom prst="rect">
            <a:avLst/>
          </a:prstGeom>
          <a:noFill/>
          <a:ln/>
        </p:spPr>
        <p:txBody>
          <a:bodyPr wrap="square" lIns="0" tIns="0" rIns="0" bIns="0" rtlCol="0" anchor="ctr"/>
          <a:lstStyle/>
          <a:p>
            <a:pPr indent="0" marL="0">
              <a:buNone/>
            </a:pPr>
            <a:r>
              <a:rPr lang="en-US" sz="2800" b="1" spc="100" kern="0" dirty="0">
                <a:solidFill>
                  <a:srgbClr val="2B2620"/>
                </a:solidFill>
                <a:latin typeface="メイリオ" pitchFamily="34" charset="0"/>
                <a:ea typeface="メイリオ" pitchFamily="34" charset="-122"/>
                <a:cs typeface="メイリオ" pitchFamily="34" charset="-120"/>
              </a:rPr>
              <a:t>3つの壁が、御社では最初から解けています</a:t>
            </a:r>
            <a:endParaRPr lang="en-US" sz="2800" dirty="0"/>
          </a:p>
        </p:txBody>
      </p:sp>
      <p:sp>
        <p:nvSpPr>
          <p:cNvPr id="5" name="Text 3"/>
          <p:cNvSpPr txBox="1"/>
          <p:nvPr/>
        </p:nvSpPr>
        <p:spPr>
          <a:xfrm>
            <a:off x="685800" y="1627632"/>
            <a:ext cx="5029200" cy="274320"/>
          </a:xfrm>
          <a:prstGeom prst="rect">
            <a:avLst/>
          </a:prstGeom>
          <a:noFill/>
          <a:ln/>
        </p:spPr>
        <p:txBody>
          <a:bodyPr wrap="square" lIns="0" tIns="0" rIns="0" bIns="0" rtlCol="0" anchor="ctr"/>
          <a:lstStyle/>
          <a:p>
            <a:pPr indent="0" marL="0">
              <a:buNone/>
            </a:pPr>
            <a:r>
              <a:rPr lang="en-US" sz="1400" b="1" spc="200" kern="0" dirty="0">
                <a:solidFill>
                  <a:srgbClr val="9C5446"/>
                </a:solidFill>
                <a:latin typeface="メイリオ" pitchFamily="34" charset="0"/>
                <a:ea typeface="メイリオ" pitchFamily="34" charset="-122"/>
                <a:cs typeface="メイリオ" pitchFamily="34" charset="-120"/>
              </a:rPr>
              <a:t>立ちはだかる壁</a:t>
            </a:r>
            <a:endParaRPr lang="en-US" sz="1400" dirty="0"/>
          </a:p>
        </p:txBody>
      </p:sp>
      <p:sp>
        <p:nvSpPr>
          <p:cNvPr id="6" name="Text 4"/>
          <p:cNvSpPr txBox="1"/>
          <p:nvPr/>
        </p:nvSpPr>
        <p:spPr>
          <a:xfrm>
            <a:off x="6309360" y="1627632"/>
            <a:ext cx="5193792" cy="274320"/>
          </a:xfrm>
          <a:prstGeom prst="rect">
            <a:avLst/>
          </a:prstGeom>
          <a:noFill/>
          <a:ln/>
        </p:spPr>
        <p:txBody>
          <a:bodyPr wrap="square" lIns="0" tIns="0" rIns="0" bIns="0" rtlCol="0" anchor="ctr"/>
          <a:lstStyle/>
          <a:p>
            <a:pPr indent="0" marL="0">
              <a:buNone/>
            </a:pPr>
            <a:r>
              <a:rPr lang="en-US" sz="1400" b="1" spc="200" kern="0" dirty="0">
                <a:solidFill>
                  <a:srgbClr val="5E7060"/>
                </a:solidFill>
                <a:latin typeface="メイリオ" pitchFamily="34" charset="0"/>
                <a:ea typeface="メイリオ" pitchFamily="34" charset="-122"/>
                <a:cs typeface="メイリオ" pitchFamily="34" charset="-120"/>
              </a:rPr>
              <a:t>御社がすでに持っているもの</a:t>
            </a:r>
            <a:endParaRPr lang="en-US" sz="1400" dirty="0"/>
          </a:p>
        </p:txBody>
      </p:sp>
      <p:sp>
        <p:nvSpPr>
          <p:cNvPr id="7" name="Shape 5"/>
          <p:cNvSpPr/>
          <p:nvPr/>
        </p:nvSpPr>
        <p:spPr>
          <a:xfrm>
            <a:off x="685800" y="1764792"/>
            <a:ext cx="5029200" cy="7315"/>
          </a:xfrm>
          <a:prstGeom prst="rect">
            <a:avLst/>
          </a:prstGeom>
          <a:solidFill>
            <a:srgbClr val="D2C4AE"/>
          </a:solidFill>
          <a:ln/>
        </p:spPr>
      </p:sp>
      <p:sp>
        <p:nvSpPr>
          <p:cNvPr id="8" name="Shape 6"/>
          <p:cNvSpPr/>
          <p:nvPr/>
        </p:nvSpPr>
        <p:spPr>
          <a:xfrm>
            <a:off x="6309360" y="1764792"/>
            <a:ext cx="5193792" cy="7315"/>
          </a:xfrm>
          <a:prstGeom prst="rect">
            <a:avLst/>
          </a:prstGeom>
          <a:solidFill>
            <a:srgbClr val="D2C4AE"/>
          </a:solidFill>
          <a:ln/>
        </p:spPr>
      </p:sp>
      <p:sp>
        <p:nvSpPr>
          <p:cNvPr id="9" name="Text 7"/>
          <p:cNvSpPr txBox="1"/>
          <p:nvPr/>
        </p:nvSpPr>
        <p:spPr>
          <a:xfrm>
            <a:off x="685800" y="1874520"/>
            <a:ext cx="5029200" cy="822960"/>
          </a:xfrm>
          <a:prstGeom prst="rect">
            <a:avLst/>
          </a:prstGeom>
          <a:noFill/>
          <a:ln/>
        </p:spPr>
        <p:txBody>
          <a:bodyPr wrap="square" lIns="0" tIns="0" rIns="0" bIns="0" rtlCol="0" anchor="t"/>
          <a:lstStyle/>
          <a:p>
            <a:pPr indent="0" marL="0">
              <a:lnSpc>
                <a:spcPts val="2400"/>
              </a:lnSpc>
              <a:buNone/>
            </a:pPr>
            <a:r>
              <a:rPr lang="en-US" sz="1700" b="1" dirty="0">
                <a:solidFill>
                  <a:srgbClr val="9C5446"/>
                </a:solidFill>
                <a:latin typeface="メイリオ" pitchFamily="34" charset="0"/>
                <a:ea typeface="メイリオ" pitchFamily="34" charset="-122"/>
                <a:cs typeface="メイリオ" pitchFamily="34" charset="-120"/>
              </a:rPr>
              <a:t>01　</a:t>
            </a:r>
            <a:pPr indent="0" marL="0">
              <a:lnSpc>
                <a:spcPts val="2400"/>
              </a:lnSpc>
              <a:buNone/>
            </a:pPr>
            <a:r>
              <a:rPr lang="en-US" sz="1400" dirty="0">
                <a:solidFill>
                  <a:srgbClr val="2B2620"/>
                </a:solidFill>
                <a:latin typeface="メイリオ" pitchFamily="34" charset="0"/>
                <a:ea typeface="メイリオ" pitchFamily="34" charset="-122"/>
                <a:cs typeface="メイリオ" pitchFamily="34" charset="-120"/>
              </a:rPr>
              <a:t>利用者が集まらない。母数がなければ「同じ人がいます」は成立しません。</a:t>
            </a:r>
            <a:endParaRPr lang="en-US" sz="1400" dirty="0"/>
          </a:p>
        </p:txBody>
      </p:sp>
      <p:sp>
        <p:nvSpPr>
          <p:cNvPr id="10" name="Text 8"/>
          <p:cNvSpPr txBox="1"/>
          <p:nvPr/>
        </p:nvSpPr>
        <p:spPr>
          <a:xfrm>
            <a:off x="6309360" y="1874520"/>
            <a:ext cx="5193792" cy="822960"/>
          </a:xfrm>
          <a:prstGeom prst="rect">
            <a:avLst/>
          </a:prstGeom>
          <a:noFill/>
          <a:ln/>
        </p:spPr>
        <p:txBody>
          <a:bodyPr wrap="square" lIns="0" tIns="0" rIns="0" bIns="0" rtlCol="0" anchor="t"/>
          <a:lstStyle/>
          <a:p>
            <a:pPr indent="0" marL="0">
              <a:lnSpc>
                <a:spcPts val="2400"/>
              </a:lnSpc>
              <a:buNone/>
            </a:pPr>
            <a:r>
              <a:rPr lang="en-US" sz="1400" b="1" dirty="0">
                <a:solidFill>
                  <a:srgbClr val="2B2620"/>
                </a:solidFill>
                <a:latin typeface="メイリオ" pitchFamily="34" charset="0"/>
                <a:ea typeface="メイリオ" pitchFamily="34" charset="-122"/>
                <a:cs typeface="メイリオ" pitchFamily="34" charset="-120"/>
              </a:rPr>
              <a:t>従業員872名</a:t>
            </a:r>
            <a:pPr indent="0" marL="0">
              <a:lnSpc>
                <a:spcPts val="2400"/>
              </a:lnSpc>
              <a:buNone/>
            </a:pPr>
            <a:r>
              <a:rPr lang="en-US" sz="1400" dirty="0">
                <a:solidFill>
                  <a:srgbClr val="5A5249"/>
                </a:solidFill>
                <a:latin typeface="メイリオ" pitchFamily="34" charset="0"/>
                <a:ea typeface="メイリオ" pitchFamily="34" charset="-122"/>
                <a:cs typeface="メイリオ" pitchFamily="34" charset="-120"/>
              </a:rPr>
              <a:t>という初期母集団。初日から実測値で動きます。</a:t>
            </a:r>
            <a:endParaRPr lang="en-US" sz="1400" dirty="0"/>
          </a:p>
        </p:txBody>
      </p:sp>
      <p:sp>
        <p:nvSpPr>
          <p:cNvPr id="11" name="Shape 9"/>
          <p:cNvSpPr/>
          <p:nvPr/>
        </p:nvSpPr>
        <p:spPr>
          <a:xfrm>
            <a:off x="685800" y="2697480"/>
            <a:ext cx="5029200" cy="7315"/>
          </a:xfrm>
          <a:prstGeom prst="rect">
            <a:avLst/>
          </a:prstGeom>
          <a:solidFill>
            <a:srgbClr val="D2C4AE"/>
          </a:solidFill>
          <a:ln/>
        </p:spPr>
      </p:sp>
      <p:sp>
        <p:nvSpPr>
          <p:cNvPr id="12" name="Shape 10"/>
          <p:cNvSpPr/>
          <p:nvPr/>
        </p:nvSpPr>
        <p:spPr>
          <a:xfrm>
            <a:off x="6309360" y="2697480"/>
            <a:ext cx="5193792" cy="7315"/>
          </a:xfrm>
          <a:prstGeom prst="rect">
            <a:avLst/>
          </a:prstGeom>
          <a:solidFill>
            <a:srgbClr val="D2C4AE"/>
          </a:solidFill>
          <a:ln/>
        </p:spPr>
      </p:sp>
      <p:sp>
        <p:nvSpPr>
          <p:cNvPr id="13" name="Text 11"/>
          <p:cNvSpPr txBox="1"/>
          <p:nvPr/>
        </p:nvSpPr>
        <p:spPr>
          <a:xfrm>
            <a:off x="685800" y="2807208"/>
            <a:ext cx="5029200" cy="822960"/>
          </a:xfrm>
          <a:prstGeom prst="rect">
            <a:avLst/>
          </a:prstGeom>
          <a:noFill/>
          <a:ln/>
        </p:spPr>
        <p:txBody>
          <a:bodyPr wrap="square" lIns="0" tIns="0" rIns="0" bIns="0" rtlCol="0" anchor="t"/>
          <a:lstStyle/>
          <a:p>
            <a:pPr indent="0" marL="0">
              <a:lnSpc>
                <a:spcPts val="2400"/>
              </a:lnSpc>
              <a:buNone/>
            </a:pPr>
            <a:r>
              <a:rPr lang="en-US" sz="1700" b="1" dirty="0">
                <a:solidFill>
                  <a:srgbClr val="9C5446"/>
                </a:solidFill>
                <a:latin typeface="メイリオ" pitchFamily="34" charset="0"/>
                <a:ea typeface="メイリオ" pitchFamily="34" charset="-122"/>
                <a:cs typeface="メイリオ" pitchFamily="34" charset="-120"/>
              </a:rPr>
              <a:t>02　</a:t>
            </a:r>
            <a:pPr indent="0" marL="0">
              <a:lnSpc>
                <a:spcPts val="2400"/>
              </a:lnSpc>
              <a:buNone/>
            </a:pPr>
            <a:r>
              <a:rPr lang="en-US" sz="1400" dirty="0">
                <a:solidFill>
                  <a:srgbClr val="2B2620"/>
                </a:solidFill>
                <a:latin typeface="メイリオ" pitchFamily="34" charset="0"/>
                <a:ea typeface="メイリオ" pitchFamily="34" charset="-122"/>
                <a:cs typeface="メイリオ" pitchFamily="34" charset="-120"/>
              </a:rPr>
              <a:t>健康情報を扱う体制がない。ここが新規参入の最大の障壁です。</a:t>
            </a:r>
            <a:endParaRPr lang="en-US" sz="1400" dirty="0"/>
          </a:p>
        </p:txBody>
      </p:sp>
      <p:sp>
        <p:nvSpPr>
          <p:cNvPr id="14" name="Text 12"/>
          <p:cNvSpPr txBox="1"/>
          <p:nvPr/>
        </p:nvSpPr>
        <p:spPr>
          <a:xfrm>
            <a:off x="6309360" y="2807208"/>
            <a:ext cx="5193792" cy="822960"/>
          </a:xfrm>
          <a:prstGeom prst="rect">
            <a:avLst/>
          </a:prstGeom>
          <a:noFill/>
          <a:ln/>
        </p:spPr>
        <p:txBody>
          <a:bodyPr wrap="square" lIns="0" tIns="0" rIns="0" bIns="0" rtlCol="0" anchor="t"/>
          <a:lstStyle/>
          <a:p>
            <a:pPr indent="0" marL="0">
              <a:lnSpc>
                <a:spcPts val="2400"/>
              </a:lnSpc>
              <a:buNone/>
            </a:pPr>
            <a:r>
              <a:rPr lang="en-US" sz="1400" b="1" dirty="0">
                <a:solidFill>
                  <a:srgbClr val="2B2620"/>
                </a:solidFill>
                <a:latin typeface="メイリオ" pitchFamily="34" charset="0"/>
                <a:ea typeface="メイリオ" pitchFamily="34" charset="-122"/>
                <a:cs typeface="メイリオ" pitchFamily="34" charset="-120"/>
              </a:rPr>
              <a:t>プライバシーマーク認定</a:t>
            </a:r>
            <a:pPr indent="0" marL="0">
              <a:lnSpc>
                <a:spcPts val="2400"/>
              </a:lnSpc>
              <a:buNone/>
            </a:pPr>
            <a:r>
              <a:rPr lang="en-US" sz="1400" dirty="0">
                <a:solidFill>
                  <a:srgbClr val="5A5249"/>
                </a:solidFill>
                <a:latin typeface="メイリオ" pitchFamily="34" charset="0"/>
                <a:ea typeface="メイリオ" pitchFamily="34" charset="-122"/>
                <a:cs typeface="メイリオ" pitchFamily="34" charset="-120"/>
              </a:rPr>
              <a:t>済み。1年以上かかる体制構築を、もう越えています。</a:t>
            </a:r>
            <a:endParaRPr lang="en-US" sz="1400" dirty="0"/>
          </a:p>
        </p:txBody>
      </p:sp>
      <p:sp>
        <p:nvSpPr>
          <p:cNvPr id="15" name="Shape 13"/>
          <p:cNvSpPr/>
          <p:nvPr/>
        </p:nvSpPr>
        <p:spPr>
          <a:xfrm>
            <a:off x="685800" y="3630168"/>
            <a:ext cx="5029200" cy="7315"/>
          </a:xfrm>
          <a:prstGeom prst="rect">
            <a:avLst/>
          </a:prstGeom>
          <a:solidFill>
            <a:srgbClr val="D2C4AE"/>
          </a:solidFill>
          <a:ln/>
        </p:spPr>
      </p:sp>
      <p:sp>
        <p:nvSpPr>
          <p:cNvPr id="16" name="Shape 14"/>
          <p:cNvSpPr/>
          <p:nvPr/>
        </p:nvSpPr>
        <p:spPr>
          <a:xfrm>
            <a:off x="6309360" y="3630168"/>
            <a:ext cx="5193792" cy="7315"/>
          </a:xfrm>
          <a:prstGeom prst="rect">
            <a:avLst/>
          </a:prstGeom>
          <a:solidFill>
            <a:srgbClr val="D2C4AE"/>
          </a:solidFill>
          <a:ln/>
        </p:spPr>
      </p:sp>
      <p:sp>
        <p:nvSpPr>
          <p:cNvPr id="17" name="Text 15"/>
          <p:cNvSpPr txBox="1"/>
          <p:nvPr/>
        </p:nvSpPr>
        <p:spPr>
          <a:xfrm>
            <a:off x="685800" y="3739896"/>
            <a:ext cx="5029200" cy="822960"/>
          </a:xfrm>
          <a:prstGeom prst="rect">
            <a:avLst/>
          </a:prstGeom>
          <a:noFill/>
          <a:ln/>
        </p:spPr>
        <p:txBody>
          <a:bodyPr wrap="square" lIns="0" tIns="0" rIns="0" bIns="0" rtlCol="0" anchor="t"/>
          <a:lstStyle/>
          <a:p>
            <a:pPr indent="0" marL="0">
              <a:lnSpc>
                <a:spcPts val="2400"/>
              </a:lnSpc>
              <a:buNone/>
            </a:pPr>
            <a:r>
              <a:rPr lang="en-US" sz="1700" b="1" dirty="0">
                <a:solidFill>
                  <a:srgbClr val="9C5446"/>
                </a:solidFill>
                <a:latin typeface="メイリオ" pitchFamily="34" charset="0"/>
                <a:ea typeface="メイリオ" pitchFamily="34" charset="-122"/>
                <a:cs typeface="メイリオ" pitchFamily="34" charset="-120"/>
              </a:rPr>
              <a:t>03　</a:t>
            </a:r>
            <a:pPr indent="0" marL="0">
              <a:lnSpc>
                <a:spcPts val="2400"/>
              </a:lnSpc>
              <a:buNone/>
            </a:pPr>
            <a:r>
              <a:rPr lang="en-US" sz="1400" dirty="0">
                <a:solidFill>
                  <a:srgbClr val="2B2620"/>
                </a:solidFill>
                <a:latin typeface="メイリオ" pitchFamily="34" charset="0"/>
                <a:ea typeface="メイリオ" pitchFamily="34" charset="-122"/>
                <a:cs typeface="メイリオ" pitchFamily="34" charset="-120"/>
              </a:rPr>
              <a:t>買い手が見つからない。新規開拓に数年かかります。</a:t>
            </a:r>
            <a:endParaRPr lang="en-US" sz="1400" dirty="0"/>
          </a:p>
        </p:txBody>
      </p:sp>
      <p:sp>
        <p:nvSpPr>
          <p:cNvPr id="18" name="Text 16"/>
          <p:cNvSpPr txBox="1"/>
          <p:nvPr/>
        </p:nvSpPr>
        <p:spPr>
          <a:xfrm>
            <a:off x="6309360" y="3739896"/>
            <a:ext cx="5193792" cy="822960"/>
          </a:xfrm>
          <a:prstGeom prst="rect">
            <a:avLst/>
          </a:prstGeom>
          <a:noFill/>
          <a:ln/>
        </p:spPr>
        <p:txBody>
          <a:bodyPr wrap="square" lIns="0" tIns="0" rIns="0" bIns="0" rtlCol="0" anchor="t"/>
          <a:lstStyle/>
          <a:p>
            <a:pPr indent="0" marL="0">
              <a:lnSpc>
                <a:spcPts val="2400"/>
              </a:lnSpc>
              <a:buNone/>
            </a:pPr>
            <a:r>
              <a:rPr lang="en-US" sz="1400" b="1" dirty="0">
                <a:solidFill>
                  <a:srgbClr val="2B2620"/>
                </a:solidFill>
                <a:latin typeface="メイリオ" pitchFamily="34" charset="0"/>
                <a:ea typeface="メイリオ" pitchFamily="34" charset="-122"/>
                <a:cs typeface="メイリオ" pitchFamily="34" charset="-120"/>
              </a:rPr>
              <a:t>CSO・CRO事業</a:t>
            </a:r>
            <a:pPr indent="0" marL="0">
              <a:lnSpc>
                <a:spcPts val="2400"/>
              </a:lnSpc>
              <a:buNone/>
            </a:pPr>
            <a:r>
              <a:rPr lang="en-US" sz="1400" dirty="0">
                <a:solidFill>
                  <a:srgbClr val="5A5249"/>
                </a:solidFill>
                <a:latin typeface="メイリオ" pitchFamily="34" charset="0"/>
                <a:ea typeface="メイリオ" pitchFamily="34" charset="-122"/>
                <a:cs typeface="メイリオ" pitchFamily="34" charset="-120"/>
              </a:rPr>
              <a:t>で、製薬・食品メーカーとの取引があります。</a:t>
            </a:r>
            <a:endParaRPr lang="en-US" sz="1400" dirty="0"/>
          </a:p>
        </p:txBody>
      </p:sp>
      <p:sp>
        <p:nvSpPr>
          <p:cNvPr id="19" name="Text 17"/>
          <p:cNvSpPr txBox="1"/>
          <p:nvPr/>
        </p:nvSpPr>
        <p:spPr>
          <a:xfrm>
            <a:off x="685800" y="4846320"/>
            <a:ext cx="10820095" cy="1005840"/>
          </a:xfrm>
          <a:prstGeom prst="rect">
            <a:avLst/>
          </a:prstGeom>
          <a:noFill/>
          <a:ln/>
        </p:spPr>
        <p:txBody>
          <a:bodyPr wrap="square" lIns="0" tIns="0" rIns="0" bIns="0" rtlCol="0" anchor="t"/>
          <a:lstStyle/>
          <a:p>
            <a:pPr indent="0" marL="0">
              <a:lnSpc>
                <a:spcPts val="3400"/>
              </a:lnSpc>
              <a:buNone/>
            </a:pPr>
            <a:r>
              <a:rPr lang="en-US" sz="2200" b="1" dirty="0">
                <a:solidFill>
                  <a:srgbClr val="9C5446"/>
                </a:solidFill>
                <a:latin typeface="メイリオ" pitchFamily="34" charset="0"/>
                <a:ea typeface="メイリオ" pitchFamily="34" charset="-122"/>
                <a:cs typeface="メイリオ" pitchFamily="34" charset="-120"/>
              </a:rPr>
              <a:t>いちばん大きいのは、受託試験で参加者に毎日つけてもらう記録に、そのまま使えることです。</a:t>
            </a:r>
            <a:endParaRPr lang="en-US" sz="2200" dirty="0"/>
          </a:p>
        </p:txBody>
      </p:sp>
      <p:sp>
        <p:nvSpPr>
          <p:cNvPr id="20" name="Text 18"/>
          <p:cNvSpPr txBox="1"/>
          <p:nvPr/>
        </p:nvSpPr>
        <p:spPr>
          <a:xfrm>
            <a:off x="685800" y="5870448"/>
            <a:ext cx="10820095" cy="274320"/>
          </a:xfrm>
          <a:prstGeom prst="rect">
            <a:avLst/>
          </a:prstGeom>
          <a:noFill/>
          <a:ln/>
        </p:spPr>
        <p:txBody>
          <a:bodyPr wrap="square" lIns="0" tIns="0" rIns="0" bIns="0" rtlCol="0" anchor="t"/>
          <a:lstStyle/>
          <a:p>
            <a:pPr indent="0" marL="0">
              <a:buNone/>
            </a:pPr>
            <a:r>
              <a:rPr lang="en-US" sz="1100" dirty="0">
                <a:solidFill>
                  <a:srgbClr val="5A5249"/>
                </a:solidFill>
                <a:latin typeface="メイリオ" pitchFamily="34" charset="0"/>
                <a:ea typeface="メイリオ" pitchFamily="34" charset="-122"/>
                <a:cs typeface="メイリオ" pitchFamily="34" charset="-120"/>
              </a:rPr>
              <a:t>※ 数字は公開情報をもとにした記載です。相違があればご指摘ください。</a:t>
            </a:r>
            <a:endParaRPr lang="en-US" sz="1100" dirty="0"/>
          </a:p>
        </p:txBody>
      </p:sp>
      <p:sp>
        <p:nvSpPr>
          <p:cNvPr id="21" name="Text 19"/>
          <p:cNvSpPr txBox="1"/>
          <p:nvPr/>
        </p:nvSpPr>
        <p:spPr>
          <a:xfrm>
            <a:off x="685800" y="6336792"/>
            <a:ext cx="7315200" cy="274320"/>
          </a:xfrm>
          <a:prstGeom prst="rect">
            <a:avLst/>
          </a:prstGeom>
          <a:noFill/>
          <a:ln/>
        </p:spPr>
        <p:txBody>
          <a:bodyPr wrap="square" lIns="0" tIns="0" rIns="0" bIns="0" rtlCol="0" anchor="ctr"/>
          <a:lstStyle/>
          <a:p>
            <a:pPr indent="0" marL="0">
              <a:buNone/>
            </a:pPr>
            <a:r>
              <a:rPr lang="en-US" sz="1200" spc="100" kern="0" dirty="0">
                <a:solidFill>
                  <a:srgbClr val="8B8175"/>
                </a:solidFill>
                <a:latin typeface="メイリオ" pitchFamily="34" charset="0"/>
                <a:ea typeface="メイリオ" pitchFamily="34" charset="-122"/>
                <a:cs typeface="メイリオ" pitchFamily="34" charset="-120"/>
              </a:rPr>
              <a:t>米倉まな｜アポプラスステーション様 ご提案</a:t>
            </a:r>
            <a:endParaRPr lang="en-US" sz="1200" dirty="0"/>
          </a:p>
        </p:txBody>
      </p:sp>
      <p:sp>
        <p:nvSpPr>
          <p:cNvPr id="22" name="Text 20"/>
          <p:cNvSpPr txBox="1"/>
          <p:nvPr/>
        </p:nvSpPr>
        <p:spPr>
          <a:xfrm>
            <a:off x="8305495" y="6336792"/>
            <a:ext cx="3200400" cy="274320"/>
          </a:xfrm>
          <a:prstGeom prst="rect">
            <a:avLst/>
          </a:prstGeom>
          <a:noFill/>
          <a:ln/>
        </p:spPr>
        <p:txBody>
          <a:bodyPr wrap="square" lIns="0" tIns="0" rIns="0" bIns="0" rtlCol="0" anchor="ctr"/>
          <a:lstStyle/>
          <a:p>
            <a:pPr algn="r" indent="0" marL="0">
              <a:buNone/>
            </a:pPr>
            <a:r>
              <a:rPr lang="en-US" sz="1200" dirty="0">
                <a:solidFill>
                  <a:srgbClr val="8B8175"/>
                </a:solidFill>
                <a:latin typeface="メイリオ" pitchFamily="34" charset="0"/>
                <a:ea typeface="メイリオ" pitchFamily="34" charset="-122"/>
                <a:cs typeface="メイリオ" pitchFamily="34" charset="-120"/>
              </a:rPr>
              <a:t>4:55 → 5:35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ADB"/>
        </a:solidFill>
      </p:bgPr>
    </p:bg>
    <p:spTree>
      <p:nvGrpSpPr>
        <p:cNvPr id="1" name=""/>
        <p:cNvGrpSpPr/>
        <p:nvPr/>
      </p:nvGrpSpPr>
      <p:grpSpPr>
        <a:xfrm>
          <a:off x="0" y="0"/>
          <a:ext cx="0" cy="0"/>
          <a:chOff x="0" y="0"/>
          <a:chExt cx="0" cy="0"/>
        </a:xfrm>
      </p:grpSpPr>
      <p:sp>
        <p:nvSpPr>
          <p:cNvPr id="2" name="Shape 0"/>
          <p:cNvSpPr/>
          <p:nvPr/>
        </p:nvSpPr>
        <p:spPr>
          <a:xfrm>
            <a:off x="685800" y="562356"/>
            <a:ext cx="237744" cy="12802"/>
          </a:xfrm>
          <a:prstGeom prst="rect">
            <a:avLst/>
          </a:prstGeom>
          <a:solidFill>
            <a:srgbClr val="9C5446"/>
          </a:solidFill>
          <a:ln/>
        </p:spPr>
      </p:sp>
      <p:sp>
        <p:nvSpPr>
          <p:cNvPr id="3" name="Text 1"/>
          <p:cNvSpPr txBox="1"/>
          <p:nvPr/>
        </p:nvSpPr>
        <p:spPr>
          <a:xfrm>
            <a:off x="996696" y="365760"/>
            <a:ext cx="7315200" cy="310896"/>
          </a:xfrm>
          <a:prstGeom prst="rect">
            <a:avLst/>
          </a:prstGeom>
          <a:noFill/>
          <a:ln/>
        </p:spPr>
        <p:txBody>
          <a:bodyPr wrap="square" lIns="0" tIns="0" rIns="0" bIns="0" rtlCol="0" anchor="ctr"/>
          <a:lstStyle/>
          <a:p>
            <a:pPr indent="0" marL="0">
              <a:buNone/>
            </a:pPr>
            <a:r>
              <a:rPr lang="en-US" sz="1400" b="1" spc="200" kern="0" dirty="0">
                <a:solidFill>
                  <a:srgbClr val="9C5446"/>
                </a:solidFill>
                <a:latin typeface="メイリオ" pitchFamily="34" charset="0"/>
                <a:ea typeface="メイリオ" pitchFamily="34" charset="-122"/>
                <a:cs typeface="メイリオ" pitchFamily="34" charset="-120"/>
              </a:rPr>
              <a:t>10   </a:t>
            </a:r>
            <a:pPr indent="0" marL="0">
              <a:buNone/>
            </a:pPr>
            <a:r>
              <a:rPr lang="en-US" sz="1400" spc="300" kern="0" dirty="0">
                <a:solidFill>
                  <a:srgbClr val="8B8175"/>
                </a:solidFill>
                <a:latin typeface="メイリオ" pitchFamily="34" charset="0"/>
                <a:ea typeface="メイリオ" pitchFamily="34" charset="-122"/>
                <a:cs typeface="メイリオ" pitchFamily="34" charset="-120"/>
              </a:rPr>
              <a:t>ASK</a:t>
            </a:r>
            <a:endParaRPr lang="en-US" sz="1400" dirty="0"/>
          </a:p>
        </p:txBody>
      </p:sp>
      <p:sp>
        <p:nvSpPr>
          <p:cNvPr id="4" name="Text 2"/>
          <p:cNvSpPr txBox="1"/>
          <p:nvPr/>
        </p:nvSpPr>
        <p:spPr>
          <a:xfrm>
            <a:off x="685800" y="777240"/>
            <a:ext cx="10820095" cy="777240"/>
          </a:xfrm>
          <a:prstGeom prst="rect">
            <a:avLst/>
          </a:prstGeom>
          <a:noFill/>
          <a:ln/>
        </p:spPr>
        <p:txBody>
          <a:bodyPr wrap="square" lIns="0" tIns="0" rIns="0" bIns="0" rtlCol="0" anchor="ctr"/>
          <a:lstStyle/>
          <a:p>
            <a:pPr indent="0" marL="0">
              <a:buNone/>
            </a:pPr>
            <a:r>
              <a:rPr lang="en-US" sz="2800" b="1" spc="100" kern="0" dirty="0">
                <a:solidFill>
                  <a:srgbClr val="2B2620"/>
                </a:solidFill>
                <a:latin typeface="メイリオ" pitchFamily="34" charset="0"/>
                <a:ea typeface="メイリオ" pitchFamily="34" charset="-122"/>
                <a:cs typeface="メイリオ" pitchFamily="34" charset="-120"/>
              </a:rPr>
              <a:t>だから、ディスカッションしたいと感じました</a:t>
            </a:r>
            <a:endParaRPr lang="en-US" sz="2800" dirty="0"/>
          </a:p>
        </p:txBody>
      </p:sp>
      <p:sp>
        <p:nvSpPr>
          <p:cNvPr id="5" name="Text 3"/>
          <p:cNvSpPr txBox="1"/>
          <p:nvPr/>
        </p:nvSpPr>
        <p:spPr>
          <a:xfrm>
            <a:off x="685800" y="1783080"/>
            <a:ext cx="548640" cy="365760"/>
          </a:xfrm>
          <a:prstGeom prst="rect">
            <a:avLst/>
          </a:prstGeom>
          <a:noFill/>
          <a:ln/>
        </p:spPr>
        <p:txBody>
          <a:bodyPr wrap="square" lIns="0" tIns="0" rIns="0" bIns="0" rtlCol="0" anchor="ctr"/>
          <a:lstStyle/>
          <a:p>
            <a:pPr indent="0" marL="0">
              <a:buNone/>
            </a:pPr>
            <a:r>
              <a:rPr lang="en-US" sz="1800" b="1" dirty="0">
                <a:solidFill>
                  <a:srgbClr val="9C5446"/>
                </a:solidFill>
                <a:latin typeface="メイリオ" pitchFamily="34" charset="0"/>
                <a:ea typeface="メイリオ" pitchFamily="34" charset="-122"/>
                <a:cs typeface="メイリオ" pitchFamily="34" charset="-120"/>
              </a:rPr>
              <a:t>01</a:t>
            </a:r>
            <a:endParaRPr lang="en-US" sz="1800" dirty="0"/>
          </a:p>
        </p:txBody>
      </p:sp>
      <p:sp>
        <p:nvSpPr>
          <p:cNvPr id="6" name="Text 4"/>
          <p:cNvSpPr txBox="1"/>
          <p:nvPr/>
        </p:nvSpPr>
        <p:spPr>
          <a:xfrm>
            <a:off x="1371600" y="1764792"/>
            <a:ext cx="10058400" cy="329184"/>
          </a:xfrm>
          <a:prstGeom prst="rect">
            <a:avLst/>
          </a:prstGeom>
          <a:noFill/>
          <a:ln/>
        </p:spPr>
        <p:txBody>
          <a:bodyPr wrap="square" lIns="0" tIns="0" rIns="0" bIns="0" rtlCol="0" anchor="ctr"/>
          <a:lstStyle/>
          <a:p>
            <a:pPr indent="0" marL="0">
              <a:buNone/>
            </a:pPr>
            <a:r>
              <a:rPr lang="en-US" sz="1600" b="1" dirty="0">
                <a:solidFill>
                  <a:srgbClr val="2B2620"/>
                </a:solidFill>
                <a:latin typeface="メイリオ" pitchFamily="34" charset="0"/>
                <a:ea typeface="メイリオ" pitchFamily="34" charset="-122"/>
                <a:cs typeface="メイリオ" pitchFamily="34" charset="-120"/>
              </a:rPr>
              <a:t>未病領域の新規事業を、共同でディスカッションさせてください</a:t>
            </a:r>
            <a:endParaRPr lang="en-US" sz="1600" dirty="0"/>
          </a:p>
        </p:txBody>
      </p:sp>
      <p:sp>
        <p:nvSpPr>
          <p:cNvPr id="7" name="Text 5"/>
          <p:cNvSpPr txBox="1"/>
          <p:nvPr/>
        </p:nvSpPr>
        <p:spPr>
          <a:xfrm>
            <a:off x="1371600" y="2112264"/>
            <a:ext cx="10058400" cy="329184"/>
          </a:xfrm>
          <a:prstGeom prst="rect">
            <a:avLst/>
          </a:prstGeom>
          <a:noFill/>
          <a:ln/>
        </p:spPr>
        <p:txBody>
          <a:bodyPr wrap="square" lIns="0" tIns="0" rIns="0" bIns="0" rtlCol="0" anchor="ctr"/>
          <a:lstStyle/>
          <a:p>
            <a:pPr indent="0" marL="0">
              <a:buNone/>
            </a:pPr>
            <a:r>
              <a:rPr lang="en-US" sz="1400" dirty="0">
                <a:solidFill>
                  <a:srgbClr val="5A5249"/>
                </a:solidFill>
                <a:latin typeface="メイリオ" pitchFamily="34" charset="0"/>
                <a:ea typeface="メイリオ" pitchFamily="34" charset="-122"/>
                <a:cs typeface="メイリオ" pitchFamily="34" charset="-120"/>
              </a:rPr>
              <a:t>未病領域に小さいながら関わるなかで、ターゲットと課題を実感し、データ化しています。</a:t>
            </a:r>
            <a:endParaRPr lang="en-US" sz="1400" dirty="0"/>
          </a:p>
        </p:txBody>
      </p:sp>
      <p:sp>
        <p:nvSpPr>
          <p:cNvPr id="8" name="Shape 6"/>
          <p:cNvSpPr/>
          <p:nvPr/>
        </p:nvSpPr>
        <p:spPr>
          <a:xfrm>
            <a:off x="685800" y="2551176"/>
            <a:ext cx="10820095" cy="7315"/>
          </a:xfrm>
          <a:prstGeom prst="rect">
            <a:avLst/>
          </a:prstGeom>
          <a:solidFill>
            <a:srgbClr val="D2C4AE"/>
          </a:solidFill>
          <a:ln/>
        </p:spPr>
      </p:sp>
      <p:sp>
        <p:nvSpPr>
          <p:cNvPr id="9" name="Text 7"/>
          <p:cNvSpPr txBox="1"/>
          <p:nvPr/>
        </p:nvSpPr>
        <p:spPr>
          <a:xfrm>
            <a:off x="685800" y="2697480"/>
            <a:ext cx="548640" cy="365760"/>
          </a:xfrm>
          <a:prstGeom prst="rect">
            <a:avLst/>
          </a:prstGeom>
          <a:noFill/>
          <a:ln/>
        </p:spPr>
        <p:txBody>
          <a:bodyPr wrap="square" lIns="0" tIns="0" rIns="0" bIns="0" rtlCol="0" anchor="ctr"/>
          <a:lstStyle/>
          <a:p>
            <a:pPr indent="0" marL="0">
              <a:buNone/>
            </a:pPr>
            <a:r>
              <a:rPr lang="en-US" sz="1800" b="1" dirty="0">
                <a:solidFill>
                  <a:srgbClr val="9C5446"/>
                </a:solidFill>
                <a:latin typeface="メイリオ" pitchFamily="34" charset="0"/>
                <a:ea typeface="メイリオ" pitchFamily="34" charset="-122"/>
                <a:cs typeface="メイリオ" pitchFamily="34" charset="-120"/>
              </a:rPr>
              <a:t>02</a:t>
            </a:r>
            <a:endParaRPr lang="en-US" sz="1800" dirty="0"/>
          </a:p>
        </p:txBody>
      </p:sp>
      <p:sp>
        <p:nvSpPr>
          <p:cNvPr id="10" name="Text 8"/>
          <p:cNvSpPr txBox="1"/>
          <p:nvPr/>
        </p:nvSpPr>
        <p:spPr>
          <a:xfrm>
            <a:off x="1371600" y="2679192"/>
            <a:ext cx="10058400" cy="329184"/>
          </a:xfrm>
          <a:prstGeom prst="rect">
            <a:avLst/>
          </a:prstGeom>
          <a:noFill/>
          <a:ln/>
        </p:spPr>
        <p:txBody>
          <a:bodyPr wrap="square" lIns="0" tIns="0" rIns="0" bIns="0" rtlCol="0" anchor="ctr"/>
          <a:lstStyle/>
          <a:p>
            <a:pPr indent="0" marL="0">
              <a:buNone/>
            </a:pPr>
            <a:r>
              <a:rPr lang="en-US" sz="1600" b="1" dirty="0">
                <a:solidFill>
                  <a:srgbClr val="2B2620"/>
                </a:solidFill>
                <a:latin typeface="メイリオ" pitchFamily="34" charset="0"/>
                <a:ea typeface="メイリオ" pitchFamily="34" charset="-122"/>
                <a:cs typeface="メイリオ" pitchFamily="34" charset="-120"/>
              </a:rPr>
              <a:t>人と組織の知見をお借りしたい</a:t>
            </a:r>
            <a:endParaRPr lang="en-US" sz="1600" dirty="0"/>
          </a:p>
        </p:txBody>
      </p:sp>
      <p:sp>
        <p:nvSpPr>
          <p:cNvPr id="11" name="Text 9"/>
          <p:cNvSpPr txBox="1"/>
          <p:nvPr/>
        </p:nvSpPr>
        <p:spPr>
          <a:xfrm>
            <a:off x="1371600" y="3026664"/>
            <a:ext cx="10058400" cy="329184"/>
          </a:xfrm>
          <a:prstGeom prst="rect">
            <a:avLst/>
          </a:prstGeom>
          <a:noFill/>
          <a:ln/>
        </p:spPr>
        <p:txBody>
          <a:bodyPr wrap="square" lIns="0" tIns="0" rIns="0" bIns="0" rtlCol="0" anchor="ctr"/>
          <a:lstStyle/>
          <a:p>
            <a:pPr indent="0" marL="0">
              <a:buNone/>
            </a:pPr>
            <a:r>
              <a:rPr lang="en-US" sz="1400" dirty="0">
                <a:solidFill>
                  <a:srgbClr val="5A5249"/>
                </a:solidFill>
                <a:latin typeface="メイリオ" pitchFamily="34" charset="0"/>
                <a:ea typeface="メイリオ" pitchFamily="34" charset="-122"/>
                <a:cs typeface="メイリオ" pitchFamily="34" charset="-120"/>
              </a:rPr>
              <a:t>施術者の採用・育成・配置。属人から仕組みへ移すために必要です。</a:t>
            </a:r>
            <a:endParaRPr lang="en-US" sz="1400" dirty="0"/>
          </a:p>
        </p:txBody>
      </p:sp>
      <p:sp>
        <p:nvSpPr>
          <p:cNvPr id="12" name="Shape 10"/>
          <p:cNvSpPr/>
          <p:nvPr/>
        </p:nvSpPr>
        <p:spPr>
          <a:xfrm>
            <a:off x="685800" y="3465576"/>
            <a:ext cx="10820095" cy="7315"/>
          </a:xfrm>
          <a:prstGeom prst="rect">
            <a:avLst/>
          </a:prstGeom>
          <a:solidFill>
            <a:srgbClr val="D2C4AE"/>
          </a:solidFill>
          <a:ln/>
        </p:spPr>
      </p:sp>
      <p:sp>
        <p:nvSpPr>
          <p:cNvPr id="13" name="Text 11"/>
          <p:cNvSpPr txBox="1"/>
          <p:nvPr/>
        </p:nvSpPr>
        <p:spPr>
          <a:xfrm>
            <a:off x="685800" y="3611880"/>
            <a:ext cx="548640" cy="365760"/>
          </a:xfrm>
          <a:prstGeom prst="rect">
            <a:avLst/>
          </a:prstGeom>
          <a:noFill/>
          <a:ln/>
        </p:spPr>
        <p:txBody>
          <a:bodyPr wrap="square" lIns="0" tIns="0" rIns="0" bIns="0" rtlCol="0" anchor="ctr"/>
          <a:lstStyle/>
          <a:p>
            <a:pPr indent="0" marL="0">
              <a:buNone/>
            </a:pPr>
            <a:r>
              <a:rPr lang="en-US" sz="1800" b="1" dirty="0">
                <a:solidFill>
                  <a:srgbClr val="9C5446"/>
                </a:solidFill>
                <a:latin typeface="メイリオ" pitchFamily="34" charset="0"/>
                <a:ea typeface="メイリオ" pitchFamily="34" charset="-122"/>
                <a:cs typeface="メイリオ" pitchFamily="34" charset="-120"/>
              </a:rPr>
              <a:t>03</a:t>
            </a:r>
            <a:endParaRPr lang="en-US" sz="1800" dirty="0"/>
          </a:p>
        </p:txBody>
      </p:sp>
      <p:sp>
        <p:nvSpPr>
          <p:cNvPr id="14" name="Text 12"/>
          <p:cNvSpPr txBox="1"/>
          <p:nvPr/>
        </p:nvSpPr>
        <p:spPr>
          <a:xfrm>
            <a:off x="1371600" y="3593592"/>
            <a:ext cx="10058400" cy="329184"/>
          </a:xfrm>
          <a:prstGeom prst="rect">
            <a:avLst/>
          </a:prstGeom>
          <a:noFill/>
          <a:ln/>
        </p:spPr>
        <p:txBody>
          <a:bodyPr wrap="square" lIns="0" tIns="0" rIns="0" bIns="0" rtlCol="0" anchor="ctr"/>
          <a:lstStyle/>
          <a:p>
            <a:pPr indent="0" marL="0">
              <a:buNone/>
            </a:pPr>
            <a:r>
              <a:rPr lang="en-US" sz="1600" b="1" dirty="0">
                <a:solidFill>
                  <a:srgbClr val="2B2620"/>
                </a:solidFill>
                <a:latin typeface="メイリオ" pitchFamily="34" charset="0"/>
                <a:ea typeface="メイリオ" pitchFamily="34" charset="-122"/>
                <a:cs typeface="メイリオ" pitchFamily="34" charset="-120"/>
              </a:rPr>
              <a:t>実証の場をご一緒したい</a:t>
            </a:r>
            <a:endParaRPr lang="en-US" sz="1600" dirty="0"/>
          </a:p>
        </p:txBody>
      </p:sp>
      <p:sp>
        <p:nvSpPr>
          <p:cNvPr id="15" name="Text 13"/>
          <p:cNvSpPr txBox="1"/>
          <p:nvPr/>
        </p:nvSpPr>
        <p:spPr>
          <a:xfrm>
            <a:off x="1371600" y="3941064"/>
            <a:ext cx="10058400" cy="329184"/>
          </a:xfrm>
          <a:prstGeom prst="rect">
            <a:avLst/>
          </a:prstGeom>
          <a:noFill/>
          <a:ln/>
        </p:spPr>
        <p:txBody>
          <a:bodyPr wrap="square" lIns="0" tIns="0" rIns="0" bIns="0" rtlCol="0" anchor="ctr"/>
          <a:lstStyle/>
          <a:p>
            <a:pPr indent="0" marL="0">
              <a:buNone/>
            </a:pPr>
            <a:r>
              <a:rPr lang="en-US" sz="1400" dirty="0">
                <a:solidFill>
                  <a:srgbClr val="5A5249"/>
                </a:solidFill>
                <a:latin typeface="メイリオ" pitchFamily="34" charset="0"/>
                <a:ea typeface="メイリオ" pitchFamily="34" charset="-122"/>
                <a:cs typeface="メイリオ" pitchFamily="34" charset="-120"/>
              </a:rPr>
              <a:t>法人向けの健康支援など、未病層に届く場で。効果は学会発表として残します。</a:t>
            </a:r>
            <a:endParaRPr lang="en-US" sz="1400" dirty="0"/>
          </a:p>
        </p:txBody>
      </p:sp>
      <p:sp>
        <p:nvSpPr>
          <p:cNvPr id="16" name="Shape 14"/>
          <p:cNvSpPr/>
          <p:nvPr/>
        </p:nvSpPr>
        <p:spPr>
          <a:xfrm>
            <a:off x="685800" y="4572000"/>
            <a:ext cx="10820095" cy="1325880"/>
          </a:xfrm>
          <a:prstGeom prst="roundRect">
            <a:avLst>
              <a:gd name="adj" fmla="val 3448"/>
            </a:avLst>
          </a:prstGeom>
          <a:solidFill>
            <a:srgbClr val="FBF6EC"/>
          </a:solidFill>
          <a:ln w="9525">
            <a:solidFill>
              <a:srgbClr val="9C5446"/>
            </a:solidFill>
            <a:prstDash val="solid"/>
          </a:ln>
        </p:spPr>
      </p:sp>
      <p:sp>
        <p:nvSpPr>
          <p:cNvPr id="17" name="Text 15"/>
          <p:cNvSpPr txBox="1"/>
          <p:nvPr/>
        </p:nvSpPr>
        <p:spPr>
          <a:xfrm>
            <a:off x="960120" y="4773168"/>
            <a:ext cx="10271455" cy="237744"/>
          </a:xfrm>
          <a:prstGeom prst="rect">
            <a:avLst/>
          </a:prstGeom>
          <a:noFill/>
          <a:ln/>
        </p:spPr>
        <p:txBody>
          <a:bodyPr wrap="square" lIns="0" tIns="0" rIns="0" bIns="0" rtlCol="0" anchor="ctr"/>
          <a:lstStyle/>
          <a:p>
            <a:pPr indent="0" marL="0">
              <a:buNone/>
            </a:pPr>
            <a:r>
              <a:rPr lang="en-US" sz="1200" b="1" spc="100" kern="0" dirty="0">
                <a:solidFill>
                  <a:srgbClr val="9C5446"/>
                </a:solidFill>
                <a:latin typeface="メイリオ" pitchFamily="34" charset="0"/>
                <a:ea typeface="メイリオ" pitchFamily="34" charset="-122"/>
                <a:cs typeface="メイリオ" pitchFamily="34" charset="-120"/>
              </a:rPr>
              <a:t>本日お願いしたいこと</a:t>
            </a:r>
            <a:endParaRPr lang="en-US" sz="1200" dirty="0"/>
          </a:p>
        </p:txBody>
      </p:sp>
      <p:sp>
        <p:nvSpPr>
          <p:cNvPr id="18" name="Text 16"/>
          <p:cNvSpPr txBox="1"/>
          <p:nvPr/>
        </p:nvSpPr>
        <p:spPr>
          <a:xfrm>
            <a:off x="960120" y="5084064"/>
            <a:ext cx="10271455" cy="594360"/>
          </a:xfrm>
          <a:prstGeom prst="rect">
            <a:avLst/>
          </a:prstGeom>
          <a:noFill/>
          <a:ln/>
        </p:spPr>
        <p:txBody>
          <a:bodyPr wrap="square" lIns="0" tIns="0" rIns="0" bIns="0" rtlCol="0" anchor="t"/>
          <a:lstStyle/>
          <a:p>
            <a:pPr indent="0" marL="0">
              <a:lnSpc>
                <a:spcPts val="1900"/>
              </a:lnSpc>
              <a:buNone/>
            </a:pPr>
            <a:r>
              <a:rPr lang="en-US" sz="1400" dirty="0">
                <a:solidFill>
                  <a:srgbClr val="5A5249"/>
                </a:solidFill>
                <a:latin typeface="メイリオ" pitchFamily="34" charset="0"/>
                <a:ea typeface="メイリオ" pitchFamily="34" charset="-122"/>
                <a:cs typeface="メイリオ" pitchFamily="34" charset="-120"/>
              </a:rPr>
              <a:t>生きづらさを抱えた人を、治療が必要になる手前で減らしたい。</a:t>
            </a:r>
            <a:pPr indent="0" marL="0">
              <a:lnSpc>
                <a:spcPts val="1900"/>
              </a:lnSpc>
              <a:buNone/>
            </a:pPr>
            <a:r>
              <a:rPr lang="en-US" sz="1400" b="1" dirty="0">
                <a:solidFill>
                  <a:srgbClr val="2B2620"/>
                </a:solidFill>
                <a:latin typeface="メイリオ" pitchFamily="34" charset="0"/>
                <a:ea typeface="メイリオ" pitchFamily="34" charset="-122"/>
                <a:cs typeface="メイリオ" pitchFamily="34" charset="-120"/>
              </a:rPr>
              <a:t>まずは本日、このうちどこに可能性がありそうか、率直なご意見をいただけたら嬉しいです。</a:t>
            </a:r>
            <a:endParaRPr lang="en-US" sz="1400" dirty="0"/>
          </a:p>
        </p:txBody>
      </p:sp>
      <p:sp>
        <p:nvSpPr>
          <p:cNvPr id="19" name="Text 17"/>
          <p:cNvSpPr txBox="1"/>
          <p:nvPr/>
        </p:nvSpPr>
        <p:spPr>
          <a:xfrm>
            <a:off x="685800" y="6336792"/>
            <a:ext cx="7315200" cy="274320"/>
          </a:xfrm>
          <a:prstGeom prst="rect">
            <a:avLst/>
          </a:prstGeom>
          <a:noFill/>
          <a:ln/>
        </p:spPr>
        <p:txBody>
          <a:bodyPr wrap="square" lIns="0" tIns="0" rIns="0" bIns="0" rtlCol="0" anchor="ctr"/>
          <a:lstStyle/>
          <a:p>
            <a:pPr indent="0" marL="0">
              <a:buNone/>
            </a:pPr>
            <a:r>
              <a:rPr lang="en-US" sz="1200" spc="100" kern="0" dirty="0">
                <a:solidFill>
                  <a:srgbClr val="8B8175"/>
                </a:solidFill>
                <a:latin typeface="メイリオ" pitchFamily="34" charset="0"/>
                <a:ea typeface="メイリオ" pitchFamily="34" charset="-122"/>
                <a:cs typeface="メイリオ" pitchFamily="34" charset="-120"/>
              </a:rPr>
              <a:t>米倉まな｜アポプラスステーション様 ご提案</a:t>
            </a:r>
            <a:endParaRPr lang="en-US" sz="1200" dirty="0"/>
          </a:p>
        </p:txBody>
      </p:sp>
      <p:sp>
        <p:nvSpPr>
          <p:cNvPr id="20" name="Text 18"/>
          <p:cNvSpPr txBox="1"/>
          <p:nvPr/>
        </p:nvSpPr>
        <p:spPr>
          <a:xfrm>
            <a:off x="8305495" y="6336792"/>
            <a:ext cx="3200400" cy="274320"/>
          </a:xfrm>
          <a:prstGeom prst="rect">
            <a:avLst/>
          </a:prstGeom>
          <a:noFill/>
          <a:ln/>
        </p:spPr>
        <p:txBody>
          <a:bodyPr wrap="square" lIns="0" tIns="0" rIns="0" bIns="0" rtlCol="0" anchor="ctr"/>
          <a:lstStyle/>
          <a:p>
            <a:pPr algn="r" indent="0" marL="0">
              <a:buNone/>
            </a:pPr>
            <a:r>
              <a:rPr lang="en-US" sz="1200" dirty="0">
                <a:solidFill>
                  <a:srgbClr val="8B8175"/>
                </a:solidFill>
                <a:latin typeface="メイリオ" pitchFamily="34" charset="0"/>
                <a:ea typeface="メイリオ" pitchFamily="34" charset="-122"/>
                <a:cs typeface="メイリオ" pitchFamily="34" charset="-120"/>
              </a:rPr>
              <a:t>5:35 → 6:00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ADB"/>
        </a:solidFill>
      </p:bgPr>
    </p:bg>
    <p:spTree>
      <p:nvGrpSpPr>
        <p:cNvPr id="1" name=""/>
        <p:cNvGrpSpPr/>
        <p:nvPr/>
      </p:nvGrpSpPr>
      <p:grpSpPr>
        <a:xfrm>
          <a:off x="0" y="0"/>
          <a:ext cx="0" cy="0"/>
          <a:chOff x="0" y="0"/>
          <a:chExt cx="0" cy="0"/>
        </a:xfrm>
      </p:grpSpPr>
      <p:sp>
        <p:nvSpPr>
          <p:cNvPr id="2" name="Shape 0"/>
          <p:cNvSpPr/>
          <p:nvPr/>
        </p:nvSpPr>
        <p:spPr>
          <a:xfrm>
            <a:off x="685800" y="562356"/>
            <a:ext cx="237744" cy="12802"/>
          </a:xfrm>
          <a:prstGeom prst="rect">
            <a:avLst/>
          </a:prstGeom>
          <a:solidFill>
            <a:srgbClr val="9C5446"/>
          </a:solidFill>
          <a:ln/>
        </p:spPr>
      </p:sp>
      <p:sp>
        <p:nvSpPr>
          <p:cNvPr id="3" name="Text 1"/>
          <p:cNvSpPr txBox="1"/>
          <p:nvPr/>
        </p:nvSpPr>
        <p:spPr>
          <a:xfrm>
            <a:off x="996696" y="365760"/>
            <a:ext cx="7315200" cy="310896"/>
          </a:xfrm>
          <a:prstGeom prst="rect">
            <a:avLst/>
          </a:prstGeom>
          <a:noFill/>
          <a:ln/>
        </p:spPr>
        <p:txBody>
          <a:bodyPr wrap="square" lIns="0" tIns="0" rIns="0" bIns="0" rtlCol="0" anchor="ctr"/>
          <a:lstStyle/>
          <a:p>
            <a:pPr indent="0" marL="0">
              <a:buNone/>
            </a:pPr>
            <a:r>
              <a:rPr lang="en-US" sz="1400" spc="300" kern="0" dirty="0">
                <a:solidFill>
                  <a:srgbClr val="8B8175"/>
                </a:solidFill>
                <a:latin typeface="メイリオ" pitchFamily="34" charset="0"/>
                <a:ea typeface="メイリオ" pitchFamily="34" charset="-122"/>
                <a:cs typeface="メイリオ" pitchFamily="34" charset="-120"/>
              </a:rPr>
              <a:t>APPENDIX ／ 参考</a:t>
            </a:r>
            <a:endParaRPr lang="en-US" sz="1400" dirty="0"/>
          </a:p>
        </p:txBody>
      </p:sp>
      <p:sp>
        <p:nvSpPr>
          <p:cNvPr id="4" name="Text 2"/>
          <p:cNvSpPr txBox="1"/>
          <p:nvPr/>
        </p:nvSpPr>
        <p:spPr>
          <a:xfrm>
            <a:off x="685800" y="777240"/>
            <a:ext cx="10820095" cy="777240"/>
          </a:xfrm>
          <a:prstGeom prst="rect">
            <a:avLst/>
          </a:prstGeom>
          <a:noFill/>
          <a:ln/>
        </p:spPr>
        <p:txBody>
          <a:bodyPr wrap="square" lIns="0" tIns="0" rIns="0" bIns="0" rtlCol="0" anchor="ctr"/>
          <a:lstStyle/>
          <a:p>
            <a:pPr indent="0" marL="0">
              <a:buNone/>
            </a:pPr>
            <a:r>
              <a:rPr lang="en-US" sz="2800" b="1" spc="100" kern="0" dirty="0">
                <a:solidFill>
                  <a:srgbClr val="2B2620"/>
                </a:solidFill>
                <a:latin typeface="メイリオ" pitchFamily="34" charset="0"/>
                <a:ea typeface="メイリオ" pitchFamily="34" charset="-122"/>
                <a:cs typeface="メイリオ" pitchFamily="34" charset="-120"/>
              </a:rPr>
              <a:t>公開されている実績・共同研究</a:t>
            </a:r>
            <a:endParaRPr lang="en-US" sz="2800" dirty="0"/>
          </a:p>
        </p:txBody>
      </p:sp>
      <p:sp>
        <p:nvSpPr>
          <p:cNvPr id="5" name="Shape 3"/>
          <p:cNvSpPr/>
          <p:nvPr/>
        </p:nvSpPr>
        <p:spPr>
          <a:xfrm>
            <a:off x="685800" y="1627632"/>
            <a:ext cx="10820095" cy="7315"/>
          </a:xfrm>
          <a:prstGeom prst="rect">
            <a:avLst/>
          </a:prstGeom>
          <a:solidFill>
            <a:srgbClr val="D2C4AE"/>
          </a:solidFill>
          <a:ln/>
        </p:spPr>
      </p:sp>
      <p:sp>
        <p:nvSpPr>
          <p:cNvPr id="6" name="Text 4"/>
          <p:cNvSpPr txBox="1"/>
          <p:nvPr/>
        </p:nvSpPr>
        <p:spPr>
          <a:xfrm>
            <a:off x="685800" y="1755648"/>
            <a:ext cx="1143000" cy="274320"/>
          </a:xfrm>
          <a:prstGeom prst="rect">
            <a:avLst/>
          </a:prstGeom>
          <a:noFill/>
          <a:ln/>
        </p:spPr>
        <p:txBody>
          <a:bodyPr wrap="square" lIns="0" tIns="0" rIns="0" bIns="0" rtlCol="0" anchor="ctr"/>
          <a:lstStyle/>
          <a:p>
            <a:pPr indent="0" marL="0">
              <a:buNone/>
            </a:pPr>
            <a:r>
              <a:rPr lang="en-US" sz="1400" b="1" spc="100" kern="0" dirty="0">
                <a:solidFill>
                  <a:srgbClr val="9C5446"/>
                </a:solidFill>
                <a:latin typeface="メイリオ" pitchFamily="34" charset="0"/>
                <a:ea typeface="メイリオ" pitchFamily="34" charset="-122"/>
                <a:cs typeface="メイリオ" pitchFamily="34" charset="-120"/>
              </a:rPr>
              <a:t>共同研究</a:t>
            </a:r>
            <a:endParaRPr lang="en-US" sz="1400" dirty="0"/>
          </a:p>
        </p:txBody>
      </p:sp>
      <p:sp>
        <p:nvSpPr>
          <p:cNvPr id="7" name="Text 5"/>
          <p:cNvSpPr txBox="1"/>
          <p:nvPr/>
        </p:nvSpPr>
        <p:spPr>
          <a:xfrm>
            <a:off x="1828800" y="1719072"/>
            <a:ext cx="9674352" cy="329184"/>
          </a:xfrm>
          <a:prstGeom prst="rect">
            <a:avLst/>
          </a:prstGeom>
          <a:noFill/>
          <a:ln/>
        </p:spPr>
        <p:txBody>
          <a:bodyPr wrap="square" lIns="0" tIns="0" rIns="0" bIns="0" rtlCol="0" anchor="ctr"/>
          <a:lstStyle/>
          <a:p>
            <a:pPr indent="0" marL="0">
              <a:buNone/>
            </a:pPr>
            <a:r>
              <a:rPr lang="en-US" sz="1400" dirty="0">
                <a:solidFill>
                  <a:srgbClr val="2B2620"/>
                </a:solidFill>
                <a:latin typeface="メイリオ" pitchFamily="34" charset="0"/>
                <a:ea typeface="メイリオ" pitchFamily="34" charset="-122"/>
                <a:cs typeface="メイリオ" pitchFamily="34" charset="-120"/>
              </a:rPr>
              <a:t>開業鍼灸院でのメンタルヘルスの可能性を検証する共同研究</a:t>
            </a:r>
            <a:endParaRPr lang="en-US" sz="1400" dirty="0"/>
          </a:p>
        </p:txBody>
      </p:sp>
      <p:sp>
        <p:nvSpPr>
          <p:cNvPr id="8" name="Text 6"/>
          <p:cNvSpPr txBox="1"/>
          <p:nvPr/>
        </p:nvSpPr>
        <p:spPr>
          <a:xfrm>
            <a:off x="1828800" y="2048256"/>
            <a:ext cx="9674352" cy="274320"/>
          </a:xfrm>
          <a:prstGeom prst="rect">
            <a:avLst/>
          </a:prstGeom>
          <a:noFill/>
          <a:ln/>
        </p:spPr>
        <p:txBody>
          <a:bodyPr wrap="square" lIns="0" tIns="0" rIns="0" bIns="0" rtlCol="0" anchor="ctr"/>
          <a:lstStyle/>
          <a:p>
            <a:pPr indent="0" marL="0">
              <a:buNone/>
            </a:pPr>
            <a:r>
              <a:rPr lang="en-US" sz="1200" dirty="0">
                <a:solidFill>
                  <a:srgbClr val="8B8175"/>
                </a:solidFill>
                <a:latin typeface="メイリオ" pitchFamily="34" charset="0"/>
                <a:ea typeface="メイリオ" pitchFamily="34" charset="-122"/>
                <a:cs typeface="メイリオ" pitchFamily="34" charset="-120"/>
              </a:rPr>
              <a:t>ここちめいど／東京有明医療大学／理化学研究所／ケアクル　― PR TIMES</a:t>
            </a:r>
            <a:endParaRPr lang="en-US" sz="1200" dirty="0"/>
          </a:p>
        </p:txBody>
      </p:sp>
      <p:sp>
        <p:nvSpPr>
          <p:cNvPr id="9" name="Shape 7"/>
          <p:cNvSpPr/>
          <p:nvPr/>
        </p:nvSpPr>
        <p:spPr>
          <a:xfrm>
            <a:off x="685800" y="2359152"/>
            <a:ext cx="10820095" cy="7315"/>
          </a:xfrm>
          <a:prstGeom prst="rect">
            <a:avLst/>
          </a:prstGeom>
          <a:solidFill>
            <a:srgbClr val="D2C4AE"/>
          </a:solidFill>
          <a:ln/>
        </p:spPr>
      </p:sp>
      <p:sp>
        <p:nvSpPr>
          <p:cNvPr id="10" name="Text 8"/>
          <p:cNvSpPr txBox="1"/>
          <p:nvPr/>
        </p:nvSpPr>
        <p:spPr>
          <a:xfrm>
            <a:off x="685800" y="2487168"/>
            <a:ext cx="1143000" cy="274320"/>
          </a:xfrm>
          <a:prstGeom prst="rect">
            <a:avLst/>
          </a:prstGeom>
          <a:noFill/>
          <a:ln/>
        </p:spPr>
        <p:txBody>
          <a:bodyPr wrap="square" lIns="0" tIns="0" rIns="0" bIns="0" rtlCol="0" anchor="ctr"/>
          <a:lstStyle/>
          <a:p>
            <a:pPr indent="0" marL="0">
              <a:buNone/>
            </a:pPr>
            <a:r>
              <a:rPr lang="en-US" sz="1400" b="1" spc="100" kern="0" dirty="0">
                <a:solidFill>
                  <a:srgbClr val="9C5446"/>
                </a:solidFill>
                <a:latin typeface="メイリオ" pitchFamily="34" charset="0"/>
                <a:ea typeface="メイリオ" pitchFamily="34" charset="-122"/>
                <a:cs typeface="メイリオ" pitchFamily="34" charset="-120"/>
              </a:rPr>
              <a:t>共同研究</a:t>
            </a:r>
            <a:endParaRPr lang="en-US" sz="1400" dirty="0"/>
          </a:p>
        </p:txBody>
      </p:sp>
      <p:sp>
        <p:nvSpPr>
          <p:cNvPr id="11" name="Text 9"/>
          <p:cNvSpPr txBox="1"/>
          <p:nvPr/>
        </p:nvSpPr>
        <p:spPr>
          <a:xfrm>
            <a:off x="1828800" y="2450592"/>
            <a:ext cx="9674352" cy="329184"/>
          </a:xfrm>
          <a:prstGeom prst="rect">
            <a:avLst/>
          </a:prstGeom>
          <a:noFill/>
          <a:ln/>
        </p:spPr>
        <p:txBody>
          <a:bodyPr wrap="square" lIns="0" tIns="0" rIns="0" bIns="0" rtlCol="0" anchor="ctr"/>
          <a:lstStyle/>
          <a:p>
            <a:pPr indent="0" marL="0">
              <a:buNone/>
            </a:pPr>
            <a:r>
              <a:rPr lang="en-US" sz="1400" dirty="0">
                <a:solidFill>
                  <a:srgbClr val="2B2620"/>
                </a:solidFill>
                <a:latin typeface="メイリオ" pitchFamily="34" charset="0"/>
                <a:ea typeface="メイリオ" pitchFamily="34" charset="-122"/>
                <a:cs typeface="メイリオ" pitchFamily="34" charset="-120"/>
              </a:rPr>
              <a:t>鍼灸症例データベース構築プロジェクト</a:t>
            </a:r>
            <a:endParaRPr lang="en-US" sz="1400" dirty="0"/>
          </a:p>
        </p:txBody>
      </p:sp>
      <p:sp>
        <p:nvSpPr>
          <p:cNvPr id="12" name="Text 10"/>
          <p:cNvSpPr txBox="1"/>
          <p:nvPr/>
        </p:nvSpPr>
        <p:spPr>
          <a:xfrm>
            <a:off x="1828800" y="2779776"/>
            <a:ext cx="9674352" cy="274320"/>
          </a:xfrm>
          <a:prstGeom prst="rect">
            <a:avLst/>
          </a:prstGeom>
          <a:noFill/>
          <a:ln/>
        </p:spPr>
        <p:txBody>
          <a:bodyPr wrap="square" lIns="0" tIns="0" rIns="0" bIns="0" rtlCol="0" anchor="ctr"/>
          <a:lstStyle/>
          <a:p>
            <a:pPr indent="0" marL="0">
              <a:buNone/>
            </a:pPr>
            <a:r>
              <a:rPr lang="en-US" sz="1200" dirty="0">
                <a:solidFill>
                  <a:srgbClr val="8B8175"/>
                </a:solidFill>
                <a:latin typeface="メイリオ" pitchFamily="34" charset="0"/>
                <a:ea typeface="メイリオ" pitchFamily="34" charset="-122"/>
                <a:cs typeface="メイリオ" pitchFamily="34" charset="-120"/>
              </a:rPr>
              <a:t>ケアクル／東京有明医療大学 松浦悠人／玉川大学 柴田健一／ここちめいど 米倉まな　― PR TIMES（2025.4）</a:t>
            </a:r>
            <a:endParaRPr lang="en-US" sz="1200" dirty="0"/>
          </a:p>
        </p:txBody>
      </p:sp>
      <p:sp>
        <p:nvSpPr>
          <p:cNvPr id="13" name="Shape 11"/>
          <p:cNvSpPr/>
          <p:nvPr/>
        </p:nvSpPr>
        <p:spPr>
          <a:xfrm>
            <a:off x="685800" y="3090672"/>
            <a:ext cx="10820095" cy="7315"/>
          </a:xfrm>
          <a:prstGeom prst="rect">
            <a:avLst/>
          </a:prstGeom>
          <a:solidFill>
            <a:srgbClr val="D2C4AE"/>
          </a:solidFill>
          <a:ln/>
        </p:spPr>
      </p:sp>
      <p:sp>
        <p:nvSpPr>
          <p:cNvPr id="14" name="Text 12"/>
          <p:cNvSpPr txBox="1"/>
          <p:nvPr/>
        </p:nvSpPr>
        <p:spPr>
          <a:xfrm>
            <a:off x="685800" y="3218688"/>
            <a:ext cx="1143000" cy="274320"/>
          </a:xfrm>
          <a:prstGeom prst="rect">
            <a:avLst/>
          </a:prstGeom>
          <a:noFill/>
          <a:ln/>
        </p:spPr>
        <p:txBody>
          <a:bodyPr wrap="square" lIns="0" tIns="0" rIns="0" bIns="0" rtlCol="0" anchor="ctr"/>
          <a:lstStyle/>
          <a:p>
            <a:pPr indent="0" marL="0">
              <a:buNone/>
            </a:pPr>
            <a:r>
              <a:rPr lang="en-US" sz="1400" b="1" spc="100" kern="0" dirty="0">
                <a:solidFill>
                  <a:srgbClr val="9C5446"/>
                </a:solidFill>
                <a:latin typeface="メイリオ" pitchFamily="34" charset="0"/>
                <a:ea typeface="メイリオ" pitchFamily="34" charset="-122"/>
                <a:cs typeface="メイリオ" pitchFamily="34" charset="-120"/>
              </a:rPr>
              <a:t>企業連携</a:t>
            </a:r>
            <a:endParaRPr lang="en-US" sz="1400" dirty="0"/>
          </a:p>
        </p:txBody>
      </p:sp>
      <p:sp>
        <p:nvSpPr>
          <p:cNvPr id="15" name="Text 13"/>
          <p:cNvSpPr txBox="1"/>
          <p:nvPr/>
        </p:nvSpPr>
        <p:spPr>
          <a:xfrm>
            <a:off x="1828800" y="3182112"/>
            <a:ext cx="9674352" cy="329184"/>
          </a:xfrm>
          <a:prstGeom prst="rect">
            <a:avLst/>
          </a:prstGeom>
          <a:noFill/>
          <a:ln/>
        </p:spPr>
        <p:txBody>
          <a:bodyPr wrap="square" lIns="0" tIns="0" rIns="0" bIns="0" rtlCol="0" anchor="ctr"/>
          <a:lstStyle/>
          <a:p>
            <a:pPr indent="0" marL="0">
              <a:buNone/>
            </a:pPr>
            <a:r>
              <a:rPr lang="en-US" sz="1400" dirty="0">
                <a:solidFill>
                  <a:srgbClr val="2B2620"/>
                </a:solidFill>
                <a:latin typeface="メイリオ" pitchFamily="34" charset="0"/>
                <a:ea typeface="メイリオ" pitchFamily="34" charset="-122"/>
                <a:cs typeface="メイリオ" pitchFamily="34" charset="-120"/>
              </a:rPr>
              <a:t>オンライン対話サービス「ThirdTalk」特別対談番組に出演</a:t>
            </a:r>
            <a:endParaRPr lang="en-US" sz="1400" dirty="0"/>
          </a:p>
        </p:txBody>
      </p:sp>
      <p:sp>
        <p:nvSpPr>
          <p:cNvPr id="16" name="Text 14"/>
          <p:cNvSpPr txBox="1"/>
          <p:nvPr/>
        </p:nvSpPr>
        <p:spPr>
          <a:xfrm>
            <a:off x="1828800" y="3511296"/>
            <a:ext cx="9674352" cy="274320"/>
          </a:xfrm>
          <a:prstGeom prst="rect">
            <a:avLst/>
          </a:prstGeom>
          <a:noFill/>
          <a:ln/>
        </p:spPr>
        <p:txBody>
          <a:bodyPr wrap="square" lIns="0" tIns="0" rIns="0" bIns="0" rtlCol="0" anchor="ctr"/>
          <a:lstStyle/>
          <a:p>
            <a:pPr indent="0" marL="0">
              <a:buNone/>
            </a:pPr>
            <a:r>
              <a:rPr lang="en-US" sz="1200" dirty="0">
                <a:solidFill>
                  <a:srgbClr val="8B8175"/>
                </a:solidFill>
                <a:latin typeface="メイリオ" pitchFamily="34" charset="0"/>
                <a:ea typeface="メイリオ" pitchFamily="34" charset="-122"/>
                <a:cs typeface="メイリオ" pitchFamily="34" charset="-120"/>
              </a:rPr>
              <a:t>株式会社ファンコミュニケーションズ ニュースリリース（2022.8.26）</a:t>
            </a:r>
            <a:endParaRPr lang="en-US" sz="1200" dirty="0"/>
          </a:p>
        </p:txBody>
      </p:sp>
      <p:sp>
        <p:nvSpPr>
          <p:cNvPr id="17" name="Shape 15"/>
          <p:cNvSpPr/>
          <p:nvPr/>
        </p:nvSpPr>
        <p:spPr>
          <a:xfrm>
            <a:off x="685800" y="3822192"/>
            <a:ext cx="10820095" cy="7315"/>
          </a:xfrm>
          <a:prstGeom prst="rect">
            <a:avLst/>
          </a:prstGeom>
          <a:solidFill>
            <a:srgbClr val="D2C4AE"/>
          </a:solidFill>
          <a:ln/>
        </p:spPr>
      </p:sp>
      <p:sp>
        <p:nvSpPr>
          <p:cNvPr id="18" name="Text 16"/>
          <p:cNvSpPr txBox="1"/>
          <p:nvPr/>
        </p:nvSpPr>
        <p:spPr>
          <a:xfrm>
            <a:off x="685800" y="3950208"/>
            <a:ext cx="1143000" cy="274320"/>
          </a:xfrm>
          <a:prstGeom prst="rect">
            <a:avLst/>
          </a:prstGeom>
          <a:noFill/>
          <a:ln/>
        </p:spPr>
        <p:txBody>
          <a:bodyPr wrap="square" lIns="0" tIns="0" rIns="0" bIns="0" rtlCol="0" anchor="ctr"/>
          <a:lstStyle/>
          <a:p>
            <a:pPr indent="0" marL="0">
              <a:buNone/>
            </a:pPr>
            <a:r>
              <a:rPr lang="en-US" sz="1400" b="1" spc="100" kern="0" dirty="0">
                <a:solidFill>
                  <a:srgbClr val="9C5446"/>
                </a:solidFill>
                <a:latin typeface="メイリオ" pitchFamily="34" charset="0"/>
                <a:ea typeface="メイリオ" pitchFamily="34" charset="-122"/>
                <a:cs typeface="メイリオ" pitchFamily="34" charset="-120"/>
              </a:rPr>
              <a:t>社会貢献</a:t>
            </a:r>
            <a:endParaRPr lang="en-US" sz="1400" dirty="0"/>
          </a:p>
        </p:txBody>
      </p:sp>
      <p:sp>
        <p:nvSpPr>
          <p:cNvPr id="19" name="Text 17"/>
          <p:cNvSpPr txBox="1"/>
          <p:nvPr/>
        </p:nvSpPr>
        <p:spPr>
          <a:xfrm>
            <a:off x="1828800" y="3913632"/>
            <a:ext cx="9674352" cy="329184"/>
          </a:xfrm>
          <a:prstGeom prst="rect">
            <a:avLst/>
          </a:prstGeom>
          <a:noFill/>
          <a:ln/>
        </p:spPr>
        <p:txBody>
          <a:bodyPr wrap="square" lIns="0" tIns="0" rIns="0" bIns="0" rtlCol="0" anchor="ctr"/>
          <a:lstStyle/>
          <a:p>
            <a:pPr indent="0" marL="0">
              <a:buNone/>
            </a:pPr>
            <a:r>
              <a:rPr lang="en-US" sz="1400" dirty="0">
                <a:solidFill>
                  <a:srgbClr val="2B2620"/>
                </a:solidFill>
                <a:latin typeface="メイリオ" pitchFamily="34" charset="0"/>
                <a:ea typeface="メイリオ" pitchFamily="34" charset="-122"/>
                <a:cs typeface="メイリオ" pitchFamily="34" charset="-120"/>
              </a:rPr>
              <a:t>パパゲーノ・アンバサダー認定 第一号（合同会社ここちめいど）</a:t>
            </a:r>
            <a:endParaRPr lang="en-US" sz="1400" dirty="0"/>
          </a:p>
        </p:txBody>
      </p:sp>
      <p:sp>
        <p:nvSpPr>
          <p:cNvPr id="20" name="Text 18"/>
          <p:cNvSpPr txBox="1"/>
          <p:nvPr/>
        </p:nvSpPr>
        <p:spPr>
          <a:xfrm>
            <a:off x="1828800" y="4242816"/>
            <a:ext cx="9674352" cy="274320"/>
          </a:xfrm>
          <a:prstGeom prst="rect">
            <a:avLst/>
          </a:prstGeom>
          <a:noFill/>
          <a:ln/>
        </p:spPr>
        <p:txBody>
          <a:bodyPr wrap="square" lIns="0" tIns="0" rIns="0" bIns="0" rtlCol="0" anchor="ctr"/>
          <a:lstStyle/>
          <a:p>
            <a:pPr indent="0" marL="0">
              <a:buNone/>
            </a:pPr>
            <a:r>
              <a:rPr lang="en-US" sz="1200" dirty="0">
                <a:solidFill>
                  <a:srgbClr val="8B8175"/>
                </a:solidFill>
                <a:latin typeface="メイリオ" pitchFamily="34" charset="0"/>
                <a:ea typeface="メイリオ" pitchFamily="34" charset="-122"/>
                <a:cs typeface="メイリオ" pitchFamily="34" charset="-120"/>
              </a:rPr>
              <a:t>株式会社パパゲーノ プレスリリース</a:t>
            </a:r>
            <a:endParaRPr lang="en-US" sz="1200" dirty="0"/>
          </a:p>
        </p:txBody>
      </p:sp>
      <p:sp>
        <p:nvSpPr>
          <p:cNvPr id="21" name="Shape 19"/>
          <p:cNvSpPr/>
          <p:nvPr/>
        </p:nvSpPr>
        <p:spPr>
          <a:xfrm>
            <a:off x="685800" y="4553712"/>
            <a:ext cx="10820095" cy="7315"/>
          </a:xfrm>
          <a:prstGeom prst="rect">
            <a:avLst/>
          </a:prstGeom>
          <a:solidFill>
            <a:srgbClr val="D2C4AE"/>
          </a:solidFill>
          <a:ln/>
        </p:spPr>
      </p:sp>
      <p:sp>
        <p:nvSpPr>
          <p:cNvPr id="22" name="Text 20"/>
          <p:cNvSpPr txBox="1"/>
          <p:nvPr/>
        </p:nvSpPr>
        <p:spPr>
          <a:xfrm>
            <a:off x="685800" y="4681728"/>
            <a:ext cx="1143000" cy="274320"/>
          </a:xfrm>
          <a:prstGeom prst="rect">
            <a:avLst/>
          </a:prstGeom>
          <a:noFill/>
          <a:ln/>
        </p:spPr>
        <p:txBody>
          <a:bodyPr wrap="square" lIns="0" tIns="0" rIns="0" bIns="0" rtlCol="0" anchor="ctr"/>
          <a:lstStyle/>
          <a:p>
            <a:pPr indent="0" marL="0">
              <a:buNone/>
            </a:pPr>
            <a:r>
              <a:rPr lang="en-US" sz="1400" b="1" spc="100" kern="0" dirty="0">
                <a:solidFill>
                  <a:srgbClr val="9C5446"/>
                </a:solidFill>
                <a:latin typeface="メイリオ" pitchFamily="34" charset="0"/>
                <a:ea typeface="メイリオ" pitchFamily="34" charset="-122"/>
                <a:cs typeface="メイリオ" pitchFamily="34" charset="-120"/>
              </a:rPr>
              <a:t>寄稿</a:t>
            </a:r>
            <a:endParaRPr lang="en-US" sz="1400" dirty="0"/>
          </a:p>
        </p:txBody>
      </p:sp>
      <p:sp>
        <p:nvSpPr>
          <p:cNvPr id="23" name="Text 21"/>
          <p:cNvSpPr txBox="1"/>
          <p:nvPr/>
        </p:nvSpPr>
        <p:spPr>
          <a:xfrm>
            <a:off x="1828800" y="4645152"/>
            <a:ext cx="9674352" cy="329184"/>
          </a:xfrm>
          <a:prstGeom prst="rect">
            <a:avLst/>
          </a:prstGeom>
          <a:noFill/>
          <a:ln/>
        </p:spPr>
        <p:txBody>
          <a:bodyPr wrap="square" lIns="0" tIns="0" rIns="0" bIns="0" rtlCol="0" anchor="ctr"/>
          <a:lstStyle/>
          <a:p>
            <a:pPr indent="0" marL="0">
              <a:buNone/>
            </a:pPr>
            <a:r>
              <a:rPr lang="en-US" sz="1400" dirty="0">
                <a:solidFill>
                  <a:srgbClr val="2B2620"/>
                </a:solidFill>
                <a:latin typeface="メイリオ" pitchFamily="34" charset="0"/>
                <a:ea typeface="メイリオ" pitchFamily="34" charset="-122"/>
                <a:cs typeface="メイリオ" pitchFamily="34" charset="-120"/>
              </a:rPr>
              <a:t>『精神看護』特集「鍼灸は、なぜ「うつ」に効くのだろうか」</a:t>
            </a:r>
            <a:endParaRPr lang="en-US" sz="1400" dirty="0"/>
          </a:p>
        </p:txBody>
      </p:sp>
      <p:sp>
        <p:nvSpPr>
          <p:cNvPr id="24" name="Text 22"/>
          <p:cNvSpPr txBox="1"/>
          <p:nvPr/>
        </p:nvSpPr>
        <p:spPr>
          <a:xfrm>
            <a:off x="1828800" y="4974336"/>
            <a:ext cx="9674352" cy="274320"/>
          </a:xfrm>
          <a:prstGeom prst="rect">
            <a:avLst/>
          </a:prstGeom>
          <a:noFill/>
          <a:ln/>
        </p:spPr>
        <p:txBody>
          <a:bodyPr wrap="square" lIns="0" tIns="0" rIns="0" bIns="0" rtlCol="0" anchor="ctr"/>
          <a:lstStyle/>
          <a:p>
            <a:pPr indent="0" marL="0">
              <a:buNone/>
            </a:pPr>
            <a:r>
              <a:rPr lang="en-US" sz="1200" dirty="0">
                <a:solidFill>
                  <a:srgbClr val="8B8175"/>
                </a:solidFill>
                <a:latin typeface="メイリオ" pitchFamily="34" charset="0"/>
                <a:ea typeface="メイリオ" pitchFamily="34" charset="-122"/>
                <a:cs typeface="メイリオ" pitchFamily="34" charset="-120"/>
              </a:rPr>
              <a:t>医学書院　Vol.28 No.3（2025.5）／ レポート「障害と美の多様性」Vol.28 No.5（2025.9）</a:t>
            </a:r>
            <a:endParaRPr lang="en-US" sz="1200" dirty="0"/>
          </a:p>
        </p:txBody>
      </p:sp>
      <p:sp>
        <p:nvSpPr>
          <p:cNvPr id="25" name="Shape 23"/>
          <p:cNvSpPr/>
          <p:nvPr/>
        </p:nvSpPr>
        <p:spPr>
          <a:xfrm>
            <a:off x="685800" y="5285232"/>
            <a:ext cx="10820095" cy="7315"/>
          </a:xfrm>
          <a:prstGeom prst="rect">
            <a:avLst/>
          </a:prstGeom>
          <a:solidFill>
            <a:srgbClr val="D2C4AE"/>
          </a:solidFill>
          <a:ln/>
        </p:spPr>
      </p:sp>
      <p:sp>
        <p:nvSpPr>
          <p:cNvPr id="26" name="Text 24"/>
          <p:cNvSpPr txBox="1"/>
          <p:nvPr/>
        </p:nvSpPr>
        <p:spPr>
          <a:xfrm>
            <a:off x="685800" y="5413248"/>
            <a:ext cx="1143000" cy="274320"/>
          </a:xfrm>
          <a:prstGeom prst="rect">
            <a:avLst/>
          </a:prstGeom>
          <a:noFill/>
          <a:ln/>
        </p:spPr>
        <p:txBody>
          <a:bodyPr wrap="square" lIns="0" tIns="0" rIns="0" bIns="0" rtlCol="0" anchor="ctr"/>
          <a:lstStyle/>
          <a:p>
            <a:pPr indent="0" marL="0">
              <a:buNone/>
            </a:pPr>
            <a:r>
              <a:rPr lang="en-US" sz="1400" b="1" spc="100" kern="0" dirty="0">
                <a:solidFill>
                  <a:srgbClr val="9C5446"/>
                </a:solidFill>
                <a:latin typeface="メイリオ" pitchFamily="34" charset="0"/>
                <a:ea typeface="メイリオ" pitchFamily="34" charset="-122"/>
                <a:cs typeface="メイリオ" pitchFamily="34" charset="-120"/>
              </a:rPr>
              <a:t>学会</a:t>
            </a:r>
            <a:endParaRPr lang="en-US" sz="1400" dirty="0"/>
          </a:p>
        </p:txBody>
      </p:sp>
      <p:sp>
        <p:nvSpPr>
          <p:cNvPr id="27" name="Text 25"/>
          <p:cNvSpPr txBox="1"/>
          <p:nvPr/>
        </p:nvSpPr>
        <p:spPr>
          <a:xfrm>
            <a:off x="1828800" y="5376672"/>
            <a:ext cx="9674352" cy="329184"/>
          </a:xfrm>
          <a:prstGeom prst="rect">
            <a:avLst/>
          </a:prstGeom>
          <a:noFill/>
          <a:ln/>
        </p:spPr>
        <p:txBody>
          <a:bodyPr wrap="square" lIns="0" tIns="0" rIns="0" bIns="0" rtlCol="0" anchor="ctr"/>
          <a:lstStyle/>
          <a:p>
            <a:pPr indent="0" marL="0">
              <a:buNone/>
            </a:pPr>
            <a:r>
              <a:rPr lang="en-US" sz="1400" dirty="0">
                <a:solidFill>
                  <a:srgbClr val="2B2620"/>
                </a:solidFill>
                <a:latin typeface="メイリオ" pitchFamily="34" charset="0"/>
                <a:ea typeface="メイリオ" pitchFamily="34" charset="-122"/>
                <a:cs typeface="メイリオ" pitchFamily="34" charset="-120"/>
              </a:rPr>
              <a:t>全日本鍼灸学会／日本うつ病学会（ポスター発表）／日本精神神経学会 シンポジスト</a:t>
            </a:r>
            <a:endParaRPr lang="en-US" sz="1400" dirty="0"/>
          </a:p>
        </p:txBody>
      </p:sp>
      <p:sp>
        <p:nvSpPr>
          <p:cNvPr id="28" name="Text 26"/>
          <p:cNvSpPr txBox="1"/>
          <p:nvPr/>
        </p:nvSpPr>
        <p:spPr>
          <a:xfrm>
            <a:off x="1828800" y="5705856"/>
            <a:ext cx="9674352" cy="274320"/>
          </a:xfrm>
          <a:prstGeom prst="rect">
            <a:avLst/>
          </a:prstGeom>
          <a:noFill/>
          <a:ln/>
        </p:spPr>
        <p:txBody>
          <a:bodyPr wrap="square" lIns="0" tIns="0" rIns="0" bIns="0" rtlCol="0" anchor="ctr"/>
          <a:lstStyle/>
          <a:p>
            <a:pPr indent="0" marL="0">
              <a:buNone/>
            </a:pPr>
            <a:r>
              <a:rPr lang="en-US" sz="1200" dirty="0">
                <a:solidFill>
                  <a:srgbClr val="8B8175"/>
                </a:solidFill>
                <a:latin typeface="メイリオ" pitchFamily="34" charset="0"/>
                <a:ea typeface="メイリオ" pitchFamily="34" charset="-122"/>
                <a:cs typeface="メイリオ" pitchFamily="34" charset="-120"/>
              </a:rPr>
              <a:t>うつと不安症状を有する患者の実態調査 第3報・第4報（2024・2025・2026）　― 日本精神神経学会は2026.6 登壇</a:t>
            </a:r>
            <a:endParaRPr lang="en-US" sz="1200" dirty="0"/>
          </a:p>
        </p:txBody>
      </p:sp>
      <p:sp>
        <p:nvSpPr>
          <p:cNvPr id="29" name="Shape 27"/>
          <p:cNvSpPr/>
          <p:nvPr/>
        </p:nvSpPr>
        <p:spPr>
          <a:xfrm>
            <a:off x="685800" y="6016752"/>
            <a:ext cx="10820095" cy="7315"/>
          </a:xfrm>
          <a:prstGeom prst="rect">
            <a:avLst/>
          </a:prstGeom>
          <a:solidFill>
            <a:srgbClr val="D2C4AE"/>
          </a:solidFill>
          <a:ln/>
        </p:spPr>
      </p:sp>
      <p:sp>
        <p:nvSpPr>
          <p:cNvPr id="30" name="Text 28"/>
          <p:cNvSpPr txBox="1"/>
          <p:nvPr/>
        </p:nvSpPr>
        <p:spPr>
          <a:xfrm>
            <a:off x="7848295" y="6336792"/>
            <a:ext cx="3657600" cy="274320"/>
          </a:xfrm>
          <a:prstGeom prst="rect">
            <a:avLst/>
          </a:prstGeom>
          <a:noFill/>
          <a:ln/>
        </p:spPr>
        <p:txBody>
          <a:bodyPr wrap="square" lIns="0" tIns="0" rIns="0" bIns="0" rtlCol="0" anchor="ctr"/>
          <a:lstStyle/>
          <a:p>
            <a:pPr algn="r" indent="0" marL="0">
              <a:buNone/>
            </a:pPr>
            <a:r>
              <a:rPr lang="en-US" sz="1200" dirty="0">
                <a:solidFill>
                  <a:srgbClr val="8B8175"/>
                </a:solidFill>
                <a:latin typeface="メイリオ" pitchFamily="34" charset="0"/>
                <a:ea typeface="メイリオ" pitchFamily="34" charset="-122"/>
                <a:cs typeface="メイリオ" pitchFamily="34" charset="-120"/>
              </a:rPr>
              <a:t>参考資料（本編には含みません）</a:t>
            </a:r>
            <a:endParaRPr lang="en-US" sz="1200" dirty="0"/>
          </a:p>
        </p:txBody>
      </p:sp>
      <p:sp>
        <p:nvSpPr>
          <p:cNvPr id="31" name="Text 29"/>
          <p:cNvSpPr txBox="1"/>
          <p:nvPr/>
        </p:nvSpPr>
        <p:spPr>
          <a:xfrm>
            <a:off x="685800" y="6336792"/>
            <a:ext cx="7315200" cy="274320"/>
          </a:xfrm>
          <a:prstGeom prst="rect">
            <a:avLst/>
          </a:prstGeom>
          <a:noFill/>
          <a:ln/>
        </p:spPr>
        <p:txBody>
          <a:bodyPr wrap="square" lIns="0" tIns="0" rIns="0" bIns="0" rtlCol="0" anchor="ctr"/>
          <a:lstStyle/>
          <a:p>
            <a:pPr indent="0" marL="0">
              <a:buNone/>
            </a:pPr>
            <a:r>
              <a:rPr lang="en-US" sz="1200" spc="100" kern="0" dirty="0">
                <a:solidFill>
                  <a:srgbClr val="8B8175"/>
                </a:solidFill>
                <a:latin typeface="メイリオ" pitchFamily="34" charset="0"/>
                <a:ea typeface="メイリオ" pitchFamily="34" charset="-122"/>
                <a:cs typeface="メイリオ" pitchFamily="34" charset="-120"/>
              </a:rPr>
              <a:t>米倉まな｜アポプラスステーション様 ご提案</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米倉まな｜アポプラスステーション様 ご提案 導入</dc:title>
  <dc:subject>PptxGenJS Presentation</dc:subject>
  <dc:creator>米倉まな</dc:creator>
  <cp:lastModifiedBy>米倉まな</cp:lastModifiedBy>
  <cp:revision>1</cp:revision>
  <dcterms:created xsi:type="dcterms:W3CDTF">2026-09-13T11:53:47Z</dcterms:created>
  <dcterms:modified xsi:type="dcterms:W3CDTF">2026-09-13T11:53:47Z</dcterms:modified>
</cp:coreProperties>
</file>