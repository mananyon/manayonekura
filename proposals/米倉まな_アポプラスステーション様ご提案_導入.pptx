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本日はお時間をいただきありがとうございます。提案に入る前に、私が何者で、何を変えたいのかを5分だけお話しさせてください。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重で鍼灸院を11年。のべ2万人以上を診てきました。臨床だけでなく、鍼灸師の育成と、学会での研究発表も続けています。心の不調を扱う鍼灸師として、現場・人・データの3つを持っているのが私の立ち位置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もうひとつの顔が、企業の新規事業への伴走です。パパゲーノでは認定第一号として、就労継続支援の事業に発注する側で関わりました。ファンコミュニケーションズさんのThirdTalkは、病院やカウンセリングに行く一歩手前の人のためのオンライン対話サービスで、企画段階からご相談をいただき、立ち上げを見守ってきました。stand upさんはアミューズメントの会社で、新規事業のご相談から、いまもお取引が続いています。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は、私が現場で感じていることをお話しします。左が社会の数字、右が私が院で見ていることです。精神疾患の患者は約600万人、国も2024年に初めて白書のテーマにこころの健康を据えました。私の院でも、心の不調を主訴に来られる方が明らかに増えています。2028年からは50人未満の会社にもストレスチェックが義務化されます。ただ、検査で気づいても次に行く場所がない。病院はもう新規を受けきれていません。そして損失の7.6兆円のうち7.3兆円は、出勤しているのに力が出ない人の分です。この層が、いま誰の担当にもなっていない。だから私は、未病の段階で止め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ただ、鍼灸だけでは天井があります。国家資格者の時間が上限になるからです。そこで「ねここち」という頭をオフにする事業を始めます。1店舗あたり月次利益30万円を想定。ねここちが入口、鍼灸や医療が出口という導線をつ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企業と鍼灸の組み合わせは、もう絵空事ではありません。枕で知られるブレインスリープさんは、睡眠専門の鍼灸院を自社ブランドで4店舗運営しています。有楽町マルイのように商業施設の中にも入っていて、丸井グループ側もプレスリリースを出しています。累計1万人以上が利用し、施術の効果も数字で公表し、定額プランで通い続けてもらう設計です。製品を売って終わりにせず、施術で人と関わり続けている。私がやろうとしている構造とほぼ同じで、違いは入口だけです。あの会社は睡眠から入った。私はこころから入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正直に申し上げると、いまはすべてが私に紐づいていて、1人で抱えられる量に天井があります。仕組みと人と座組みが足りない。ここは御社が最も強い領域だと考えています。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お願いしたいことは3つです。未病領域の新規事業の共同検討、人材・組織の知見、そして実証の場。治療が必要になる手前で、生きづらさを抱えた人を減らしたい。ぜひご一緒させてください。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本編には含めません。実績の裏取りを求められたときに、共同研究や企業連携の公開情報としてお見せする用です。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100" spc="200" kern="0" dirty="0">
                <a:solidFill>
                  <a:srgbClr val="9C5446"/>
                </a:solidFill>
                <a:latin typeface="游ゴシック" pitchFamily="34" charset="0"/>
                <a:ea typeface="游ゴシック" pitchFamily="34" charset="-122"/>
                <a:cs typeface="游ゴシック" pitchFamily="34" charset="-120"/>
              </a:rPr>
              <a:t>アポプラスステーション株式会社 御中</a:t>
            </a:r>
            <a:endParaRPr lang="en-US" sz="1100" dirty="0"/>
          </a:p>
        </p:txBody>
      </p:sp>
      <p:sp>
        <p:nvSpPr>
          <p:cNvPr id="4" name="Text 2"/>
          <p:cNvSpPr txBox="1"/>
          <p:nvPr/>
        </p:nvSpPr>
        <p:spPr>
          <a:xfrm>
            <a:off x="685800" y="1783080"/>
            <a:ext cx="5486400" cy="274320"/>
          </a:xfrm>
          <a:prstGeom prst="rect">
            <a:avLst/>
          </a:prstGeom>
          <a:noFill/>
          <a:ln/>
        </p:spPr>
        <p:txBody>
          <a:bodyPr wrap="square" lIns="0" tIns="0" rIns="0" bIns="0" rtlCol="0" anchor="ctr"/>
          <a:lstStyle/>
          <a:p>
            <a:pPr indent="0" marL="0">
              <a:buNone/>
            </a:pPr>
            <a:r>
              <a:rPr lang="en-US" sz="1100" spc="500" kern="0" dirty="0">
                <a:solidFill>
                  <a:srgbClr val="8B8175"/>
                </a:solidFill>
                <a:latin typeface="游ゴシック" pitchFamily="34" charset="0"/>
                <a:ea typeface="游ゴシック" pitchFamily="34" charset="-122"/>
                <a:cs typeface="游ゴシック" pitchFamily="34" charset="-120"/>
              </a:rPr>
              <a:t>よねくら　まな</a:t>
            </a:r>
            <a:endParaRPr lang="en-US" sz="1100" dirty="0"/>
          </a:p>
        </p:txBody>
      </p:sp>
      <p:sp>
        <p:nvSpPr>
          <p:cNvPr id="5" name="Text 3"/>
          <p:cNvSpPr txBox="1"/>
          <p:nvPr/>
        </p:nvSpPr>
        <p:spPr>
          <a:xfrm>
            <a:off x="685800" y="2148840"/>
            <a:ext cx="7315200" cy="868680"/>
          </a:xfrm>
          <a:prstGeom prst="rect">
            <a:avLst/>
          </a:prstGeom>
          <a:noFill/>
          <a:ln/>
        </p:spPr>
        <p:txBody>
          <a:bodyPr wrap="square" lIns="0" tIns="0" rIns="0" bIns="0" rtlCol="0" anchor="ctr"/>
          <a:lstStyle/>
          <a:p>
            <a:pPr indent="0" marL="0">
              <a:buNone/>
            </a:pPr>
            <a:r>
              <a:rPr lang="en-US" sz="3800" b="1" spc="300" kern="0" dirty="0">
                <a:solidFill>
                  <a:srgbClr val="2B2620"/>
                </a:solidFill>
                <a:latin typeface="游明朝" pitchFamily="34" charset="0"/>
                <a:ea typeface="游明朝" pitchFamily="34" charset="-122"/>
                <a:cs typeface="游明朝" pitchFamily="34" charset="-120"/>
              </a:rPr>
              <a:t>米倉まな</a:t>
            </a:r>
            <a:endParaRPr lang="en-US" sz="3800" dirty="0"/>
          </a:p>
        </p:txBody>
      </p:sp>
      <p:sp>
        <p:nvSpPr>
          <p:cNvPr id="6" name="Text 4"/>
          <p:cNvSpPr txBox="1"/>
          <p:nvPr/>
        </p:nvSpPr>
        <p:spPr>
          <a:xfrm>
            <a:off x="685800" y="3310128"/>
            <a:ext cx="8229600" cy="1097280"/>
          </a:xfrm>
          <a:prstGeom prst="rect">
            <a:avLst/>
          </a:prstGeom>
          <a:noFill/>
          <a:ln/>
        </p:spPr>
        <p:txBody>
          <a:bodyPr wrap="square" lIns="0" tIns="0" rIns="0" bIns="0" rtlCol="0" anchor="t"/>
          <a:lstStyle/>
          <a:p>
            <a:pPr indent="0" marL="0">
              <a:lnSpc>
                <a:spcPts val="3400"/>
              </a:lnSpc>
              <a:buNone/>
            </a:pPr>
            <a:r>
              <a:rPr lang="en-US" sz="2000" dirty="0">
                <a:solidFill>
                  <a:srgbClr val="5A5249"/>
                </a:solidFill>
                <a:latin typeface="游明朝" pitchFamily="34" charset="0"/>
                <a:ea typeface="游明朝" pitchFamily="34" charset="-122"/>
                <a:cs typeface="游明朝" pitchFamily="34" charset="-120"/>
              </a:rPr>
              <a:t>ご提案の前に、</a:t>
            </a:r>
            <a:endParaRPr lang="en-US" sz="2000" dirty="0"/>
          </a:p>
          <a:p>
            <a:pPr indent="0" marL="0">
              <a:lnSpc>
                <a:spcPts val="3400"/>
              </a:lnSpc>
              <a:buNone/>
            </a:pPr>
            <a:r>
              <a:rPr lang="en-US" sz="2000" dirty="0">
                <a:solidFill>
                  <a:srgbClr val="5A5249"/>
                </a:solidFill>
                <a:latin typeface="游明朝" pitchFamily="34" charset="0"/>
                <a:ea typeface="游明朝" pitchFamily="34" charset="-122"/>
                <a:cs typeface="游明朝" pitchFamily="34" charset="-120"/>
              </a:rPr>
              <a:t>私が何者で、何を変えたいのかを。</a:t>
            </a:r>
            <a:endParaRPr lang="en-US" sz="2000" dirty="0"/>
          </a:p>
        </p:txBody>
      </p:sp>
      <p:sp>
        <p:nvSpPr>
          <p:cNvPr id="7" name="Shape 5"/>
          <p:cNvSpPr/>
          <p:nvPr/>
        </p:nvSpPr>
        <p:spPr>
          <a:xfrm>
            <a:off x="685800" y="4892040"/>
            <a:ext cx="1869948" cy="384048"/>
          </a:xfrm>
          <a:prstGeom prst="roundRect">
            <a:avLst>
              <a:gd name="adj" fmla="val 50000"/>
            </a:avLst>
          </a:prstGeom>
          <a:solidFill>
            <a:srgbClr val="FBF6EC"/>
          </a:solidFill>
          <a:ln w="9525">
            <a:solidFill>
              <a:srgbClr val="D2C4AE"/>
            </a:solidFill>
            <a:prstDash val="solid"/>
          </a:ln>
        </p:spPr>
      </p:sp>
      <p:sp>
        <p:nvSpPr>
          <p:cNvPr id="8" name="Text 6"/>
          <p:cNvSpPr txBox="1"/>
          <p:nvPr/>
        </p:nvSpPr>
        <p:spPr>
          <a:xfrm>
            <a:off x="685800" y="4892040"/>
            <a:ext cx="1869948" cy="384048"/>
          </a:xfrm>
          <a:prstGeom prst="rect">
            <a:avLst/>
          </a:prstGeom>
          <a:noFill/>
          <a:ln/>
        </p:spPr>
        <p:txBody>
          <a:bodyPr wrap="square" lIns="0" tIns="0" rIns="0" bIns="0" rtlCol="0" anchor="ctr"/>
          <a:lstStyle/>
          <a:p>
            <a:pPr algn="ctr" indent="0" marL="0">
              <a:buNone/>
            </a:pPr>
            <a:r>
              <a:rPr lang="en-US" sz="950" dirty="0">
                <a:solidFill>
                  <a:srgbClr val="5A5249"/>
                </a:solidFill>
                <a:latin typeface="游ゴシック" pitchFamily="34" charset="0"/>
                <a:ea typeface="游ゴシック" pitchFamily="34" charset="-122"/>
                <a:cs typeface="游ゴシック" pitchFamily="34" charset="-120"/>
              </a:rPr>
              <a:t>認定鍼灸師（開業11年目）</a:t>
            </a:r>
            <a:endParaRPr lang="en-US" sz="950" dirty="0"/>
          </a:p>
        </p:txBody>
      </p:sp>
      <p:sp>
        <p:nvSpPr>
          <p:cNvPr id="9" name="Shape 7"/>
          <p:cNvSpPr/>
          <p:nvPr/>
        </p:nvSpPr>
        <p:spPr>
          <a:xfrm>
            <a:off x="2702052" y="4892040"/>
            <a:ext cx="2098548" cy="384048"/>
          </a:xfrm>
          <a:prstGeom prst="roundRect">
            <a:avLst>
              <a:gd name="adj" fmla="val 50000"/>
            </a:avLst>
          </a:prstGeom>
          <a:solidFill>
            <a:srgbClr val="FBF6EC"/>
          </a:solidFill>
          <a:ln w="9525">
            <a:solidFill>
              <a:srgbClr val="D2C4AE"/>
            </a:solidFill>
            <a:prstDash val="solid"/>
          </a:ln>
        </p:spPr>
      </p:sp>
      <p:sp>
        <p:nvSpPr>
          <p:cNvPr id="10" name="Text 8"/>
          <p:cNvSpPr txBox="1"/>
          <p:nvPr/>
        </p:nvSpPr>
        <p:spPr>
          <a:xfrm>
            <a:off x="2702052" y="4892040"/>
            <a:ext cx="2098548" cy="384048"/>
          </a:xfrm>
          <a:prstGeom prst="rect">
            <a:avLst/>
          </a:prstGeom>
          <a:noFill/>
          <a:ln/>
        </p:spPr>
        <p:txBody>
          <a:bodyPr wrap="square" lIns="0" tIns="0" rIns="0" bIns="0" rtlCol="0" anchor="ctr"/>
          <a:lstStyle/>
          <a:p>
            <a:pPr algn="ctr" indent="0" marL="0">
              <a:buNone/>
            </a:pPr>
            <a:r>
              <a:rPr lang="en-US" sz="950" dirty="0">
                <a:solidFill>
                  <a:srgbClr val="5A5249"/>
                </a:solidFill>
                <a:latin typeface="游ゴシック" pitchFamily="34" charset="0"/>
                <a:ea typeface="游ゴシック" pitchFamily="34" charset="-122"/>
                <a:cs typeface="游ゴシック" pitchFamily="34" charset="-120"/>
              </a:rPr>
              <a:t>はりきゅう処ここちめいど 院長</a:t>
            </a:r>
            <a:endParaRPr lang="en-US" sz="950" dirty="0"/>
          </a:p>
        </p:txBody>
      </p:sp>
      <p:sp>
        <p:nvSpPr>
          <p:cNvPr id="11" name="Shape 9"/>
          <p:cNvSpPr/>
          <p:nvPr/>
        </p:nvSpPr>
        <p:spPr>
          <a:xfrm>
            <a:off x="4946904" y="4892040"/>
            <a:ext cx="2441448" cy="384048"/>
          </a:xfrm>
          <a:prstGeom prst="roundRect">
            <a:avLst>
              <a:gd name="adj" fmla="val 50000"/>
            </a:avLst>
          </a:prstGeom>
          <a:solidFill>
            <a:srgbClr val="FBF6EC"/>
          </a:solidFill>
          <a:ln w="9525">
            <a:solidFill>
              <a:srgbClr val="D2C4AE"/>
            </a:solidFill>
            <a:prstDash val="solid"/>
          </a:ln>
        </p:spPr>
      </p:sp>
      <p:sp>
        <p:nvSpPr>
          <p:cNvPr id="12" name="Text 10"/>
          <p:cNvSpPr txBox="1"/>
          <p:nvPr/>
        </p:nvSpPr>
        <p:spPr>
          <a:xfrm>
            <a:off x="4946904" y="4892040"/>
            <a:ext cx="2441448" cy="384048"/>
          </a:xfrm>
          <a:prstGeom prst="rect">
            <a:avLst/>
          </a:prstGeom>
          <a:noFill/>
          <a:ln/>
        </p:spPr>
        <p:txBody>
          <a:bodyPr wrap="square" lIns="0" tIns="0" rIns="0" bIns="0" rtlCol="0" anchor="ctr"/>
          <a:lstStyle/>
          <a:p>
            <a:pPr algn="ctr" indent="0" marL="0">
              <a:buNone/>
            </a:pPr>
            <a:r>
              <a:rPr lang="en-US" sz="950" dirty="0">
                <a:solidFill>
                  <a:srgbClr val="5A5249"/>
                </a:solidFill>
                <a:latin typeface="游ゴシック" pitchFamily="34" charset="0"/>
                <a:ea typeface="游ゴシック" pitchFamily="34" charset="-122"/>
                <a:cs typeface="游ゴシック" pitchFamily="34" charset="-120"/>
              </a:rPr>
              <a:t>オンラインサロン ここちめいど 主宰</a:t>
            </a:r>
            <a:endParaRPr lang="en-US" sz="950" dirty="0"/>
          </a:p>
        </p:txBody>
      </p:sp>
      <p:sp>
        <p:nvSpPr>
          <p:cNvPr id="13" name="Shape 11"/>
          <p:cNvSpPr/>
          <p:nvPr/>
        </p:nvSpPr>
        <p:spPr>
          <a:xfrm>
            <a:off x="7534656" y="4892040"/>
            <a:ext cx="1298448" cy="384048"/>
          </a:xfrm>
          <a:prstGeom prst="roundRect">
            <a:avLst>
              <a:gd name="adj" fmla="val 50000"/>
            </a:avLst>
          </a:prstGeom>
          <a:solidFill>
            <a:srgbClr val="FBF6EC"/>
          </a:solidFill>
          <a:ln w="9525">
            <a:solidFill>
              <a:srgbClr val="D2C4AE"/>
            </a:solidFill>
            <a:prstDash val="solid"/>
          </a:ln>
        </p:spPr>
      </p:sp>
      <p:sp>
        <p:nvSpPr>
          <p:cNvPr id="14" name="Text 12"/>
          <p:cNvSpPr txBox="1"/>
          <p:nvPr/>
        </p:nvSpPr>
        <p:spPr>
          <a:xfrm>
            <a:off x="7534656" y="4892040"/>
            <a:ext cx="1298448" cy="384048"/>
          </a:xfrm>
          <a:prstGeom prst="rect">
            <a:avLst/>
          </a:prstGeom>
          <a:noFill/>
          <a:ln/>
        </p:spPr>
        <p:txBody>
          <a:bodyPr wrap="square" lIns="0" tIns="0" rIns="0" bIns="0" rtlCol="0" anchor="ctr"/>
          <a:lstStyle/>
          <a:p>
            <a:pPr algn="ctr" indent="0" marL="0">
              <a:buNone/>
            </a:pPr>
            <a:r>
              <a:rPr lang="en-US" sz="950" dirty="0">
                <a:solidFill>
                  <a:srgbClr val="5A5249"/>
                </a:solidFill>
                <a:latin typeface="游ゴシック" pitchFamily="34" charset="0"/>
                <a:ea typeface="游ゴシック" pitchFamily="34" charset="-122"/>
                <a:cs typeface="游ゴシック" pitchFamily="34" charset="-120"/>
              </a:rPr>
              <a:t>ここちはり 代表</a:t>
            </a:r>
            <a:endParaRPr lang="en-US" sz="950" dirty="0"/>
          </a:p>
        </p:txBody>
      </p:sp>
      <p:sp>
        <p:nvSpPr>
          <p:cNvPr id="15" name="Shape 13"/>
          <p:cNvSpPr/>
          <p:nvPr/>
        </p:nvSpPr>
        <p:spPr>
          <a:xfrm>
            <a:off x="8979408" y="4892040"/>
            <a:ext cx="2098548" cy="384048"/>
          </a:xfrm>
          <a:prstGeom prst="roundRect">
            <a:avLst>
              <a:gd name="adj" fmla="val 50000"/>
            </a:avLst>
          </a:prstGeom>
          <a:solidFill>
            <a:srgbClr val="FBF6EC"/>
          </a:solidFill>
          <a:ln w="9525">
            <a:solidFill>
              <a:srgbClr val="D2C4AE"/>
            </a:solidFill>
            <a:prstDash val="solid"/>
          </a:ln>
        </p:spPr>
      </p:sp>
      <p:sp>
        <p:nvSpPr>
          <p:cNvPr id="16" name="Text 14"/>
          <p:cNvSpPr txBox="1"/>
          <p:nvPr/>
        </p:nvSpPr>
        <p:spPr>
          <a:xfrm>
            <a:off x="8979408" y="4892040"/>
            <a:ext cx="2098548" cy="384048"/>
          </a:xfrm>
          <a:prstGeom prst="rect">
            <a:avLst/>
          </a:prstGeom>
          <a:noFill/>
          <a:ln/>
        </p:spPr>
        <p:txBody>
          <a:bodyPr wrap="square" lIns="0" tIns="0" rIns="0" bIns="0" rtlCol="0" anchor="ctr"/>
          <a:lstStyle/>
          <a:p>
            <a:pPr algn="ctr" indent="0" marL="0">
              <a:buNone/>
            </a:pPr>
            <a:r>
              <a:rPr lang="en-US" sz="950" dirty="0">
                <a:solidFill>
                  <a:srgbClr val="5A5249"/>
                </a:solidFill>
                <a:latin typeface="游ゴシック" pitchFamily="34" charset="0"/>
                <a:ea typeface="游ゴシック" pitchFamily="34" charset="-122"/>
                <a:cs typeface="游ゴシック" pitchFamily="34" charset="-120"/>
              </a:rPr>
              <a:t>武蔵野大学大学院 人間学 修士</a:t>
            </a:r>
            <a:endParaRPr lang="en-US" sz="950" dirty="0"/>
          </a:p>
        </p:txBody>
      </p:sp>
      <p:sp>
        <p:nvSpPr>
          <p:cNvPr id="17" name="Text 15"/>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18" name="Text 16"/>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所要 約5分</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9C5446"/>
                </a:solidFill>
                <a:latin typeface="游明朝" pitchFamily="34" charset="0"/>
                <a:ea typeface="游明朝" pitchFamily="34" charset="-122"/>
                <a:cs typeface="游明朝" pitchFamily="34" charset="-120"/>
              </a:rPr>
              <a:t>01   </a:t>
            </a:r>
            <a:pPr indent="0" marL="0">
              <a:buNone/>
            </a:pPr>
            <a:r>
              <a:rPr lang="en-US" sz="1000" spc="300" kern="0" dirty="0">
                <a:solidFill>
                  <a:srgbClr val="8B8175"/>
                </a:solidFill>
                <a:latin typeface="游ゴシック" pitchFamily="34" charset="0"/>
                <a:ea typeface="游ゴシック" pitchFamily="34" charset="-122"/>
                <a:cs typeface="游ゴシック" pitchFamily="34" charset="-120"/>
              </a:rPr>
              <a:t>PROFILE</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游明朝" pitchFamily="34" charset="0"/>
                <a:ea typeface="游明朝" pitchFamily="34" charset="-122"/>
                <a:cs typeface="游明朝" pitchFamily="34" charset="-120"/>
              </a:rPr>
              <a:t>臨床・育成・研究の3本を、11年まわしてきました</a:t>
            </a:r>
            <a:endParaRPr lang="en-US" sz="2800" dirty="0"/>
          </a:p>
        </p:txBody>
      </p:sp>
      <p:sp>
        <p:nvSpPr>
          <p:cNvPr id="5" name="Shape 3"/>
          <p:cNvSpPr/>
          <p:nvPr/>
        </p:nvSpPr>
        <p:spPr>
          <a:xfrm>
            <a:off x="685800" y="1737360"/>
            <a:ext cx="3456432" cy="2286000"/>
          </a:xfrm>
          <a:prstGeom prst="roundRect">
            <a:avLst>
              <a:gd name="adj" fmla="val 2000"/>
            </a:avLst>
          </a:prstGeom>
          <a:solidFill>
            <a:srgbClr val="FBF6EC"/>
          </a:solidFill>
          <a:ln w="9525">
            <a:solidFill>
              <a:srgbClr val="D2C4AE"/>
            </a:solidFill>
            <a:prstDash val="solid"/>
          </a:ln>
        </p:spPr>
      </p:sp>
      <p:sp>
        <p:nvSpPr>
          <p:cNvPr id="6" name="Text 4"/>
          <p:cNvSpPr txBox="1"/>
          <p:nvPr/>
        </p:nvSpPr>
        <p:spPr>
          <a:xfrm>
            <a:off x="941832" y="1938528"/>
            <a:ext cx="2944368"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臨床</a:t>
            </a:r>
            <a:endParaRPr lang="en-US" sz="900" dirty="0"/>
          </a:p>
        </p:txBody>
      </p:sp>
      <p:sp>
        <p:nvSpPr>
          <p:cNvPr id="7" name="Text 5"/>
          <p:cNvSpPr txBox="1"/>
          <p:nvPr/>
        </p:nvSpPr>
        <p:spPr>
          <a:xfrm>
            <a:off x="941832" y="2212848"/>
            <a:ext cx="2944368" cy="457200"/>
          </a:xfrm>
          <a:prstGeom prst="rect">
            <a:avLst/>
          </a:prstGeom>
          <a:noFill/>
          <a:ln/>
        </p:spPr>
        <p:txBody>
          <a:bodyPr wrap="square" lIns="0" tIns="0" rIns="0" bIns="0" rtlCol="0" anchor="t"/>
          <a:lstStyle/>
          <a:p>
            <a:pPr indent="0" marL="0">
              <a:lnSpc>
                <a:spcPts val="2100"/>
              </a:lnSpc>
              <a:buNone/>
            </a:pPr>
            <a:r>
              <a:rPr lang="en-US" sz="1500" b="1" dirty="0">
                <a:solidFill>
                  <a:srgbClr val="2B2620"/>
                </a:solidFill>
                <a:latin typeface="游明朝" pitchFamily="34" charset="0"/>
                <a:ea typeface="游明朝" pitchFamily="34" charset="-122"/>
                <a:cs typeface="游明朝" pitchFamily="34" charset="-120"/>
              </a:rPr>
              <a:t>はりきゅう処ここちめいど</a:t>
            </a:r>
            <a:endParaRPr lang="en-US" sz="1500" dirty="0"/>
          </a:p>
        </p:txBody>
      </p:sp>
      <p:sp>
        <p:nvSpPr>
          <p:cNvPr id="8" name="Text 6"/>
          <p:cNvSpPr txBox="1"/>
          <p:nvPr/>
        </p:nvSpPr>
        <p:spPr>
          <a:xfrm>
            <a:off x="941832" y="2724912"/>
            <a:ext cx="2944368" cy="1097280"/>
          </a:xfrm>
          <a:prstGeom prst="rect">
            <a:avLst/>
          </a:prstGeom>
          <a:noFill/>
          <a:ln/>
        </p:spPr>
        <p:txBody>
          <a:bodyPr wrap="square" lIns="0" tIns="0" rIns="0" bIns="0" rtlCol="0" anchor="t"/>
          <a:lstStyle/>
          <a:p>
            <a:pPr indent="0" marL="0">
              <a:lnSpc>
                <a:spcPts val="1700"/>
              </a:lnSpc>
              <a:buNone/>
            </a:pPr>
            <a:r>
              <a:rPr lang="en-US" sz="1050" dirty="0">
                <a:solidFill>
                  <a:srgbClr val="5A5249"/>
                </a:solidFill>
                <a:latin typeface="游ゴシック" pitchFamily="34" charset="0"/>
                <a:ea typeface="游ゴシック" pitchFamily="34" charset="-122"/>
                <a:cs typeface="游ゴシック" pitchFamily="34" charset="-120"/>
              </a:rPr>
              <a:t>三重県四日市市。2015年開院、夜22時まで。心の不調を主訴とする患者を中心に診ています。2026年9月に町田院を開院予定。</a:t>
            </a:r>
            <a:endParaRPr lang="en-US" sz="1050" dirty="0"/>
          </a:p>
        </p:txBody>
      </p:sp>
      <p:sp>
        <p:nvSpPr>
          <p:cNvPr id="9" name="Shape 7"/>
          <p:cNvSpPr/>
          <p:nvPr/>
        </p:nvSpPr>
        <p:spPr>
          <a:xfrm>
            <a:off x="4370832" y="1737360"/>
            <a:ext cx="3456432" cy="2286000"/>
          </a:xfrm>
          <a:prstGeom prst="roundRect">
            <a:avLst>
              <a:gd name="adj" fmla="val 2000"/>
            </a:avLst>
          </a:prstGeom>
          <a:solidFill>
            <a:srgbClr val="FBF6EC"/>
          </a:solidFill>
          <a:ln w="9525">
            <a:solidFill>
              <a:srgbClr val="D2C4AE"/>
            </a:solidFill>
            <a:prstDash val="solid"/>
          </a:ln>
        </p:spPr>
      </p:sp>
      <p:sp>
        <p:nvSpPr>
          <p:cNvPr id="10" name="Text 8"/>
          <p:cNvSpPr txBox="1"/>
          <p:nvPr/>
        </p:nvSpPr>
        <p:spPr>
          <a:xfrm>
            <a:off x="4626864" y="1938528"/>
            <a:ext cx="2944368"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育成・コミュニティ</a:t>
            </a:r>
            <a:endParaRPr lang="en-US" sz="900" dirty="0"/>
          </a:p>
        </p:txBody>
      </p:sp>
      <p:sp>
        <p:nvSpPr>
          <p:cNvPr id="11" name="Text 9"/>
          <p:cNvSpPr txBox="1"/>
          <p:nvPr/>
        </p:nvSpPr>
        <p:spPr>
          <a:xfrm>
            <a:off x="4626864" y="2212848"/>
            <a:ext cx="2944368" cy="457200"/>
          </a:xfrm>
          <a:prstGeom prst="rect">
            <a:avLst/>
          </a:prstGeom>
          <a:noFill/>
          <a:ln/>
        </p:spPr>
        <p:txBody>
          <a:bodyPr wrap="square" lIns="0" tIns="0" rIns="0" bIns="0" rtlCol="0" anchor="t"/>
          <a:lstStyle/>
          <a:p>
            <a:pPr indent="0" marL="0">
              <a:lnSpc>
                <a:spcPts val="2100"/>
              </a:lnSpc>
              <a:buNone/>
            </a:pPr>
            <a:r>
              <a:rPr lang="en-US" sz="1500" b="1" dirty="0">
                <a:solidFill>
                  <a:srgbClr val="2B2620"/>
                </a:solidFill>
                <a:latin typeface="游明朝" pitchFamily="34" charset="0"/>
                <a:ea typeface="游明朝" pitchFamily="34" charset="-122"/>
                <a:cs typeface="游明朝" pitchFamily="34" charset="-120"/>
              </a:rPr>
              <a:t>ここちめいど／ここちはり</a:t>
            </a:r>
            <a:endParaRPr lang="en-US" sz="1500" dirty="0"/>
          </a:p>
        </p:txBody>
      </p:sp>
      <p:sp>
        <p:nvSpPr>
          <p:cNvPr id="12" name="Text 10"/>
          <p:cNvSpPr txBox="1"/>
          <p:nvPr/>
        </p:nvSpPr>
        <p:spPr>
          <a:xfrm>
            <a:off x="4626864" y="2724912"/>
            <a:ext cx="2944368" cy="1097280"/>
          </a:xfrm>
          <a:prstGeom prst="rect">
            <a:avLst/>
          </a:prstGeom>
          <a:noFill/>
          <a:ln/>
        </p:spPr>
        <p:txBody>
          <a:bodyPr wrap="square" lIns="0" tIns="0" rIns="0" bIns="0" rtlCol="0" anchor="t"/>
          <a:lstStyle/>
          <a:p>
            <a:pPr indent="0" marL="0">
              <a:lnSpc>
                <a:spcPts val="1700"/>
              </a:lnSpc>
              <a:buNone/>
            </a:pPr>
            <a:r>
              <a:rPr lang="en-US" sz="1050" dirty="0">
                <a:solidFill>
                  <a:srgbClr val="5A5249"/>
                </a:solidFill>
                <a:latin typeface="游ゴシック" pitchFamily="34" charset="0"/>
                <a:ea typeface="游ゴシック" pitchFamily="34" charset="-122"/>
                <a:cs typeface="游ゴシック" pitchFamily="34" charset="-120"/>
              </a:rPr>
              <a:t>傾聴を学ぶ鍼灸師のオンラインサロンを2020年から主宰。2025年からは施術者育成事業を開始し、感情・心・身体・技術の4軸で指導。</a:t>
            </a:r>
            <a:endParaRPr lang="en-US" sz="1050" dirty="0"/>
          </a:p>
        </p:txBody>
      </p:sp>
      <p:sp>
        <p:nvSpPr>
          <p:cNvPr id="13" name="Shape 11"/>
          <p:cNvSpPr/>
          <p:nvPr/>
        </p:nvSpPr>
        <p:spPr>
          <a:xfrm>
            <a:off x="8055864" y="1737360"/>
            <a:ext cx="3456432" cy="2286000"/>
          </a:xfrm>
          <a:prstGeom prst="roundRect">
            <a:avLst>
              <a:gd name="adj" fmla="val 2000"/>
            </a:avLst>
          </a:prstGeom>
          <a:solidFill>
            <a:srgbClr val="FBF6EC"/>
          </a:solidFill>
          <a:ln w="9525">
            <a:solidFill>
              <a:srgbClr val="D2C4AE"/>
            </a:solidFill>
            <a:prstDash val="solid"/>
          </a:ln>
        </p:spPr>
      </p:sp>
      <p:sp>
        <p:nvSpPr>
          <p:cNvPr id="14" name="Text 12"/>
          <p:cNvSpPr txBox="1"/>
          <p:nvPr/>
        </p:nvSpPr>
        <p:spPr>
          <a:xfrm>
            <a:off x="8311896" y="1938528"/>
            <a:ext cx="2944368"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研究</a:t>
            </a:r>
            <a:endParaRPr lang="en-US" sz="900" dirty="0"/>
          </a:p>
        </p:txBody>
      </p:sp>
      <p:sp>
        <p:nvSpPr>
          <p:cNvPr id="15" name="Text 13"/>
          <p:cNvSpPr txBox="1"/>
          <p:nvPr/>
        </p:nvSpPr>
        <p:spPr>
          <a:xfrm>
            <a:off x="8311896" y="2212848"/>
            <a:ext cx="2944368" cy="457200"/>
          </a:xfrm>
          <a:prstGeom prst="rect">
            <a:avLst/>
          </a:prstGeom>
          <a:noFill/>
          <a:ln/>
        </p:spPr>
        <p:txBody>
          <a:bodyPr wrap="square" lIns="0" tIns="0" rIns="0" bIns="0" rtlCol="0" anchor="t"/>
          <a:lstStyle/>
          <a:p>
            <a:pPr indent="0" marL="0">
              <a:lnSpc>
                <a:spcPts val="2100"/>
              </a:lnSpc>
              <a:buNone/>
            </a:pPr>
            <a:r>
              <a:rPr lang="en-US" sz="1500" b="1" dirty="0">
                <a:solidFill>
                  <a:srgbClr val="2B2620"/>
                </a:solidFill>
                <a:latin typeface="游明朝" pitchFamily="34" charset="0"/>
                <a:ea typeface="游明朝" pitchFamily="34" charset="-122"/>
                <a:cs typeface="游明朝" pitchFamily="34" charset="-120"/>
              </a:rPr>
              <a:t>学会発表・産学連携</a:t>
            </a:r>
            <a:endParaRPr lang="en-US" sz="1500" dirty="0"/>
          </a:p>
        </p:txBody>
      </p:sp>
      <p:sp>
        <p:nvSpPr>
          <p:cNvPr id="16" name="Text 14"/>
          <p:cNvSpPr txBox="1"/>
          <p:nvPr/>
        </p:nvSpPr>
        <p:spPr>
          <a:xfrm>
            <a:off x="8311896" y="2724912"/>
            <a:ext cx="2944368" cy="1097280"/>
          </a:xfrm>
          <a:prstGeom prst="rect">
            <a:avLst/>
          </a:prstGeom>
          <a:noFill/>
          <a:ln/>
        </p:spPr>
        <p:txBody>
          <a:bodyPr wrap="square" lIns="0" tIns="0" rIns="0" bIns="0" rtlCol="0" anchor="t"/>
          <a:lstStyle/>
          <a:p>
            <a:pPr indent="0" marL="0">
              <a:lnSpc>
                <a:spcPts val="1700"/>
              </a:lnSpc>
              <a:buNone/>
            </a:pPr>
            <a:r>
              <a:rPr lang="en-US" sz="1050" dirty="0">
                <a:solidFill>
                  <a:srgbClr val="5A5249"/>
                </a:solidFill>
                <a:latin typeface="游ゴシック" pitchFamily="34" charset="0"/>
                <a:ea typeface="游ゴシック" pitchFamily="34" charset="-122"/>
                <a:cs typeface="游ゴシック" pitchFamily="34" charset="-120"/>
              </a:rPr>
              <a:t>全日本鍼灸学会でうつ・不安症状の実態調査を継続報告。理化学研究所・東京有明医療大学・玉川大学・ケアクルとの共同研究に参画。</a:t>
            </a:r>
            <a:endParaRPr lang="en-US" sz="1050" dirty="0"/>
          </a:p>
        </p:txBody>
      </p:sp>
      <p:sp>
        <p:nvSpPr>
          <p:cNvPr id="17" name="Shape 15"/>
          <p:cNvSpPr/>
          <p:nvPr/>
        </p:nvSpPr>
        <p:spPr>
          <a:xfrm>
            <a:off x="685800" y="4434840"/>
            <a:ext cx="10820095" cy="7315"/>
          </a:xfrm>
          <a:prstGeom prst="rect">
            <a:avLst/>
          </a:prstGeom>
          <a:solidFill>
            <a:srgbClr val="D2C4AE"/>
          </a:solidFill>
          <a:ln/>
        </p:spPr>
      </p:sp>
      <p:sp>
        <p:nvSpPr>
          <p:cNvPr id="18" name="Text 16"/>
          <p:cNvSpPr txBox="1"/>
          <p:nvPr/>
        </p:nvSpPr>
        <p:spPr>
          <a:xfrm>
            <a:off x="685800" y="4617720"/>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游明朝" pitchFamily="34" charset="0"/>
                <a:ea typeface="游明朝" pitchFamily="34" charset="-122"/>
                <a:cs typeface="游明朝" pitchFamily="34" charset="-120"/>
              </a:rPr>
              <a:t>11年目</a:t>
            </a:r>
            <a:endParaRPr lang="en-US" sz="2600" dirty="0"/>
          </a:p>
        </p:txBody>
      </p:sp>
      <p:sp>
        <p:nvSpPr>
          <p:cNvPr id="19" name="Text 17"/>
          <p:cNvSpPr txBox="1"/>
          <p:nvPr/>
        </p:nvSpPr>
        <p:spPr>
          <a:xfrm>
            <a:off x="685800" y="5193792"/>
            <a:ext cx="2522144" cy="274320"/>
          </a:xfrm>
          <a:prstGeom prst="rect">
            <a:avLst/>
          </a:prstGeom>
          <a:noFill/>
          <a:ln/>
        </p:spPr>
        <p:txBody>
          <a:bodyPr wrap="square" lIns="0" tIns="0" rIns="0" bIns="0" rtlCol="0" anchor="ctr"/>
          <a:lstStyle/>
          <a:p>
            <a:pPr indent="0" marL="0">
              <a:buNone/>
            </a:pPr>
            <a:r>
              <a:rPr lang="en-US" sz="950" spc="100" kern="0" dirty="0">
                <a:solidFill>
                  <a:srgbClr val="8B8175"/>
                </a:solidFill>
                <a:latin typeface="游ゴシック" pitchFamily="34" charset="0"/>
                <a:ea typeface="游ゴシック" pitchFamily="34" charset="-122"/>
                <a:cs typeface="游ゴシック" pitchFamily="34" charset="-120"/>
              </a:rPr>
              <a:t>鍼灸院 開業</a:t>
            </a:r>
            <a:endParaRPr lang="en-US" sz="950" dirty="0"/>
          </a:p>
        </p:txBody>
      </p:sp>
      <p:sp>
        <p:nvSpPr>
          <p:cNvPr id="20" name="Text 18"/>
          <p:cNvSpPr txBox="1"/>
          <p:nvPr/>
        </p:nvSpPr>
        <p:spPr>
          <a:xfrm>
            <a:off x="3390824" y="4617720"/>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游明朝" pitchFamily="34" charset="0"/>
                <a:ea typeface="游明朝" pitchFamily="34" charset="-122"/>
                <a:cs typeface="游明朝" pitchFamily="34" charset="-120"/>
              </a:rPr>
              <a:t>20,000人+</a:t>
            </a:r>
            <a:endParaRPr lang="en-US" sz="2600" dirty="0"/>
          </a:p>
        </p:txBody>
      </p:sp>
      <p:sp>
        <p:nvSpPr>
          <p:cNvPr id="21" name="Text 19"/>
          <p:cNvSpPr txBox="1"/>
          <p:nvPr/>
        </p:nvSpPr>
        <p:spPr>
          <a:xfrm>
            <a:off x="3390824" y="5193792"/>
            <a:ext cx="2522144" cy="274320"/>
          </a:xfrm>
          <a:prstGeom prst="rect">
            <a:avLst/>
          </a:prstGeom>
          <a:noFill/>
          <a:ln/>
        </p:spPr>
        <p:txBody>
          <a:bodyPr wrap="square" lIns="0" tIns="0" rIns="0" bIns="0" rtlCol="0" anchor="ctr"/>
          <a:lstStyle/>
          <a:p>
            <a:pPr indent="0" marL="0">
              <a:buNone/>
            </a:pPr>
            <a:r>
              <a:rPr lang="en-US" sz="950" spc="100" kern="0" dirty="0">
                <a:solidFill>
                  <a:srgbClr val="8B8175"/>
                </a:solidFill>
                <a:latin typeface="游ゴシック" pitchFamily="34" charset="0"/>
                <a:ea typeface="游ゴシック" pitchFamily="34" charset="-122"/>
                <a:cs typeface="游ゴシック" pitchFamily="34" charset="-120"/>
              </a:rPr>
              <a:t>のべ臨床患者数</a:t>
            </a:r>
            <a:endParaRPr lang="en-US" sz="950" dirty="0"/>
          </a:p>
        </p:txBody>
      </p:sp>
      <p:sp>
        <p:nvSpPr>
          <p:cNvPr id="22" name="Text 20"/>
          <p:cNvSpPr txBox="1"/>
          <p:nvPr/>
        </p:nvSpPr>
        <p:spPr>
          <a:xfrm>
            <a:off x="6095848" y="4617720"/>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游明朝" pitchFamily="34" charset="0"/>
                <a:ea typeface="游明朝" pitchFamily="34" charset="-122"/>
                <a:cs typeface="游明朝" pitchFamily="34" charset="-120"/>
              </a:rPr>
              <a:t>3年連続</a:t>
            </a:r>
            <a:endParaRPr lang="en-US" sz="2600" dirty="0"/>
          </a:p>
        </p:txBody>
      </p:sp>
      <p:sp>
        <p:nvSpPr>
          <p:cNvPr id="23" name="Text 21"/>
          <p:cNvSpPr txBox="1"/>
          <p:nvPr/>
        </p:nvSpPr>
        <p:spPr>
          <a:xfrm>
            <a:off x="6095848" y="5193792"/>
            <a:ext cx="2522144" cy="274320"/>
          </a:xfrm>
          <a:prstGeom prst="rect">
            <a:avLst/>
          </a:prstGeom>
          <a:noFill/>
          <a:ln/>
        </p:spPr>
        <p:txBody>
          <a:bodyPr wrap="square" lIns="0" tIns="0" rIns="0" bIns="0" rtlCol="0" anchor="ctr"/>
          <a:lstStyle/>
          <a:p>
            <a:pPr indent="0" marL="0">
              <a:buNone/>
            </a:pPr>
            <a:r>
              <a:rPr lang="en-US" sz="950" spc="100" kern="0" dirty="0">
                <a:solidFill>
                  <a:srgbClr val="8B8175"/>
                </a:solidFill>
                <a:latin typeface="游ゴシック" pitchFamily="34" charset="0"/>
                <a:ea typeface="游ゴシック" pitchFamily="34" charset="-122"/>
                <a:cs typeface="游ゴシック" pitchFamily="34" charset="-120"/>
              </a:rPr>
              <a:t>全日本鍼灸学会 発表</a:t>
            </a:r>
            <a:endParaRPr lang="en-US" sz="950" dirty="0"/>
          </a:p>
        </p:txBody>
      </p:sp>
      <p:sp>
        <p:nvSpPr>
          <p:cNvPr id="24" name="Text 22"/>
          <p:cNvSpPr txBox="1"/>
          <p:nvPr/>
        </p:nvSpPr>
        <p:spPr>
          <a:xfrm>
            <a:off x="8800871" y="4617720"/>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游明朝" pitchFamily="34" charset="0"/>
                <a:ea typeface="游明朝" pitchFamily="34" charset="-122"/>
                <a:cs typeface="游明朝" pitchFamily="34" charset="-120"/>
              </a:rPr>
              <a:t>修士</a:t>
            </a:r>
            <a:endParaRPr lang="en-US" sz="2600" dirty="0"/>
          </a:p>
        </p:txBody>
      </p:sp>
      <p:sp>
        <p:nvSpPr>
          <p:cNvPr id="25" name="Text 23"/>
          <p:cNvSpPr txBox="1"/>
          <p:nvPr/>
        </p:nvSpPr>
        <p:spPr>
          <a:xfrm>
            <a:off x="8800871" y="5193792"/>
            <a:ext cx="2522144" cy="274320"/>
          </a:xfrm>
          <a:prstGeom prst="rect">
            <a:avLst/>
          </a:prstGeom>
          <a:noFill/>
          <a:ln/>
        </p:spPr>
        <p:txBody>
          <a:bodyPr wrap="square" lIns="0" tIns="0" rIns="0" bIns="0" rtlCol="0" anchor="ctr"/>
          <a:lstStyle/>
          <a:p>
            <a:pPr indent="0" marL="0">
              <a:buNone/>
            </a:pPr>
            <a:r>
              <a:rPr lang="en-US" sz="950" spc="100" kern="0" dirty="0">
                <a:solidFill>
                  <a:srgbClr val="8B8175"/>
                </a:solidFill>
                <a:latin typeface="游ゴシック" pitchFamily="34" charset="0"/>
                <a:ea typeface="游ゴシック" pitchFamily="34" charset="-122"/>
                <a:cs typeface="游ゴシック" pitchFamily="34" charset="-120"/>
              </a:rPr>
              <a:t>武蔵野大学大学院 人間学</a:t>
            </a:r>
            <a:endParaRPr lang="en-US" sz="950" dirty="0"/>
          </a:p>
        </p:txBody>
      </p:sp>
      <p:sp>
        <p:nvSpPr>
          <p:cNvPr id="26" name="Text 24"/>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27" name="Text 25"/>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0:20 → 1:00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9C5446"/>
                </a:solidFill>
                <a:latin typeface="游明朝" pitchFamily="34" charset="0"/>
                <a:ea typeface="游明朝" pitchFamily="34" charset="-122"/>
                <a:cs typeface="游明朝" pitchFamily="34" charset="-120"/>
              </a:rPr>
              <a:t>02   </a:t>
            </a:r>
            <a:pPr indent="0" marL="0">
              <a:buNone/>
            </a:pPr>
            <a:r>
              <a:rPr lang="en-US" sz="1000" spc="300" kern="0" dirty="0">
                <a:solidFill>
                  <a:srgbClr val="8B8175"/>
                </a:solidFill>
                <a:latin typeface="游ゴシック" pitchFamily="34" charset="0"/>
                <a:ea typeface="游ゴシック" pitchFamily="34" charset="-122"/>
                <a:cs typeface="游ゴシック" pitchFamily="34" charset="-120"/>
              </a:rPr>
              <a:t>STRENGTH</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游明朝" pitchFamily="34" charset="0"/>
                <a:ea typeface="游明朝" pitchFamily="34" charset="-122"/>
                <a:cs typeface="游明朝" pitchFamily="34" charset="-120"/>
              </a:rPr>
              <a:t>企業の新規事業に、専門家として入ってきました</a:t>
            </a:r>
            <a:endParaRPr lang="en-US" sz="2800" dirty="0"/>
          </a:p>
        </p:txBody>
      </p:sp>
      <p:sp>
        <p:nvSpPr>
          <p:cNvPr id="5" name="Shape 3"/>
          <p:cNvSpPr/>
          <p:nvPr/>
        </p:nvSpPr>
        <p:spPr>
          <a:xfrm>
            <a:off x="685800" y="1737360"/>
            <a:ext cx="3456432" cy="2423160"/>
          </a:xfrm>
          <a:prstGeom prst="roundRect">
            <a:avLst>
              <a:gd name="adj" fmla="val 1887"/>
            </a:avLst>
          </a:prstGeom>
          <a:solidFill>
            <a:srgbClr val="FBF6EC"/>
          </a:solidFill>
          <a:ln w="9525">
            <a:solidFill>
              <a:srgbClr val="D2C4AE"/>
            </a:solidFill>
            <a:prstDash val="solid"/>
          </a:ln>
        </p:spPr>
      </p:sp>
      <p:sp>
        <p:nvSpPr>
          <p:cNvPr id="6" name="Text 4"/>
          <p:cNvSpPr txBox="1"/>
          <p:nvPr/>
        </p:nvSpPr>
        <p:spPr>
          <a:xfrm>
            <a:off x="941832" y="1938528"/>
            <a:ext cx="2944368"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パパゲーノ</a:t>
            </a:r>
            <a:endParaRPr lang="en-US" sz="900" dirty="0"/>
          </a:p>
        </p:txBody>
      </p:sp>
      <p:sp>
        <p:nvSpPr>
          <p:cNvPr id="7" name="Text 5"/>
          <p:cNvSpPr txBox="1"/>
          <p:nvPr/>
        </p:nvSpPr>
        <p:spPr>
          <a:xfrm>
            <a:off x="941832" y="2212848"/>
            <a:ext cx="2944368" cy="457200"/>
          </a:xfrm>
          <a:prstGeom prst="rect">
            <a:avLst/>
          </a:prstGeom>
          <a:noFill/>
          <a:ln/>
        </p:spPr>
        <p:txBody>
          <a:bodyPr wrap="square" lIns="0" tIns="0" rIns="0" bIns="0" rtlCol="0" anchor="t"/>
          <a:lstStyle/>
          <a:p>
            <a:pPr indent="0" marL="0">
              <a:lnSpc>
                <a:spcPts val="2100"/>
              </a:lnSpc>
              <a:buNone/>
            </a:pPr>
            <a:r>
              <a:rPr lang="en-US" sz="1500" b="1" dirty="0">
                <a:solidFill>
                  <a:srgbClr val="2B2620"/>
                </a:solidFill>
                <a:latin typeface="游明朝" pitchFamily="34" charset="0"/>
                <a:ea typeface="游明朝" pitchFamily="34" charset="-122"/>
                <a:cs typeface="游明朝" pitchFamily="34" charset="-120"/>
              </a:rPr>
              <a:t>アンバサダー認定 第一号</a:t>
            </a:r>
            <a:endParaRPr lang="en-US" sz="1500" dirty="0"/>
          </a:p>
        </p:txBody>
      </p:sp>
      <p:sp>
        <p:nvSpPr>
          <p:cNvPr id="8" name="Text 6"/>
          <p:cNvSpPr txBox="1"/>
          <p:nvPr/>
        </p:nvSpPr>
        <p:spPr>
          <a:xfrm>
            <a:off x="941832" y="2724912"/>
            <a:ext cx="2944368" cy="1234440"/>
          </a:xfrm>
          <a:prstGeom prst="rect">
            <a:avLst/>
          </a:prstGeom>
          <a:noFill/>
          <a:ln/>
        </p:spPr>
        <p:txBody>
          <a:bodyPr wrap="square" lIns="0" tIns="0" rIns="0" bIns="0" rtlCol="0" anchor="t"/>
          <a:lstStyle/>
          <a:p>
            <a:pPr indent="0" marL="0">
              <a:lnSpc>
                <a:spcPts val="1700"/>
              </a:lnSpc>
              <a:buNone/>
            </a:pPr>
            <a:r>
              <a:rPr lang="en-US" sz="1050" dirty="0">
                <a:solidFill>
                  <a:srgbClr val="5A5249"/>
                </a:solidFill>
                <a:latin typeface="游ゴシック" pitchFamily="34" charset="0"/>
                <a:ea typeface="游ゴシック" pitchFamily="34" charset="-122"/>
                <a:cs typeface="游ゴシック" pitchFamily="34" charset="-120"/>
              </a:rPr>
              <a:t>就労継続支援B型「パパゲーノ Work &amp; Recovery」への発注を通じ、精神障害のある方が担う事業に伴走。認定制度の第一号企業です。</a:t>
            </a:r>
            <a:endParaRPr lang="en-US" sz="1050" dirty="0"/>
          </a:p>
        </p:txBody>
      </p:sp>
      <p:sp>
        <p:nvSpPr>
          <p:cNvPr id="9" name="Shape 7"/>
          <p:cNvSpPr/>
          <p:nvPr/>
        </p:nvSpPr>
        <p:spPr>
          <a:xfrm>
            <a:off x="4370832" y="1737360"/>
            <a:ext cx="3456432" cy="2423160"/>
          </a:xfrm>
          <a:prstGeom prst="roundRect">
            <a:avLst>
              <a:gd name="adj" fmla="val 1887"/>
            </a:avLst>
          </a:prstGeom>
          <a:solidFill>
            <a:srgbClr val="FBF6EC"/>
          </a:solidFill>
          <a:ln w="9525">
            <a:solidFill>
              <a:srgbClr val="D2C4AE"/>
            </a:solidFill>
            <a:prstDash val="solid"/>
          </a:ln>
        </p:spPr>
      </p:sp>
      <p:sp>
        <p:nvSpPr>
          <p:cNvPr id="10" name="Text 8"/>
          <p:cNvSpPr txBox="1"/>
          <p:nvPr/>
        </p:nvSpPr>
        <p:spPr>
          <a:xfrm>
            <a:off x="4626864" y="1938528"/>
            <a:ext cx="2944368"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ファンコミュニケーションズ</a:t>
            </a:r>
            <a:endParaRPr lang="en-US" sz="900" dirty="0"/>
          </a:p>
        </p:txBody>
      </p:sp>
      <p:sp>
        <p:nvSpPr>
          <p:cNvPr id="11" name="Text 9"/>
          <p:cNvSpPr txBox="1"/>
          <p:nvPr/>
        </p:nvSpPr>
        <p:spPr>
          <a:xfrm>
            <a:off x="4626864" y="2212848"/>
            <a:ext cx="2944368" cy="457200"/>
          </a:xfrm>
          <a:prstGeom prst="rect">
            <a:avLst/>
          </a:prstGeom>
          <a:noFill/>
          <a:ln/>
        </p:spPr>
        <p:txBody>
          <a:bodyPr wrap="square" lIns="0" tIns="0" rIns="0" bIns="0" rtlCol="0" anchor="t"/>
          <a:lstStyle/>
          <a:p>
            <a:pPr indent="0" marL="0">
              <a:lnSpc>
                <a:spcPts val="2100"/>
              </a:lnSpc>
              <a:buNone/>
            </a:pPr>
            <a:r>
              <a:rPr lang="en-US" sz="1500" b="1" dirty="0">
                <a:solidFill>
                  <a:srgbClr val="2B2620"/>
                </a:solidFill>
                <a:latin typeface="游明朝" pitchFamily="34" charset="0"/>
                <a:ea typeface="游明朝" pitchFamily="34" charset="-122"/>
                <a:cs typeface="游明朝" pitchFamily="34" charset="-120"/>
              </a:rPr>
              <a:t>ThirdTalk（サードトーク）</a:t>
            </a:r>
            <a:endParaRPr lang="en-US" sz="1500" dirty="0"/>
          </a:p>
        </p:txBody>
      </p:sp>
      <p:sp>
        <p:nvSpPr>
          <p:cNvPr id="12" name="Text 10"/>
          <p:cNvSpPr txBox="1"/>
          <p:nvPr/>
        </p:nvSpPr>
        <p:spPr>
          <a:xfrm>
            <a:off x="4626864" y="2724912"/>
            <a:ext cx="2944368" cy="1234440"/>
          </a:xfrm>
          <a:prstGeom prst="rect">
            <a:avLst/>
          </a:prstGeom>
          <a:noFill/>
          <a:ln/>
        </p:spPr>
        <p:txBody>
          <a:bodyPr wrap="square" lIns="0" tIns="0" rIns="0" bIns="0" rtlCol="0" anchor="t"/>
          <a:lstStyle/>
          <a:p>
            <a:pPr indent="0" marL="0">
              <a:lnSpc>
                <a:spcPts val="1700"/>
              </a:lnSpc>
              <a:buNone/>
            </a:pPr>
            <a:r>
              <a:rPr lang="en-US" sz="1050" dirty="0">
                <a:solidFill>
                  <a:srgbClr val="5A5249"/>
                </a:solidFill>
                <a:latin typeface="游ゴシック" pitchFamily="34" charset="0"/>
                <a:ea typeface="游ゴシック" pitchFamily="34" charset="-122"/>
                <a:cs typeface="游ゴシック" pitchFamily="34" charset="-120"/>
              </a:rPr>
              <a:t>「病院やカウンセリングに行く、その一歩手前」を想定したオンライン対話サービス。企画段階からご相談をいただき、立ち上げを見守ってきました。</a:t>
            </a:r>
            <a:endParaRPr lang="en-US" sz="1050" dirty="0"/>
          </a:p>
        </p:txBody>
      </p:sp>
      <p:sp>
        <p:nvSpPr>
          <p:cNvPr id="13" name="Shape 11"/>
          <p:cNvSpPr/>
          <p:nvPr/>
        </p:nvSpPr>
        <p:spPr>
          <a:xfrm>
            <a:off x="8055864" y="1737360"/>
            <a:ext cx="3456432" cy="2423160"/>
          </a:xfrm>
          <a:prstGeom prst="roundRect">
            <a:avLst>
              <a:gd name="adj" fmla="val 1887"/>
            </a:avLst>
          </a:prstGeom>
          <a:solidFill>
            <a:srgbClr val="FBF6EC"/>
          </a:solidFill>
          <a:ln w="9525">
            <a:solidFill>
              <a:srgbClr val="D2C4AE"/>
            </a:solidFill>
            <a:prstDash val="solid"/>
          </a:ln>
        </p:spPr>
      </p:sp>
      <p:sp>
        <p:nvSpPr>
          <p:cNvPr id="14" name="Text 12"/>
          <p:cNvSpPr txBox="1"/>
          <p:nvPr/>
        </p:nvSpPr>
        <p:spPr>
          <a:xfrm>
            <a:off x="8311896" y="1938528"/>
            <a:ext cx="2944368"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stand up</a:t>
            </a:r>
            <a:endParaRPr lang="en-US" sz="900" dirty="0"/>
          </a:p>
        </p:txBody>
      </p:sp>
      <p:sp>
        <p:nvSpPr>
          <p:cNvPr id="15" name="Text 13"/>
          <p:cNvSpPr txBox="1"/>
          <p:nvPr/>
        </p:nvSpPr>
        <p:spPr>
          <a:xfrm>
            <a:off x="8311896" y="2212848"/>
            <a:ext cx="2944368" cy="457200"/>
          </a:xfrm>
          <a:prstGeom prst="rect">
            <a:avLst/>
          </a:prstGeom>
          <a:noFill/>
          <a:ln/>
        </p:spPr>
        <p:txBody>
          <a:bodyPr wrap="square" lIns="0" tIns="0" rIns="0" bIns="0" rtlCol="0" anchor="t"/>
          <a:lstStyle/>
          <a:p>
            <a:pPr indent="0" marL="0">
              <a:lnSpc>
                <a:spcPts val="2100"/>
              </a:lnSpc>
              <a:buNone/>
            </a:pPr>
            <a:r>
              <a:rPr lang="en-US" sz="1500" b="1" dirty="0">
                <a:solidFill>
                  <a:srgbClr val="2B2620"/>
                </a:solidFill>
                <a:latin typeface="游明朝" pitchFamily="34" charset="0"/>
                <a:ea typeface="游明朝" pitchFamily="34" charset="-122"/>
                <a:cs typeface="游明朝" pitchFamily="34" charset="-120"/>
              </a:rPr>
              <a:t>アミューズメント事業</a:t>
            </a:r>
            <a:endParaRPr lang="en-US" sz="1500" dirty="0"/>
          </a:p>
        </p:txBody>
      </p:sp>
      <p:sp>
        <p:nvSpPr>
          <p:cNvPr id="16" name="Text 14"/>
          <p:cNvSpPr txBox="1"/>
          <p:nvPr/>
        </p:nvSpPr>
        <p:spPr>
          <a:xfrm>
            <a:off x="8311896" y="2724912"/>
            <a:ext cx="2944368" cy="1234440"/>
          </a:xfrm>
          <a:prstGeom prst="rect">
            <a:avLst/>
          </a:prstGeom>
          <a:noFill/>
          <a:ln/>
        </p:spPr>
        <p:txBody>
          <a:bodyPr wrap="square" lIns="0" tIns="0" rIns="0" bIns="0" rtlCol="0" anchor="t"/>
          <a:lstStyle/>
          <a:p>
            <a:pPr indent="0" marL="0">
              <a:lnSpc>
                <a:spcPts val="1700"/>
              </a:lnSpc>
              <a:buNone/>
            </a:pPr>
            <a:r>
              <a:rPr lang="en-US" sz="1050" dirty="0">
                <a:solidFill>
                  <a:srgbClr val="5A5249"/>
                </a:solidFill>
                <a:latin typeface="游ゴシック" pitchFamily="34" charset="0"/>
                <a:ea typeface="游ゴシック" pitchFamily="34" charset="-122"/>
                <a:cs typeface="游ゴシック" pitchFamily="34" charset="-120"/>
              </a:rPr>
              <a:t>新規事業の立ち上げについてご相談をいただき、現在もお取引が続いています。医療以外の業種でも、人の状態を扱う事業の設計に入ってきました。</a:t>
            </a:r>
            <a:endParaRPr lang="en-US" sz="1050" dirty="0"/>
          </a:p>
        </p:txBody>
      </p:sp>
      <p:sp>
        <p:nvSpPr>
          <p:cNvPr id="17" name="Shape 15"/>
          <p:cNvSpPr/>
          <p:nvPr/>
        </p:nvSpPr>
        <p:spPr>
          <a:xfrm>
            <a:off x="685800" y="4370832"/>
            <a:ext cx="10820095" cy="1371600"/>
          </a:xfrm>
          <a:prstGeom prst="roundRect">
            <a:avLst>
              <a:gd name="adj" fmla="val 3333"/>
            </a:avLst>
          </a:prstGeom>
          <a:solidFill>
            <a:srgbClr val="FBF6EC"/>
          </a:solidFill>
          <a:ln w="9525">
            <a:solidFill>
              <a:srgbClr val="5E7060"/>
            </a:solidFill>
            <a:prstDash val="solid"/>
          </a:ln>
        </p:spPr>
      </p:sp>
      <p:sp>
        <p:nvSpPr>
          <p:cNvPr id="18" name="Text 16"/>
          <p:cNvSpPr txBox="1"/>
          <p:nvPr/>
        </p:nvSpPr>
        <p:spPr>
          <a:xfrm>
            <a:off x="960120" y="4572000"/>
            <a:ext cx="10271455" cy="237744"/>
          </a:xfrm>
          <a:prstGeom prst="rect">
            <a:avLst/>
          </a:prstGeom>
          <a:noFill/>
          <a:ln/>
        </p:spPr>
        <p:txBody>
          <a:bodyPr wrap="square" lIns="0" tIns="0" rIns="0" bIns="0" rtlCol="0" anchor="ctr"/>
          <a:lstStyle/>
          <a:p>
            <a:pPr indent="0" marL="0">
              <a:buNone/>
            </a:pPr>
            <a:r>
              <a:rPr lang="en-US" sz="900" b="1" spc="200" kern="0" dirty="0">
                <a:solidFill>
                  <a:srgbClr val="5E7060"/>
                </a:solidFill>
                <a:latin typeface="游ゴシック" pitchFamily="34" charset="0"/>
                <a:ea typeface="游ゴシック" pitchFamily="34" charset="-122"/>
                <a:cs typeface="游ゴシック" pitchFamily="34" charset="-120"/>
              </a:rPr>
              <a:t>共通してやってきたこと</a:t>
            </a:r>
            <a:endParaRPr lang="en-US" sz="900" dirty="0"/>
          </a:p>
        </p:txBody>
      </p:sp>
      <p:sp>
        <p:nvSpPr>
          <p:cNvPr id="19" name="Text 17"/>
          <p:cNvSpPr txBox="1"/>
          <p:nvPr/>
        </p:nvSpPr>
        <p:spPr>
          <a:xfrm>
            <a:off x="960120" y="4882896"/>
            <a:ext cx="10271455" cy="640080"/>
          </a:xfrm>
          <a:prstGeom prst="rect">
            <a:avLst/>
          </a:prstGeom>
          <a:noFill/>
          <a:ln/>
        </p:spPr>
        <p:txBody>
          <a:bodyPr wrap="square" lIns="0" tIns="0" rIns="0" bIns="0" rtlCol="0" anchor="t"/>
          <a:lstStyle/>
          <a:p>
            <a:pPr indent="0" marL="0">
              <a:lnSpc>
                <a:spcPts val="1900"/>
              </a:lnSpc>
              <a:buNone/>
            </a:pPr>
            <a:r>
              <a:rPr lang="en-US" sz="1100" dirty="0">
                <a:solidFill>
                  <a:srgbClr val="5A5249"/>
                </a:solidFill>
                <a:latin typeface="游ゴシック" pitchFamily="34" charset="0"/>
                <a:ea typeface="游ゴシック" pitchFamily="34" charset="-122"/>
                <a:cs typeface="游ゴシック" pitchFamily="34" charset="-120"/>
              </a:rPr>
              <a:t>心の不調を抱えた人が、実際にどこで止まり、どこで動くのか。その一次情報を事業の言葉に翻訳するのが私の役割です。なかでもThirdTalkは、このあとお話しする</a:t>
            </a:r>
            <a:pPr indent="0" marL="0">
              <a:lnSpc>
                <a:spcPts val="1900"/>
              </a:lnSpc>
              <a:buNone/>
            </a:pPr>
            <a:r>
              <a:rPr lang="en-US" sz="1100" b="1" dirty="0">
                <a:solidFill>
                  <a:srgbClr val="2B2620"/>
                </a:solidFill>
                <a:latin typeface="游ゴシック" pitchFamily="34" charset="0"/>
                <a:ea typeface="游ゴシック" pitchFamily="34" charset="-122"/>
                <a:cs typeface="游ゴシック" pitchFamily="34" charset="-120"/>
              </a:rPr>
              <a:t>「病院の一歩手前」という発想を、そのまま事業にしたもの</a:t>
            </a:r>
            <a:pPr indent="0" marL="0">
              <a:lnSpc>
                <a:spcPts val="1900"/>
              </a:lnSpc>
              <a:buNone/>
            </a:pPr>
            <a:r>
              <a:rPr lang="en-US" sz="1100" dirty="0">
                <a:solidFill>
                  <a:srgbClr val="5A5249"/>
                </a:solidFill>
                <a:latin typeface="游ゴシック" pitchFamily="34" charset="0"/>
                <a:ea typeface="游ゴシック" pitchFamily="34" charset="-122"/>
                <a:cs typeface="游ゴシック" pitchFamily="34" charset="-120"/>
              </a:rPr>
              <a:t>でした。</a:t>
            </a:r>
            <a:endParaRPr lang="en-US" sz="1100" dirty="0"/>
          </a:p>
        </p:txBody>
      </p:sp>
      <p:sp>
        <p:nvSpPr>
          <p:cNvPr id="20" name="Text 18"/>
          <p:cNvSpPr txBox="1"/>
          <p:nvPr/>
        </p:nvSpPr>
        <p:spPr>
          <a:xfrm>
            <a:off x="685800" y="5870448"/>
            <a:ext cx="10820095" cy="329184"/>
          </a:xfrm>
          <a:prstGeom prst="rect">
            <a:avLst/>
          </a:prstGeom>
          <a:noFill/>
          <a:ln/>
        </p:spPr>
        <p:txBody>
          <a:bodyPr wrap="square" lIns="0" tIns="0" rIns="0" bIns="0" rtlCol="0" anchor="t"/>
          <a:lstStyle/>
          <a:p>
            <a:pPr indent="0" marL="0">
              <a:lnSpc>
                <a:spcPts val="1100"/>
              </a:lnSpc>
              <a:buNone/>
            </a:pPr>
            <a:r>
              <a:rPr lang="en-US" sz="750" dirty="0">
                <a:solidFill>
                  <a:srgbClr val="8B8175"/>
                </a:solidFill>
                <a:latin typeface="游ゴシック" pitchFamily="34" charset="0"/>
                <a:ea typeface="游ゴシック" pitchFamily="34" charset="-122"/>
                <a:cs typeface="游ゴシック" pitchFamily="34" charset="-120"/>
              </a:rPr>
              <a:t>出典：株式会社ファンコミュニケーションズ ニュースリリース（2022.8.26）／株式会社パパゲーノ プレスリリース</a:t>
            </a:r>
            <a:endParaRPr lang="en-US" sz="750" dirty="0"/>
          </a:p>
        </p:txBody>
      </p:sp>
      <p:sp>
        <p:nvSpPr>
          <p:cNvPr id="21" name="Text 1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22" name="Text 20"/>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1:00 → 1:45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B2620"/>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C97B68"/>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C97B68"/>
                </a:solidFill>
                <a:latin typeface="游明朝" pitchFamily="34" charset="0"/>
                <a:ea typeface="游明朝" pitchFamily="34" charset="-122"/>
                <a:cs typeface="游明朝" pitchFamily="34" charset="-120"/>
              </a:rPr>
              <a:t>03   </a:t>
            </a:r>
            <a:pPr indent="0" marL="0">
              <a:buNone/>
            </a:pPr>
            <a:r>
              <a:rPr lang="en-US" sz="1000" spc="300" kern="0" dirty="0">
                <a:solidFill>
                  <a:srgbClr val="BDB2A2"/>
                </a:solidFill>
                <a:latin typeface="游ゴシック" pitchFamily="34" charset="0"/>
                <a:ea typeface="游ゴシック" pitchFamily="34" charset="-122"/>
                <a:cs typeface="游ゴシック" pitchFamily="34" charset="-120"/>
              </a:rPr>
              <a:t>ISSUE</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F3ECE0"/>
                </a:solidFill>
                <a:latin typeface="游明朝" pitchFamily="34" charset="0"/>
                <a:ea typeface="游明朝" pitchFamily="34" charset="-122"/>
                <a:cs typeface="游明朝" pitchFamily="34" charset="-120"/>
              </a:rPr>
              <a:t>これは私の実感であり、社会の数字でもあります</a:t>
            </a:r>
            <a:endParaRPr lang="en-US" sz="2800" dirty="0"/>
          </a:p>
        </p:txBody>
      </p:sp>
      <p:sp>
        <p:nvSpPr>
          <p:cNvPr id="5" name="Text 3"/>
          <p:cNvSpPr txBox="1"/>
          <p:nvPr/>
        </p:nvSpPr>
        <p:spPr>
          <a:xfrm>
            <a:off x="685800" y="1627632"/>
            <a:ext cx="5029200" cy="256032"/>
          </a:xfrm>
          <a:prstGeom prst="rect">
            <a:avLst/>
          </a:prstGeom>
          <a:noFill/>
          <a:ln/>
        </p:spPr>
        <p:txBody>
          <a:bodyPr wrap="square" lIns="0" tIns="0" rIns="0" bIns="0" rtlCol="0" anchor="ctr"/>
          <a:lstStyle/>
          <a:p>
            <a:pPr indent="0" marL="0">
              <a:buNone/>
            </a:pPr>
            <a:r>
              <a:rPr lang="en-US" sz="950" b="1" spc="300" kern="0" dirty="0">
                <a:solidFill>
                  <a:srgbClr val="C97B68"/>
                </a:solidFill>
                <a:latin typeface="游ゴシック" pitchFamily="34" charset="0"/>
                <a:ea typeface="游ゴシック" pitchFamily="34" charset="-122"/>
                <a:cs typeface="游ゴシック" pitchFamily="34" charset="-120"/>
              </a:rPr>
              <a:t>社会で起きていること</a:t>
            </a:r>
            <a:endParaRPr lang="en-US" sz="950" dirty="0"/>
          </a:p>
        </p:txBody>
      </p:sp>
      <p:sp>
        <p:nvSpPr>
          <p:cNvPr id="6" name="Text 4"/>
          <p:cNvSpPr txBox="1"/>
          <p:nvPr/>
        </p:nvSpPr>
        <p:spPr>
          <a:xfrm>
            <a:off x="6309360" y="1627632"/>
            <a:ext cx="5193792" cy="256032"/>
          </a:xfrm>
          <a:prstGeom prst="rect">
            <a:avLst/>
          </a:prstGeom>
          <a:noFill/>
          <a:ln/>
        </p:spPr>
        <p:txBody>
          <a:bodyPr wrap="square" lIns="0" tIns="0" rIns="0" bIns="0" rtlCol="0" anchor="ctr"/>
          <a:lstStyle/>
          <a:p>
            <a:pPr indent="0" marL="0">
              <a:buNone/>
            </a:pPr>
            <a:r>
              <a:rPr lang="en-US" sz="950" b="1" spc="300" kern="0" dirty="0">
                <a:solidFill>
                  <a:srgbClr val="93AC93"/>
                </a:solidFill>
                <a:latin typeface="游ゴシック" pitchFamily="34" charset="0"/>
                <a:ea typeface="游ゴシック" pitchFamily="34" charset="-122"/>
                <a:cs typeface="游ゴシック" pitchFamily="34" charset="-120"/>
              </a:rPr>
              <a:t>私が現場で見ていること</a:t>
            </a:r>
            <a:endParaRPr lang="en-US" sz="950" dirty="0"/>
          </a:p>
        </p:txBody>
      </p:sp>
      <p:sp>
        <p:nvSpPr>
          <p:cNvPr id="7" name="Shape 5"/>
          <p:cNvSpPr/>
          <p:nvPr/>
        </p:nvSpPr>
        <p:spPr>
          <a:xfrm>
            <a:off x="685800" y="1847088"/>
            <a:ext cx="5029200" cy="7315"/>
          </a:xfrm>
          <a:prstGeom prst="rect">
            <a:avLst/>
          </a:prstGeom>
          <a:solidFill>
            <a:srgbClr val="4A423A"/>
          </a:solidFill>
          <a:ln/>
        </p:spPr>
      </p:sp>
      <p:sp>
        <p:nvSpPr>
          <p:cNvPr id="8" name="Shape 6"/>
          <p:cNvSpPr/>
          <p:nvPr/>
        </p:nvSpPr>
        <p:spPr>
          <a:xfrm>
            <a:off x="6309360" y="1847088"/>
            <a:ext cx="5193792" cy="7315"/>
          </a:xfrm>
          <a:prstGeom prst="rect">
            <a:avLst/>
          </a:prstGeom>
          <a:solidFill>
            <a:srgbClr val="4A423A"/>
          </a:solidFill>
          <a:ln/>
        </p:spPr>
      </p:sp>
      <p:sp>
        <p:nvSpPr>
          <p:cNvPr id="9" name="Text 7"/>
          <p:cNvSpPr txBox="1"/>
          <p:nvPr/>
        </p:nvSpPr>
        <p:spPr>
          <a:xfrm>
            <a:off x="685800" y="1956816"/>
            <a:ext cx="5029200" cy="822960"/>
          </a:xfrm>
          <a:prstGeom prst="rect">
            <a:avLst/>
          </a:prstGeom>
          <a:noFill/>
          <a:ln/>
        </p:spPr>
        <p:txBody>
          <a:bodyPr wrap="square" lIns="0" tIns="0" rIns="0" bIns="0" rtlCol="0" anchor="t"/>
          <a:lstStyle/>
          <a:p>
            <a:pPr indent="0" marL="0">
              <a:lnSpc>
                <a:spcPts val="1800"/>
              </a:lnSpc>
              <a:buNone/>
            </a:pPr>
            <a:r>
              <a:rPr lang="en-US" sz="1500" b="1" dirty="0">
                <a:solidFill>
                  <a:srgbClr val="C97B68"/>
                </a:solidFill>
                <a:latin typeface="游明朝" pitchFamily="34" charset="0"/>
                <a:ea typeface="游明朝" pitchFamily="34" charset="-122"/>
                <a:cs typeface="游明朝" pitchFamily="34" charset="-120"/>
              </a:rPr>
              <a:t>約600万人　</a:t>
            </a:r>
            <a:pPr indent="0" marL="0">
              <a:lnSpc>
                <a:spcPts val="1800"/>
              </a:lnSpc>
              <a:buNone/>
            </a:pPr>
            <a:r>
              <a:rPr lang="en-US" sz="1050" dirty="0">
                <a:solidFill>
                  <a:srgbClr val="F3ECE0"/>
                </a:solidFill>
                <a:latin typeface="游ゴシック" pitchFamily="34" charset="0"/>
                <a:ea typeface="游ゴシック" pitchFamily="34" charset="-122"/>
                <a:cs typeface="游ゴシック" pitchFamily="34" charset="-120"/>
              </a:rPr>
              <a:t>精神疾患を持つ患者数。国は2024年、厚生労働白書で初めて「こころの健康」をテーマに据えました。</a:t>
            </a:r>
            <a:endParaRPr lang="en-US" sz="1050" dirty="0"/>
          </a:p>
        </p:txBody>
      </p:sp>
      <p:sp>
        <p:nvSpPr>
          <p:cNvPr id="10" name="Text 8"/>
          <p:cNvSpPr txBox="1"/>
          <p:nvPr/>
        </p:nvSpPr>
        <p:spPr>
          <a:xfrm>
            <a:off x="6309360" y="1956816"/>
            <a:ext cx="5193792" cy="822960"/>
          </a:xfrm>
          <a:prstGeom prst="rect">
            <a:avLst/>
          </a:prstGeom>
          <a:noFill/>
          <a:ln/>
        </p:spPr>
        <p:txBody>
          <a:bodyPr wrap="square" lIns="0" tIns="0" rIns="0" bIns="0" rtlCol="0" anchor="t"/>
          <a:lstStyle/>
          <a:p>
            <a:pPr indent="0" marL="0">
              <a:lnSpc>
                <a:spcPts val="1800"/>
              </a:lnSpc>
              <a:buNone/>
            </a:pPr>
            <a:r>
              <a:rPr lang="en-US" sz="1050" dirty="0">
                <a:solidFill>
                  <a:srgbClr val="BDB2A2"/>
                </a:solidFill>
                <a:latin typeface="游ゴシック" pitchFamily="34" charset="0"/>
                <a:ea typeface="游ゴシック" pitchFamily="34" charset="-122"/>
                <a:cs typeface="游ゴシック" pitchFamily="34" charset="-120"/>
              </a:rPr>
              <a:t>のべ20,000人を診てきて、心の不調を主訴に来られる方が明らかに増えました。</a:t>
            </a:r>
            <a:endParaRPr lang="en-US" sz="1050" dirty="0"/>
          </a:p>
        </p:txBody>
      </p:sp>
      <p:sp>
        <p:nvSpPr>
          <p:cNvPr id="11" name="Shape 9"/>
          <p:cNvSpPr/>
          <p:nvPr/>
        </p:nvSpPr>
        <p:spPr>
          <a:xfrm>
            <a:off x="685800" y="2816352"/>
            <a:ext cx="5029200" cy="7315"/>
          </a:xfrm>
          <a:prstGeom prst="rect">
            <a:avLst/>
          </a:prstGeom>
          <a:solidFill>
            <a:srgbClr val="4A423A"/>
          </a:solidFill>
          <a:ln/>
        </p:spPr>
      </p:sp>
      <p:sp>
        <p:nvSpPr>
          <p:cNvPr id="12" name="Shape 10"/>
          <p:cNvSpPr/>
          <p:nvPr/>
        </p:nvSpPr>
        <p:spPr>
          <a:xfrm>
            <a:off x="6309360" y="2816352"/>
            <a:ext cx="5193792" cy="7315"/>
          </a:xfrm>
          <a:prstGeom prst="rect">
            <a:avLst/>
          </a:prstGeom>
          <a:solidFill>
            <a:srgbClr val="4A423A"/>
          </a:solidFill>
          <a:ln/>
        </p:spPr>
      </p:sp>
      <p:sp>
        <p:nvSpPr>
          <p:cNvPr id="13" name="Text 11"/>
          <p:cNvSpPr txBox="1"/>
          <p:nvPr/>
        </p:nvSpPr>
        <p:spPr>
          <a:xfrm>
            <a:off x="685800" y="2926080"/>
            <a:ext cx="5029200" cy="822960"/>
          </a:xfrm>
          <a:prstGeom prst="rect">
            <a:avLst/>
          </a:prstGeom>
          <a:noFill/>
          <a:ln/>
        </p:spPr>
        <p:txBody>
          <a:bodyPr wrap="square" lIns="0" tIns="0" rIns="0" bIns="0" rtlCol="0" anchor="t"/>
          <a:lstStyle/>
          <a:p>
            <a:pPr indent="0" marL="0">
              <a:lnSpc>
                <a:spcPts val="1800"/>
              </a:lnSpc>
              <a:buNone/>
            </a:pPr>
            <a:r>
              <a:rPr lang="en-US" sz="1500" b="1" dirty="0">
                <a:solidFill>
                  <a:srgbClr val="C97B68"/>
                </a:solidFill>
                <a:latin typeface="游明朝" pitchFamily="34" charset="0"/>
                <a:ea typeface="游明朝" pitchFamily="34" charset="-122"/>
                <a:cs typeface="游明朝" pitchFamily="34" charset="-120"/>
              </a:rPr>
              <a:t>2028年4月　</a:t>
            </a:r>
            <a:pPr indent="0" marL="0">
              <a:lnSpc>
                <a:spcPts val="1800"/>
              </a:lnSpc>
              <a:buNone/>
            </a:pPr>
            <a:r>
              <a:rPr lang="en-US" sz="1050" dirty="0">
                <a:solidFill>
                  <a:srgbClr val="F3ECE0"/>
                </a:solidFill>
                <a:latin typeface="游ゴシック" pitchFamily="34" charset="0"/>
                <a:ea typeface="游ゴシック" pitchFamily="34" charset="-122"/>
                <a:cs typeface="游ゴシック" pitchFamily="34" charset="-120"/>
              </a:rPr>
              <a:t>50人未満の事業場にもストレスチェックが義務化。現在の実施率は6割弱です。</a:t>
            </a:r>
            <a:endParaRPr lang="en-US" sz="1050" dirty="0"/>
          </a:p>
        </p:txBody>
      </p:sp>
      <p:sp>
        <p:nvSpPr>
          <p:cNvPr id="14" name="Text 12"/>
          <p:cNvSpPr txBox="1"/>
          <p:nvPr/>
        </p:nvSpPr>
        <p:spPr>
          <a:xfrm>
            <a:off x="6309360" y="2926080"/>
            <a:ext cx="5193792" cy="822960"/>
          </a:xfrm>
          <a:prstGeom prst="rect">
            <a:avLst/>
          </a:prstGeom>
          <a:noFill/>
          <a:ln/>
        </p:spPr>
        <p:txBody>
          <a:bodyPr wrap="square" lIns="0" tIns="0" rIns="0" bIns="0" rtlCol="0" anchor="t"/>
          <a:lstStyle/>
          <a:p>
            <a:pPr indent="0" marL="0">
              <a:lnSpc>
                <a:spcPts val="1800"/>
              </a:lnSpc>
              <a:buNone/>
            </a:pPr>
            <a:r>
              <a:rPr lang="en-US" sz="1050" dirty="0">
                <a:solidFill>
                  <a:srgbClr val="BDB2A2"/>
                </a:solidFill>
                <a:latin typeface="游ゴシック" pitchFamily="34" charset="0"/>
                <a:ea typeface="游ゴシック" pitchFamily="34" charset="-122"/>
                <a:cs typeface="游ゴシック" pitchFamily="34" charset="-120"/>
              </a:rPr>
              <a:t>気づいても、次に行く場所がない。精神科は予約が埋まり、新規の受付を止める医療機関が出ています。</a:t>
            </a:r>
            <a:endParaRPr lang="en-US" sz="1050" dirty="0"/>
          </a:p>
        </p:txBody>
      </p:sp>
      <p:sp>
        <p:nvSpPr>
          <p:cNvPr id="15" name="Shape 13"/>
          <p:cNvSpPr/>
          <p:nvPr/>
        </p:nvSpPr>
        <p:spPr>
          <a:xfrm>
            <a:off x="685800" y="3785616"/>
            <a:ext cx="5029200" cy="7315"/>
          </a:xfrm>
          <a:prstGeom prst="rect">
            <a:avLst/>
          </a:prstGeom>
          <a:solidFill>
            <a:srgbClr val="4A423A"/>
          </a:solidFill>
          <a:ln/>
        </p:spPr>
      </p:sp>
      <p:sp>
        <p:nvSpPr>
          <p:cNvPr id="16" name="Shape 14"/>
          <p:cNvSpPr/>
          <p:nvPr/>
        </p:nvSpPr>
        <p:spPr>
          <a:xfrm>
            <a:off x="6309360" y="3785616"/>
            <a:ext cx="5193792" cy="7315"/>
          </a:xfrm>
          <a:prstGeom prst="rect">
            <a:avLst/>
          </a:prstGeom>
          <a:solidFill>
            <a:srgbClr val="4A423A"/>
          </a:solidFill>
          <a:ln/>
        </p:spPr>
      </p:sp>
      <p:sp>
        <p:nvSpPr>
          <p:cNvPr id="17" name="Text 15"/>
          <p:cNvSpPr txBox="1"/>
          <p:nvPr/>
        </p:nvSpPr>
        <p:spPr>
          <a:xfrm>
            <a:off x="685800" y="3895344"/>
            <a:ext cx="5029200" cy="822960"/>
          </a:xfrm>
          <a:prstGeom prst="rect">
            <a:avLst/>
          </a:prstGeom>
          <a:noFill/>
          <a:ln/>
        </p:spPr>
        <p:txBody>
          <a:bodyPr wrap="square" lIns="0" tIns="0" rIns="0" bIns="0" rtlCol="0" anchor="t"/>
          <a:lstStyle/>
          <a:p>
            <a:pPr indent="0" marL="0">
              <a:lnSpc>
                <a:spcPts val="1800"/>
              </a:lnSpc>
              <a:buNone/>
            </a:pPr>
            <a:r>
              <a:rPr lang="en-US" sz="1500" b="1" dirty="0">
                <a:solidFill>
                  <a:srgbClr val="C97B68"/>
                </a:solidFill>
                <a:latin typeface="游明朝" pitchFamily="34" charset="0"/>
                <a:ea typeface="游明朝" pitchFamily="34" charset="-122"/>
                <a:cs typeface="游明朝" pitchFamily="34" charset="-120"/>
              </a:rPr>
              <a:t>年7.6兆円　</a:t>
            </a:r>
            <a:pPr indent="0" marL="0">
              <a:lnSpc>
                <a:spcPts val="1800"/>
              </a:lnSpc>
              <a:buNone/>
            </a:pPr>
            <a:r>
              <a:rPr lang="en-US" sz="1050" dirty="0">
                <a:solidFill>
                  <a:srgbClr val="F3ECE0"/>
                </a:solidFill>
                <a:latin typeface="游ゴシック" pitchFamily="34" charset="0"/>
                <a:ea typeface="游ゴシック" pitchFamily="34" charset="-122"/>
                <a:cs typeface="游ゴシック" pitchFamily="34" charset="-120"/>
              </a:rPr>
              <a:t>メンタル不調による経済損失。うち7.3兆円は「出勤しているのに力が出ない」分です。</a:t>
            </a:r>
            <a:endParaRPr lang="en-US" sz="1050" dirty="0"/>
          </a:p>
        </p:txBody>
      </p:sp>
      <p:sp>
        <p:nvSpPr>
          <p:cNvPr id="18" name="Text 16"/>
          <p:cNvSpPr txBox="1"/>
          <p:nvPr/>
        </p:nvSpPr>
        <p:spPr>
          <a:xfrm>
            <a:off x="6309360" y="3895344"/>
            <a:ext cx="5193792" cy="822960"/>
          </a:xfrm>
          <a:prstGeom prst="rect">
            <a:avLst/>
          </a:prstGeom>
          <a:noFill/>
          <a:ln/>
        </p:spPr>
        <p:txBody>
          <a:bodyPr wrap="square" lIns="0" tIns="0" rIns="0" bIns="0" rtlCol="0" anchor="t"/>
          <a:lstStyle/>
          <a:p>
            <a:pPr indent="0" marL="0">
              <a:lnSpc>
                <a:spcPts val="1800"/>
              </a:lnSpc>
              <a:buNone/>
            </a:pPr>
            <a:r>
              <a:rPr lang="en-US" sz="1050" dirty="0">
                <a:solidFill>
                  <a:srgbClr val="BDB2A2"/>
                </a:solidFill>
                <a:latin typeface="游ゴシック" pitchFamily="34" charset="0"/>
                <a:ea typeface="游ゴシック" pitchFamily="34" charset="-122"/>
                <a:cs typeface="游ゴシック" pitchFamily="34" charset="-120"/>
              </a:rPr>
              <a:t>休職や通院の手前で止まっている方が、いちばん多い。この層は、いま誰の担当でもありません。</a:t>
            </a:r>
            <a:endParaRPr lang="en-US" sz="1050" dirty="0"/>
          </a:p>
        </p:txBody>
      </p:sp>
      <p:sp>
        <p:nvSpPr>
          <p:cNvPr id="19" name="Text 17"/>
          <p:cNvSpPr txBox="1"/>
          <p:nvPr/>
        </p:nvSpPr>
        <p:spPr>
          <a:xfrm>
            <a:off x="685800" y="5120640"/>
            <a:ext cx="10820095" cy="548640"/>
          </a:xfrm>
          <a:prstGeom prst="rect">
            <a:avLst/>
          </a:prstGeom>
          <a:noFill/>
          <a:ln/>
        </p:spPr>
        <p:txBody>
          <a:bodyPr wrap="square" lIns="0" tIns="0" rIns="0" bIns="0" rtlCol="0" anchor="ctr"/>
          <a:lstStyle/>
          <a:p>
            <a:pPr indent="0" marL="0">
              <a:buNone/>
            </a:pPr>
            <a:r>
              <a:rPr lang="en-US" sz="2300" b="1" dirty="0">
                <a:solidFill>
                  <a:srgbClr val="C97B68"/>
                </a:solidFill>
                <a:latin typeface="游明朝" pitchFamily="34" charset="0"/>
                <a:ea typeface="游明朝" pitchFamily="34" charset="-122"/>
                <a:cs typeface="游明朝" pitchFamily="34" charset="-120"/>
              </a:rPr>
              <a:t>だから、未病の段階で止めておきたい。</a:t>
            </a:r>
            <a:endParaRPr lang="en-US" sz="2300" dirty="0"/>
          </a:p>
        </p:txBody>
      </p:sp>
      <p:sp>
        <p:nvSpPr>
          <p:cNvPr id="20" name="Text 18"/>
          <p:cNvSpPr txBox="1"/>
          <p:nvPr/>
        </p:nvSpPr>
        <p:spPr>
          <a:xfrm>
            <a:off x="685800" y="5897880"/>
            <a:ext cx="10820095" cy="329184"/>
          </a:xfrm>
          <a:prstGeom prst="rect">
            <a:avLst/>
          </a:prstGeom>
          <a:noFill/>
          <a:ln/>
        </p:spPr>
        <p:txBody>
          <a:bodyPr wrap="square" lIns="0" tIns="0" rIns="0" bIns="0" rtlCol="0" anchor="t"/>
          <a:lstStyle/>
          <a:p>
            <a:pPr indent="0" marL="0">
              <a:lnSpc>
                <a:spcPts val="1100"/>
              </a:lnSpc>
              <a:buNone/>
            </a:pPr>
            <a:r>
              <a:rPr lang="en-US" sz="750" dirty="0">
                <a:solidFill>
                  <a:srgbClr val="BDB2A2"/>
                </a:solidFill>
                <a:latin typeface="游ゴシック" pitchFamily="34" charset="0"/>
                <a:ea typeface="游ゴシック" pitchFamily="34" charset="-122"/>
                <a:cs typeface="游ゴシック" pitchFamily="34" charset="-120"/>
              </a:rPr>
              <a:t>出典：厚生労働省 患者調査／令和6年版 厚生労働白書／改正労働安全衛生法（2025年5月公布・2028年4月施行）／メンタルヘルス不調による経済損失の試算（労働者27,507人調査）</a:t>
            </a:r>
            <a:endParaRPr lang="en-US" sz="750" dirty="0"/>
          </a:p>
        </p:txBody>
      </p:sp>
      <p:sp>
        <p:nvSpPr>
          <p:cNvPr id="21" name="Text 1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BDB2A2"/>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22" name="Text 20"/>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BDB2A2"/>
                </a:solidFill>
                <a:latin typeface="游ゴシック" pitchFamily="34" charset="0"/>
                <a:ea typeface="游ゴシック" pitchFamily="34" charset="-122"/>
                <a:cs typeface="游ゴシック" pitchFamily="34" charset="-120"/>
              </a:rPr>
              <a:t>1:45 → 2:40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9C5446"/>
                </a:solidFill>
                <a:latin typeface="游明朝" pitchFamily="34" charset="0"/>
                <a:ea typeface="游明朝" pitchFamily="34" charset="-122"/>
                <a:cs typeface="游明朝" pitchFamily="34" charset="-120"/>
              </a:rPr>
              <a:t>04   </a:t>
            </a:r>
            <a:pPr indent="0" marL="0">
              <a:buNone/>
            </a:pPr>
            <a:r>
              <a:rPr lang="en-US" sz="1000" spc="300" kern="0" dirty="0">
                <a:solidFill>
                  <a:srgbClr val="8B8175"/>
                </a:solidFill>
                <a:latin typeface="游ゴシック" pitchFamily="34" charset="0"/>
                <a:ea typeface="游ゴシック" pitchFamily="34" charset="-122"/>
                <a:cs typeface="游ゴシック" pitchFamily="34" charset="-120"/>
              </a:rPr>
              <a:t>ACTION</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F3ECE0"/>
                </a:solidFill>
                <a:latin typeface="游明朝" pitchFamily="34" charset="0"/>
                <a:ea typeface="游明朝" pitchFamily="34" charset="-122"/>
                <a:cs typeface="游明朝" pitchFamily="34" charset="-120"/>
              </a:rPr>
              <a:t>鍼灸には天井がある。だから「頭をオフにする」事業を始めます</a:t>
            </a:r>
            <a:endParaRPr lang="en-US" sz="2800" dirty="0"/>
          </a:p>
        </p:txBody>
      </p:sp>
      <p:sp>
        <p:nvSpPr>
          <p:cNvPr id="5" name="Text 3"/>
          <p:cNvSpPr txBox="1"/>
          <p:nvPr/>
        </p:nvSpPr>
        <p:spPr>
          <a:xfrm>
            <a:off x="685800" y="1783080"/>
            <a:ext cx="6675120" cy="3840480"/>
          </a:xfrm>
          <a:prstGeom prst="rect">
            <a:avLst/>
          </a:prstGeom>
          <a:noFill/>
          <a:ln/>
        </p:spPr>
        <p:txBody>
          <a:bodyPr wrap="square" lIns="0" tIns="0" rIns="0" bIns="0" rtlCol="0" anchor="t"/>
          <a:lstStyle/>
          <a:p>
            <a:pPr marL="342900" indent="-342900">
              <a:lnSpc>
                <a:spcPts val="1900"/>
              </a:lnSpc>
              <a:buSzPct val="100000"/>
              <a:buChar char="•"/>
            </a:pPr>
            <a:r>
              <a:rPr lang="en-US" sz="1100" b="1" dirty="0">
                <a:solidFill>
                  <a:srgbClr val="2B2620"/>
                </a:solidFill>
                <a:latin typeface="游ゴシック" pitchFamily="34" charset="0"/>
                <a:ea typeface="游ゴシック" pitchFamily="34" charset="-122"/>
                <a:cs typeface="游ゴシック" pitchFamily="34" charset="-120"/>
              </a:rPr>
              <a:t>ねここち</a:t>
            </a:r>
            <a:pPr indent="0" marL="0">
              <a:lnSpc>
                <a:spcPts val="1900"/>
              </a:lnSpc>
              <a:spcAft>
                <a:spcPts val="1000"/>
              </a:spcAft>
              <a:buNone/>
            </a:pPr>
            <a:r>
              <a:rPr lang="en-US" sz="1100" dirty="0">
                <a:solidFill>
                  <a:srgbClr val="5A5249"/>
                </a:solidFill>
                <a:latin typeface="游ゴシック" pitchFamily="34" charset="0"/>
                <a:ea typeface="游ゴシック" pitchFamily="34" charset="-122"/>
                <a:cs typeface="游ゴシック" pitchFamily="34" charset="-120"/>
              </a:rPr>
              <a:t>／頭オフ事業。考えごとで止まらない頭を、強制的にオフにする時間を売ります。2026年 立ち上げ予定。</a:t>
            </a:r>
            <a:endParaRPr lang="en-US" sz="1100" dirty="0"/>
          </a:p>
          <a:p>
            <a:pPr marL="342900" indent="-342900">
              <a:lnSpc>
                <a:spcPts val="1900"/>
              </a:lnSpc>
              <a:spcAft>
                <a:spcPts val="1000"/>
              </a:spcAft>
              <a:buSzPct val="100000"/>
              <a:buChar char="•"/>
            </a:pPr>
            <a:r>
              <a:rPr lang="en-US" sz="1100" dirty="0">
                <a:solidFill>
                  <a:srgbClr val="5A5249"/>
                </a:solidFill>
                <a:latin typeface="游ゴシック" pitchFamily="34" charset="0"/>
                <a:ea typeface="游ゴシック" pitchFamily="34" charset="-122"/>
                <a:cs typeface="游ゴシック" pitchFamily="34" charset="-120"/>
              </a:rPr>
              <a:t>鍼灸は国家資格者に依存し、施術者1人あたりの時間が上限になる。＝ 売上に天井がある。</a:t>
            </a:r>
            <a:endParaRPr lang="en-US" sz="1100" dirty="0"/>
          </a:p>
          <a:p>
            <a:pPr marL="342900" indent="-342900">
              <a:lnSpc>
                <a:spcPts val="1900"/>
              </a:lnSpc>
              <a:spcAft>
                <a:spcPts val="1000"/>
              </a:spcAft>
              <a:buSzPct val="100000"/>
              <a:buChar char="•"/>
            </a:pPr>
            <a:r>
              <a:rPr lang="en-US" sz="1100" dirty="0">
                <a:solidFill>
                  <a:srgbClr val="5A5249"/>
                </a:solidFill>
                <a:latin typeface="游ゴシック" pitchFamily="34" charset="0"/>
                <a:ea typeface="游ゴシック" pitchFamily="34" charset="-122"/>
                <a:cs typeface="游ゴシック" pitchFamily="34" charset="-120"/>
              </a:rPr>
              <a:t>ねここちは資格に依存しない設計。未病層が「治療」と身構えずに入れる入口になる。</a:t>
            </a:r>
            <a:endParaRPr lang="en-US" sz="1100" dirty="0"/>
          </a:p>
          <a:p>
            <a:pPr marL="342900" indent="-342900">
              <a:lnSpc>
                <a:spcPts val="1900"/>
              </a:lnSpc>
              <a:buSzPct val="100000"/>
              <a:buChar char="•"/>
            </a:pPr>
            <a:r>
              <a:rPr lang="en-US" sz="1100" b="1" dirty="0">
                <a:solidFill>
                  <a:srgbClr val="2B2620"/>
                </a:solidFill>
                <a:latin typeface="游ゴシック" pitchFamily="34" charset="0"/>
                <a:ea typeface="游ゴシック" pitchFamily="34" charset="-122"/>
                <a:cs typeface="游ゴシック" pitchFamily="34" charset="-120"/>
              </a:rPr>
              <a:t>入口＝ねここち／出口＝鍼灸・医療。</a:t>
            </a:r>
            <a:pPr indent="0" marL="0">
              <a:lnSpc>
                <a:spcPts val="1900"/>
              </a:lnSpc>
              <a:spcAft>
                <a:spcPts val="1000"/>
              </a:spcAft>
              <a:buNone/>
            </a:pPr>
            <a:r>
              <a:rPr lang="en-US" sz="1100" dirty="0">
                <a:solidFill>
                  <a:srgbClr val="5A5249"/>
                </a:solidFill>
                <a:latin typeface="游ゴシック" pitchFamily="34" charset="0"/>
                <a:ea typeface="游ゴシック" pitchFamily="34" charset="-122"/>
                <a:cs typeface="游ゴシック" pitchFamily="34" charset="-120"/>
              </a:rPr>
              <a:t>必要な人だけを、適切な先へ渡す導線を持てる。</a:t>
            </a:r>
            <a:endParaRPr lang="en-US" sz="1100" dirty="0"/>
          </a:p>
        </p:txBody>
      </p:sp>
      <p:sp>
        <p:nvSpPr>
          <p:cNvPr id="6" name="Shape 4"/>
          <p:cNvSpPr/>
          <p:nvPr/>
        </p:nvSpPr>
        <p:spPr>
          <a:xfrm>
            <a:off x="7726680" y="1783080"/>
            <a:ext cx="3776472" cy="2286000"/>
          </a:xfrm>
          <a:prstGeom prst="roundRect">
            <a:avLst>
              <a:gd name="adj" fmla="val 2000"/>
            </a:avLst>
          </a:prstGeom>
          <a:solidFill>
            <a:srgbClr val="F3E3DE"/>
          </a:solidFill>
          <a:ln w="9525">
            <a:solidFill>
              <a:srgbClr val="9C5446"/>
            </a:solidFill>
            <a:prstDash val="solid"/>
          </a:ln>
        </p:spPr>
      </p:sp>
      <p:sp>
        <p:nvSpPr>
          <p:cNvPr id="7" name="Text 5"/>
          <p:cNvSpPr txBox="1"/>
          <p:nvPr/>
        </p:nvSpPr>
        <p:spPr>
          <a:xfrm>
            <a:off x="7726680" y="2011680"/>
            <a:ext cx="3776472" cy="274320"/>
          </a:xfrm>
          <a:prstGeom prst="rect">
            <a:avLst/>
          </a:prstGeom>
          <a:noFill/>
          <a:ln/>
        </p:spPr>
        <p:txBody>
          <a:bodyPr wrap="square" lIns="0" tIns="0" rIns="0" bIns="0" rtlCol="0" anchor="ctr"/>
          <a:lstStyle/>
          <a:p>
            <a:pPr algn="ctr" indent="0" marL="0">
              <a:buNone/>
            </a:pPr>
            <a:r>
              <a:rPr lang="en-US" sz="950" b="1" spc="300" kern="0" dirty="0">
                <a:solidFill>
                  <a:srgbClr val="9C5446"/>
                </a:solidFill>
                <a:latin typeface="游ゴシック" pitchFamily="34" charset="0"/>
                <a:ea typeface="游ゴシック" pitchFamily="34" charset="-122"/>
                <a:cs typeface="游ゴシック" pitchFamily="34" charset="-120"/>
              </a:rPr>
              <a:t>1店舗あたり</a:t>
            </a:r>
            <a:endParaRPr lang="en-US" sz="950" dirty="0"/>
          </a:p>
        </p:txBody>
      </p:sp>
      <p:sp>
        <p:nvSpPr>
          <p:cNvPr id="8" name="Text 6"/>
          <p:cNvSpPr txBox="1"/>
          <p:nvPr/>
        </p:nvSpPr>
        <p:spPr>
          <a:xfrm>
            <a:off x="7726680" y="2331720"/>
            <a:ext cx="3776472" cy="731520"/>
          </a:xfrm>
          <a:prstGeom prst="rect">
            <a:avLst/>
          </a:prstGeom>
          <a:noFill/>
          <a:ln/>
        </p:spPr>
        <p:txBody>
          <a:bodyPr wrap="square" lIns="0" tIns="0" rIns="0" bIns="0" rtlCol="0" anchor="ctr"/>
          <a:lstStyle/>
          <a:p>
            <a:pPr algn="ctr" indent="0" marL="0">
              <a:buNone/>
            </a:pPr>
            <a:r>
              <a:rPr lang="en-US" sz="3400" b="1" dirty="0">
                <a:solidFill>
                  <a:srgbClr val="2B2620"/>
                </a:solidFill>
                <a:latin typeface="游明朝" pitchFamily="34" charset="0"/>
                <a:ea typeface="游明朝" pitchFamily="34" charset="-122"/>
                <a:cs typeface="游明朝" pitchFamily="34" charset="-120"/>
              </a:rPr>
              <a:t>月次利益 30</a:t>
            </a:r>
            <a:pPr algn="ctr" indent="0" marL="0">
              <a:buNone/>
            </a:pPr>
            <a:r>
              <a:rPr lang="en-US" sz="1700" b="1" dirty="0">
                <a:solidFill>
                  <a:srgbClr val="2B2620"/>
                </a:solidFill>
                <a:latin typeface="游明朝" pitchFamily="34" charset="0"/>
                <a:ea typeface="游明朝" pitchFamily="34" charset="-122"/>
                <a:cs typeface="游明朝" pitchFamily="34" charset="-120"/>
              </a:rPr>
              <a:t>万円</a:t>
            </a:r>
            <a:endParaRPr lang="en-US" sz="3400" dirty="0"/>
          </a:p>
        </p:txBody>
      </p:sp>
      <p:sp>
        <p:nvSpPr>
          <p:cNvPr id="9" name="Text 7"/>
          <p:cNvSpPr txBox="1"/>
          <p:nvPr/>
        </p:nvSpPr>
        <p:spPr>
          <a:xfrm>
            <a:off x="8001000" y="3154680"/>
            <a:ext cx="3227832" cy="731520"/>
          </a:xfrm>
          <a:prstGeom prst="rect">
            <a:avLst/>
          </a:prstGeom>
          <a:noFill/>
          <a:ln/>
        </p:spPr>
        <p:txBody>
          <a:bodyPr wrap="square" lIns="0" tIns="0" rIns="0" bIns="0" rtlCol="0" anchor="t"/>
          <a:lstStyle/>
          <a:p>
            <a:pPr algn="ctr" indent="0" marL="0">
              <a:lnSpc>
                <a:spcPts val="1600"/>
              </a:lnSpc>
              <a:buNone/>
            </a:pPr>
            <a:r>
              <a:rPr lang="en-US" sz="950" dirty="0">
                <a:solidFill>
                  <a:srgbClr val="5A5249"/>
                </a:solidFill>
                <a:latin typeface="游ゴシック" pitchFamily="34" charset="0"/>
                <a:ea typeface="游ゴシック" pitchFamily="34" charset="-122"/>
                <a:cs typeface="游ゴシック" pitchFamily="34" charset="-120"/>
              </a:rPr>
              <a:t>想定値。多店舗展開を前提に設計しており、人と仕組みが揃えば積み上がる構造です。</a:t>
            </a:r>
            <a:endParaRPr lang="en-US" sz="950" dirty="0"/>
          </a:p>
        </p:txBody>
      </p:sp>
      <p:sp>
        <p:nvSpPr>
          <p:cNvPr id="10" name="Text 8"/>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11" name="Text 9"/>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2:40 → 3:25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9C5446"/>
                </a:solidFill>
                <a:latin typeface="游明朝" pitchFamily="34" charset="0"/>
                <a:ea typeface="游明朝" pitchFamily="34" charset="-122"/>
                <a:cs typeface="游明朝" pitchFamily="34" charset="-120"/>
              </a:rPr>
              <a:t>05   </a:t>
            </a:r>
            <a:pPr indent="0" marL="0">
              <a:buNone/>
            </a:pPr>
            <a:r>
              <a:rPr lang="en-US" sz="1000" spc="300" kern="0" dirty="0">
                <a:solidFill>
                  <a:srgbClr val="8B8175"/>
                </a:solidFill>
                <a:latin typeface="游ゴシック" pitchFamily="34" charset="0"/>
                <a:ea typeface="游ゴシック" pitchFamily="34" charset="-122"/>
                <a:cs typeface="游ゴシック" pitchFamily="34" charset="-120"/>
              </a:rPr>
              <a:t>CASE</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游明朝" pitchFamily="34" charset="0"/>
                <a:ea typeface="游明朝" pitchFamily="34" charset="-122"/>
                <a:cs typeface="游明朝" pitchFamily="34" charset="-120"/>
              </a:rPr>
              <a:t>「企業 × 鍼灸」は、すでに成立しています</a:t>
            </a:r>
            <a:endParaRPr lang="en-US" sz="2800" dirty="0"/>
          </a:p>
        </p:txBody>
      </p:sp>
      <p:sp>
        <p:nvSpPr>
          <p:cNvPr id="5" name="Text 3"/>
          <p:cNvSpPr txBox="1"/>
          <p:nvPr/>
        </p:nvSpPr>
        <p:spPr>
          <a:xfrm>
            <a:off x="685800" y="1783080"/>
            <a:ext cx="6035040" cy="3840480"/>
          </a:xfrm>
          <a:prstGeom prst="rect">
            <a:avLst/>
          </a:prstGeom>
          <a:noFill/>
          <a:ln/>
        </p:spPr>
        <p:txBody>
          <a:bodyPr wrap="square" lIns="0" tIns="0" rIns="0" bIns="0" rtlCol="0" anchor="t"/>
          <a:lstStyle/>
          <a:p>
            <a:pPr marL="342900" indent="-342900">
              <a:lnSpc>
                <a:spcPts val="1900"/>
              </a:lnSpc>
              <a:buSzPct val="100000"/>
              <a:buChar char="•"/>
            </a:pPr>
            <a:r>
              <a:rPr lang="en-US" sz="1050" dirty="0">
                <a:solidFill>
                  <a:srgbClr val="5A5249"/>
                </a:solidFill>
                <a:latin typeface="游ゴシック" pitchFamily="34" charset="0"/>
                <a:ea typeface="游ゴシック" pitchFamily="34" charset="-122"/>
                <a:cs typeface="游ゴシック" pitchFamily="34" charset="-120"/>
              </a:rPr>
              <a:t>睡眠製品のブレインスリープ社は、</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睡眠専門の鍼灸マッサージ「コンディショニングスタジオ」</a:t>
            </a:r>
            <a:pPr indent="0" marL="0">
              <a:lnSpc>
                <a:spcPts val="1900"/>
              </a:lnSpc>
              <a:spcAft>
                <a:spcPts val="1000"/>
              </a:spcAft>
              <a:buNone/>
            </a:pPr>
            <a:r>
              <a:rPr lang="en-US" sz="1050" dirty="0">
                <a:solidFill>
                  <a:srgbClr val="5A5249"/>
                </a:solidFill>
                <a:latin typeface="游ゴシック" pitchFamily="34" charset="0"/>
                <a:ea typeface="游ゴシック" pitchFamily="34" charset="-122"/>
                <a:cs typeface="游ゴシック" pitchFamily="34" charset="-120"/>
              </a:rPr>
              <a:t>を自社ブランドで運営。枕の売り場ではなく、独立した鍼灸院です。</a:t>
            </a:r>
            <a:endParaRPr lang="en-US" sz="1050" dirty="0"/>
          </a:p>
          <a:p>
            <a:pPr marL="342900" indent="-342900">
              <a:lnSpc>
                <a:spcPts val="1900"/>
              </a:lnSpc>
              <a:buSzPct val="100000"/>
              <a:buChar char="•"/>
            </a:pPr>
            <a:r>
              <a:rPr lang="en-US" sz="1050" dirty="0">
                <a:solidFill>
                  <a:srgbClr val="5A5249"/>
                </a:solidFill>
                <a:latin typeface="游ゴシック" pitchFamily="34" charset="0"/>
                <a:ea typeface="游ゴシック" pitchFamily="34" charset="-122"/>
                <a:cs typeface="游ゴシック" pitchFamily="34" charset="-120"/>
              </a:rPr>
              <a:t>二子玉川・南青山・</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有楽町マルイ</a:t>
            </a:r>
            <a:pPr indent="0" marL="0">
              <a:lnSpc>
                <a:spcPts val="1900"/>
              </a:lnSpc>
              <a:buNone/>
            </a:pPr>
            <a:r>
              <a:rPr lang="en-US" sz="1050" dirty="0">
                <a:solidFill>
                  <a:srgbClr val="5A5249"/>
                </a:solidFill>
                <a:latin typeface="游ゴシック" pitchFamily="34" charset="0"/>
                <a:ea typeface="游ゴシック" pitchFamily="34" charset="-122"/>
                <a:cs typeface="游ゴシック" pitchFamily="34" charset="-120"/>
              </a:rPr>
              <a:t>・東京ミッドタウン八重洲の</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4店舗</a:t>
            </a:r>
            <a:pPr indent="0" marL="0">
              <a:lnSpc>
                <a:spcPts val="1900"/>
              </a:lnSpc>
              <a:spcAft>
                <a:spcPts val="1000"/>
              </a:spcAft>
              <a:buNone/>
            </a:pPr>
            <a:r>
              <a:rPr lang="en-US" sz="1050" dirty="0">
                <a:solidFill>
                  <a:srgbClr val="5A5249"/>
                </a:solidFill>
                <a:latin typeface="游ゴシック" pitchFamily="34" charset="0"/>
                <a:ea typeface="游ゴシック" pitchFamily="34" charset="-122"/>
                <a:cs typeface="游ゴシック" pitchFamily="34" charset="-120"/>
              </a:rPr>
              <a:t>。商業施設側である丸井グループも、自らプレスリリースを出しています。</a:t>
            </a:r>
            <a:endParaRPr lang="en-US" sz="1050" dirty="0"/>
          </a:p>
          <a:p>
            <a:pPr marL="342900" indent="-342900">
              <a:lnSpc>
                <a:spcPts val="1900"/>
              </a:lnSpc>
              <a:buSzPct val="100000"/>
              <a:buChar char="•"/>
            </a:pPr>
            <a:r>
              <a:rPr lang="en-US" sz="1050" dirty="0">
                <a:solidFill>
                  <a:srgbClr val="5A5249"/>
                </a:solidFill>
                <a:latin typeface="游ゴシック" pitchFamily="34" charset="0"/>
                <a:ea typeface="游ゴシック" pitchFamily="34" charset="-122"/>
                <a:cs typeface="游ゴシック" pitchFamily="34" charset="-120"/>
              </a:rPr>
              <a:t>オープン以来</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累計1万人以上</a:t>
            </a:r>
            <a:pPr indent="0" marL="0">
              <a:lnSpc>
                <a:spcPts val="1900"/>
              </a:lnSpc>
              <a:buNone/>
            </a:pPr>
            <a:r>
              <a:rPr lang="en-US" sz="1050" dirty="0">
                <a:solidFill>
                  <a:srgbClr val="5A5249"/>
                </a:solidFill>
                <a:latin typeface="游ゴシック" pitchFamily="34" charset="0"/>
                <a:ea typeface="游ゴシック" pitchFamily="34" charset="-122"/>
                <a:cs typeface="游ゴシック" pitchFamily="34" charset="-120"/>
              </a:rPr>
              <a:t>が利用。自社研究では、1度の施術で眠りの深さが</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35%</a:t>
            </a:r>
            <a:pPr indent="0" marL="0">
              <a:lnSpc>
                <a:spcPts val="1900"/>
              </a:lnSpc>
              <a:buNone/>
            </a:pPr>
            <a:r>
              <a:rPr lang="en-US" sz="1050" dirty="0">
                <a:solidFill>
                  <a:srgbClr val="5A5249"/>
                </a:solidFill>
                <a:latin typeface="游ゴシック" pitchFamily="34" charset="0"/>
                <a:ea typeface="游ゴシック" pitchFamily="34" charset="-122"/>
                <a:cs typeface="游ゴシック" pitchFamily="34" charset="-120"/>
              </a:rPr>
              <a:t>、疲労回復度が</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59%</a:t>
            </a:r>
            <a:pPr indent="0" marL="0">
              <a:lnSpc>
                <a:spcPts val="1900"/>
              </a:lnSpc>
              <a:spcAft>
                <a:spcPts val="1000"/>
              </a:spcAft>
              <a:buNone/>
            </a:pPr>
            <a:r>
              <a:rPr lang="en-US" sz="1050" dirty="0">
                <a:solidFill>
                  <a:srgbClr val="5A5249"/>
                </a:solidFill>
                <a:latin typeface="游ゴシック" pitchFamily="34" charset="0"/>
                <a:ea typeface="游ゴシック" pitchFamily="34" charset="-122"/>
                <a:cs typeface="游ゴシック" pitchFamily="34" charset="-120"/>
              </a:rPr>
              <a:t>向上したと公表。</a:t>
            </a:r>
            <a:endParaRPr lang="en-US" sz="1050" dirty="0"/>
          </a:p>
          <a:p>
            <a:pPr marL="342900" indent="-342900">
              <a:lnSpc>
                <a:spcPts val="1900"/>
              </a:lnSpc>
              <a:buSzPct val="100000"/>
              <a:buChar char="•"/>
            </a:pPr>
            <a:r>
              <a:rPr lang="en-US" sz="1050" dirty="0">
                <a:solidFill>
                  <a:srgbClr val="5A5249"/>
                </a:solidFill>
                <a:latin typeface="游ゴシック" pitchFamily="34" charset="0"/>
                <a:ea typeface="游ゴシック" pitchFamily="34" charset="-122"/>
                <a:cs typeface="游ゴシック" pitchFamily="34" charset="-120"/>
              </a:rPr>
              <a:t>スタッフは全員が国家資格保有者で、自社資格「スリーププランナー」を取得。</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定額プラン</a:t>
            </a:r>
            <a:pPr indent="0" marL="0">
              <a:lnSpc>
                <a:spcPts val="1900"/>
              </a:lnSpc>
              <a:spcAft>
                <a:spcPts val="1000"/>
              </a:spcAft>
              <a:buNone/>
            </a:pPr>
            <a:r>
              <a:rPr lang="en-US" sz="1050" dirty="0">
                <a:solidFill>
                  <a:srgbClr val="5A5249"/>
                </a:solidFill>
                <a:latin typeface="游ゴシック" pitchFamily="34" charset="0"/>
                <a:ea typeface="游ゴシック" pitchFamily="34" charset="-122"/>
                <a:cs typeface="游ゴシック" pitchFamily="34" charset="-120"/>
              </a:rPr>
              <a:t>で、継続して通う前提が設計されています。</a:t>
            </a:r>
            <a:endParaRPr lang="en-US" sz="1050" dirty="0"/>
          </a:p>
        </p:txBody>
      </p:sp>
      <p:sp>
        <p:nvSpPr>
          <p:cNvPr id="6" name="Shape 4"/>
          <p:cNvSpPr/>
          <p:nvPr/>
        </p:nvSpPr>
        <p:spPr>
          <a:xfrm>
            <a:off x="7040880" y="1783080"/>
            <a:ext cx="4462272" cy="3200400"/>
          </a:xfrm>
          <a:prstGeom prst="roundRect">
            <a:avLst>
              <a:gd name="adj" fmla="val 1429"/>
            </a:avLst>
          </a:prstGeom>
          <a:solidFill>
            <a:srgbClr val="FBF6EC"/>
          </a:solidFill>
          <a:ln w="9525">
            <a:solidFill>
              <a:srgbClr val="5E7060"/>
            </a:solidFill>
            <a:prstDash val="solid"/>
          </a:ln>
        </p:spPr>
      </p:sp>
      <p:sp>
        <p:nvSpPr>
          <p:cNvPr id="7" name="Text 5"/>
          <p:cNvSpPr txBox="1"/>
          <p:nvPr/>
        </p:nvSpPr>
        <p:spPr>
          <a:xfrm>
            <a:off x="7315200" y="1984248"/>
            <a:ext cx="3913632" cy="237744"/>
          </a:xfrm>
          <a:prstGeom prst="rect">
            <a:avLst/>
          </a:prstGeom>
          <a:noFill/>
          <a:ln/>
        </p:spPr>
        <p:txBody>
          <a:bodyPr wrap="square" lIns="0" tIns="0" rIns="0" bIns="0" rtlCol="0" anchor="ctr"/>
          <a:lstStyle/>
          <a:p>
            <a:pPr indent="0" marL="0">
              <a:buNone/>
            </a:pPr>
            <a:r>
              <a:rPr lang="en-US" sz="900" b="1" spc="200" kern="0" dirty="0">
                <a:solidFill>
                  <a:srgbClr val="5E7060"/>
                </a:solidFill>
                <a:latin typeface="游ゴシック" pitchFamily="34" charset="0"/>
                <a:ea typeface="游ゴシック" pitchFamily="34" charset="-122"/>
                <a:cs typeface="游ゴシック" pitchFamily="34" charset="-120"/>
              </a:rPr>
              <a:t>ここから私が受け取ったこと</a:t>
            </a:r>
            <a:endParaRPr lang="en-US" sz="900" dirty="0"/>
          </a:p>
        </p:txBody>
      </p:sp>
      <p:sp>
        <p:nvSpPr>
          <p:cNvPr id="8" name="Text 6"/>
          <p:cNvSpPr txBox="1"/>
          <p:nvPr/>
        </p:nvSpPr>
        <p:spPr>
          <a:xfrm>
            <a:off x="7315200" y="2295144"/>
            <a:ext cx="3913632" cy="2468880"/>
          </a:xfrm>
          <a:prstGeom prst="rect">
            <a:avLst/>
          </a:prstGeom>
          <a:noFill/>
          <a:ln/>
        </p:spPr>
        <p:txBody>
          <a:bodyPr wrap="square" lIns="0" tIns="0" rIns="0" bIns="0" rtlCol="0" anchor="t"/>
          <a:lstStyle/>
          <a:p>
            <a:pPr indent="0" marL="0">
              <a:lnSpc>
                <a:spcPts val="1900"/>
              </a:lnSpc>
              <a:buNone/>
            </a:pPr>
            <a:r>
              <a:rPr lang="en-US" sz="1100" dirty="0">
                <a:solidFill>
                  <a:srgbClr val="5A5249"/>
                </a:solidFill>
                <a:latin typeface="游ゴシック" pitchFamily="34" charset="0"/>
                <a:ea typeface="游ゴシック" pitchFamily="34" charset="-122"/>
                <a:cs typeface="游ゴシック" pitchFamily="34" charset="-120"/>
              </a:rPr>
              <a:t>製品を売って終わりにせず、施術という接点で人と関わり続ける。効果を数字で示し、資格者を自社で育て、定額で通ってもらう。——私がやろうとしている構造と、ほぼ同じです。</a:t>
            </a:r>
            <a:endParaRPr lang="en-US" sz="1100" dirty="0"/>
          </a:p>
          <a:p>
            <a:pPr indent="0" marL="0">
              <a:lnSpc>
                <a:spcPts val="1900"/>
              </a:lnSpc>
              <a:buNone/>
            </a:pPr>
            <a:endParaRPr lang="en-US" sz="1100" dirty="0"/>
          </a:p>
          <a:p>
            <a:pPr indent="0" marL="0">
              <a:lnSpc>
                <a:spcPts val="1900"/>
              </a:lnSpc>
              <a:buNone/>
            </a:pPr>
            <a:r>
              <a:rPr lang="en-US" sz="1100" dirty="0">
                <a:solidFill>
                  <a:srgbClr val="5A5249"/>
                </a:solidFill>
                <a:latin typeface="游ゴシック" pitchFamily="34" charset="0"/>
                <a:ea typeface="游ゴシック" pitchFamily="34" charset="-122"/>
                <a:cs typeface="游ゴシック" pitchFamily="34" charset="-120"/>
              </a:rPr>
              <a:t>違いは入口です。</a:t>
            </a:r>
            <a:endParaRPr lang="en-US" sz="1100" dirty="0"/>
          </a:p>
          <a:p>
            <a:pPr indent="0" marL="0">
              <a:lnSpc>
                <a:spcPts val="1900"/>
              </a:lnSpc>
              <a:buNone/>
            </a:pPr>
            <a:r>
              <a:rPr lang="en-US" sz="1100" b="1" dirty="0">
                <a:solidFill>
                  <a:srgbClr val="2B2620"/>
                </a:solidFill>
                <a:latin typeface="游ゴシック" pitchFamily="34" charset="0"/>
                <a:ea typeface="游ゴシック" pitchFamily="34" charset="-122"/>
                <a:cs typeface="游ゴシック" pitchFamily="34" charset="-120"/>
              </a:rPr>
              <a:t>あの会社は「睡眠」から入った。私は「こころ」から入ります。</a:t>
            </a:r>
            <a:endParaRPr lang="en-US" sz="1100" dirty="0"/>
          </a:p>
        </p:txBody>
      </p:sp>
      <p:sp>
        <p:nvSpPr>
          <p:cNvPr id="9" name="Text 7"/>
          <p:cNvSpPr txBox="1"/>
          <p:nvPr/>
        </p:nvSpPr>
        <p:spPr>
          <a:xfrm>
            <a:off x="685800" y="5852160"/>
            <a:ext cx="10820095" cy="329184"/>
          </a:xfrm>
          <a:prstGeom prst="rect">
            <a:avLst/>
          </a:prstGeom>
          <a:noFill/>
          <a:ln/>
        </p:spPr>
        <p:txBody>
          <a:bodyPr wrap="square" lIns="0" tIns="0" rIns="0" bIns="0" rtlCol="0" anchor="t"/>
          <a:lstStyle/>
          <a:p>
            <a:pPr indent="0" marL="0">
              <a:lnSpc>
                <a:spcPts val="1100"/>
              </a:lnSpc>
              <a:buNone/>
            </a:pPr>
            <a:r>
              <a:rPr lang="en-US" sz="750" dirty="0">
                <a:solidFill>
                  <a:srgbClr val="8B8175"/>
                </a:solidFill>
                <a:latin typeface="游ゴシック" pitchFamily="34" charset="0"/>
                <a:ea typeface="游ゴシック" pitchFamily="34" charset="-122"/>
                <a:cs typeface="游ゴシック" pitchFamily="34" charset="-120"/>
              </a:rPr>
              <a:t>出典：株式会社丸井グループ プレスリリース（2024.11.15）／株式会社ブレインスリープ プレスリリース／ブレインスリープ コンディショニングスタジオ 公式サイト</a:t>
            </a:r>
            <a:endParaRPr lang="en-US" sz="750" dirty="0"/>
          </a:p>
        </p:txBody>
      </p:sp>
      <p:sp>
        <p:nvSpPr>
          <p:cNvPr id="10" name="Text 8"/>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11" name="Text 9"/>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3:25 → 4:05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B2620"/>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C97B68"/>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C97B68"/>
                </a:solidFill>
                <a:latin typeface="游明朝" pitchFamily="34" charset="0"/>
                <a:ea typeface="游明朝" pitchFamily="34" charset="-122"/>
                <a:cs typeface="游明朝" pitchFamily="34" charset="-120"/>
              </a:rPr>
              <a:t>06   </a:t>
            </a:r>
            <a:pPr indent="0" marL="0">
              <a:buNone/>
            </a:pPr>
            <a:r>
              <a:rPr lang="en-US" sz="1000" spc="300" kern="0" dirty="0">
                <a:solidFill>
                  <a:srgbClr val="BDB2A2"/>
                </a:solidFill>
                <a:latin typeface="游ゴシック" pitchFamily="34" charset="0"/>
                <a:ea typeface="游ゴシック" pitchFamily="34" charset="-122"/>
                <a:cs typeface="游ゴシック" pitchFamily="34" charset="-120"/>
              </a:rPr>
              <a:t>OUR LIMIT</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F3ECE0"/>
                </a:solidFill>
                <a:latin typeface="游明朝" pitchFamily="34" charset="0"/>
                <a:ea typeface="游明朝" pitchFamily="34" charset="-122"/>
                <a:cs typeface="游明朝" pitchFamily="34" charset="-120"/>
              </a:rPr>
              <a:t>正直に言うと、私1人で抱えられる量に天井があります</a:t>
            </a:r>
            <a:endParaRPr lang="en-US" sz="2800" dirty="0"/>
          </a:p>
        </p:txBody>
      </p:sp>
      <p:sp>
        <p:nvSpPr>
          <p:cNvPr id="5" name="Text 3"/>
          <p:cNvSpPr txBox="1"/>
          <p:nvPr/>
        </p:nvSpPr>
        <p:spPr>
          <a:xfrm>
            <a:off x="685800" y="2057400"/>
            <a:ext cx="457200" cy="365760"/>
          </a:xfrm>
          <a:prstGeom prst="rect">
            <a:avLst/>
          </a:prstGeom>
          <a:noFill/>
          <a:ln/>
        </p:spPr>
        <p:txBody>
          <a:bodyPr wrap="square" lIns="0" tIns="0" rIns="0" bIns="0" rtlCol="0" anchor="ctr"/>
          <a:lstStyle/>
          <a:p>
            <a:pPr indent="0" marL="0">
              <a:buNone/>
            </a:pPr>
            <a:r>
              <a:rPr lang="en-US" sz="1400" b="1" dirty="0">
                <a:solidFill>
                  <a:srgbClr val="C97B68"/>
                </a:solidFill>
                <a:latin typeface="游明朝" pitchFamily="34" charset="0"/>
                <a:ea typeface="游明朝" pitchFamily="34" charset="-122"/>
                <a:cs typeface="游明朝" pitchFamily="34" charset="-120"/>
              </a:rPr>
              <a:t>01</a:t>
            </a:r>
            <a:endParaRPr lang="en-US" sz="1400" dirty="0"/>
          </a:p>
        </p:txBody>
      </p:sp>
      <p:sp>
        <p:nvSpPr>
          <p:cNvPr id="6" name="Text 4"/>
          <p:cNvSpPr txBox="1"/>
          <p:nvPr/>
        </p:nvSpPr>
        <p:spPr>
          <a:xfrm>
            <a:off x="1234440" y="2057400"/>
            <a:ext cx="4937760" cy="640080"/>
          </a:xfrm>
          <a:prstGeom prst="rect">
            <a:avLst/>
          </a:prstGeom>
          <a:noFill/>
          <a:ln/>
        </p:spPr>
        <p:txBody>
          <a:bodyPr wrap="square" lIns="0" tIns="0" rIns="0" bIns="0" rtlCol="0" anchor="ctr"/>
          <a:lstStyle/>
          <a:p>
            <a:pPr indent="0" marL="0">
              <a:lnSpc>
                <a:spcPts val="1900"/>
              </a:lnSpc>
              <a:buNone/>
            </a:pPr>
            <a:r>
              <a:rPr lang="en-US" sz="1150" dirty="0">
                <a:solidFill>
                  <a:srgbClr val="F3ECE0"/>
                </a:solidFill>
                <a:latin typeface="游ゴシック" pitchFamily="34" charset="0"/>
                <a:ea typeface="游ゴシック" pitchFamily="34" charset="-122"/>
                <a:cs typeface="游ゴシック" pitchFamily="34" charset="-120"/>
              </a:rPr>
              <a:t>臨床も、育成も、研究も、いまは私に紐づいている（属人）</a:t>
            </a:r>
            <a:endParaRPr lang="en-US" sz="1150" dirty="0"/>
          </a:p>
        </p:txBody>
      </p:sp>
      <p:sp>
        <p:nvSpPr>
          <p:cNvPr id="7" name="Text 5"/>
          <p:cNvSpPr txBox="1"/>
          <p:nvPr/>
        </p:nvSpPr>
        <p:spPr>
          <a:xfrm>
            <a:off x="685800" y="2834640"/>
            <a:ext cx="457200" cy="365760"/>
          </a:xfrm>
          <a:prstGeom prst="rect">
            <a:avLst/>
          </a:prstGeom>
          <a:noFill/>
          <a:ln/>
        </p:spPr>
        <p:txBody>
          <a:bodyPr wrap="square" lIns="0" tIns="0" rIns="0" bIns="0" rtlCol="0" anchor="ctr"/>
          <a:lstStyle/>
          <a:p>
            <a:pPr indent="0" marL="0">
              <a:buNone/>
            </a:pPr>
            <a:r>
              <a:rPr lang="en-US" sz="1400" b="1" dirty="0">
                <a:solidFill>
                  <a:srgbClr val="C97B68"/>
                </a:solidFill>
                <a:latin typeface="游明朝" pitchFamily="34" charset="0"/>
                <a:ea typeface="游明朝" pitchFamily="34" charset="-122"/>
                <a:cs typeface="游明朝" pitchFamily="34" charset="-120"/>
              </a:rPr>
              <a:t>02</a:t>
            </a:r>
            <a:endParaRPr lang="en-US" sz="1400" dirty="0"/>
          </a:p>
        </p:txBody>
      </p:sp>
      <p:sp>
        <p:nvSpPr>
          <p:cNvPr id="8" name="Text 6"/>
          <p:cNvSpPr txBox="1"/>
          <p:nvPr/>
        </p:nvSpPr>
        <p:spPr>
          <a:xfrm>
            <a:off x="1234440" y="2834640"/>
            <a:ext cx="4937760" cy="640080"/>
          </a:xfrm>
          <a:prstGeom prst="rect">
            <a:avLst/>
          </a:prstGeom>
          <a:noFill/>
          <a:ln/>
        </p:spPr>
        <p:txBody>
          <a:bodyPr wrap="square" lIns="0" tIns="0" rIns="0" bIns="0" rtlCol="0" anchor="ctr"/>
          <a:lstStyle/>
          <a:p>
            <a:pPr indent="0" marL="0">
              <a:lnSpc>
                <a:spcPts val="1900"/>
              </a:lnSpc>
              <a:buNone/>
            </a:pPr>
            <a:r>
              <a:rPr lang="en-US" sz="1150" dirty="0">
                <a:solidFill>
                  <a:srgbClr val="F3ECE0"/>
                </a:solidFill>
                <a:latin typeface="游ゴシック" pitchFamily="34" charset="0"/>
                <a:ea typeface="游ゴシック" pitchFamily="34" charset="-122"/>
                <a:cs typeface="游ゴシック" pitchFamily="34" charset="-120"/>
              </a:rPr>
              <a:t>店舗は増やせても、施術者と運営を担える人は増やせていない</a:t>
            </a:r>
            <a:endParaRPr lang="en-US" sz="1150" dirty="0"/>
          </a:p>
        </p:txBody>
      </p:sp>
      <p:sp>
        <p:nvSpPr>
          <p:cNvPr id="9" name="Text 7"/>
          <p:cNvSpPr txBox="1"/>
          <p:nvPr/>
        </p:nvSpPr>
        <p:spPr>
          <a:xfrm>
            <a:off x="685800" y="3611880"/>
            <a:ext cx="457200" cy="365760"/>
          </a:xfrm>
          <a:prstGeom prst="rect">
            <a:avLst/>
          </a:prstGeom>
          <a:noFill/>
          <a:ln/>
        </p:spPr>
        <p:txBody>
          <a:bodyPr wrap="square" lIns="0" tIns="0" rIns="0" bIns="0" rtlCol="0" anchor="ctr"/>
          <a:lstStyle/>
          <a:p>
            <a:pPr indent="0" marL="0">
              <a:buNone/>
            </a:pPr>
            <a:r>
              <a:rPr lang="en-US" sz="1400" b="1" dirty="0">
                <a:solidFill>
                  <a:srgbClr val="C97B68"/>
                </a:solidFill>
                <a:latin typeface="游明朝" pitchFamily="34" charset="0"/>
                <a:ea typeface="游明朝" pitchFamily="34" charset="-122"/>
                <a:cs typeface="游明朝" pitchFamily="34" charset="-120"/>
              </a:rPr>
              <a:t>03</a:t>
            </a:r>
            <a:endParaRPr lang="en-US" sz="1400" dirty="0"/>
          </a:p>
        </p:txBody>
      </p:sp>
      <p:sp>
        <p:nvSpPr>
          <p:cNvPr id="10" name="Text 8"/>
          <p:cNvSpPr txBox="1"/>
          <p:nvPr/>
        </p:nvSpPr>
        <p:spPr>
          <a:xfrm>
            <a:off x="1234440" y="3611880"/>
            <a:ext cx="4937760" cy="640080"/>
          </a:xfrm>
          <a:prstGeom prst="rect">
            <a:avLst/>
          </a:prstGeom>
          <a:noFill/>
          <a:ln/>
        </p:spPr>
        <p:txBody>
          <a:bodyPr wrap="square" lIns="0" tIns="0" rIns="0" bIns="0" rtlCol="0" anchor="ctr"/>
          <a:lstStyle/>
          <a:p>
            <a:pPr indent="0" marL="0">
              <a:lnSpc>
                <a:spcPts val="1900"/>
              </a:lnSpc>
              <a:buNone/>
            </a:pPr>
            <a:r>
              <a:rPr lang="en-US" sz="1150" dirty="0">
                <a:solidFill>
                  <a:srgbClr val="F3ECE0"/>
                </a:solidFill>
                <a:latin typeface="游ゴシック" pitchFamily="34" charset="0"/>
                <a:ea typeface="游ゴシック" pitchFamily="34" charset="-122"/>
                <a:cs typeface="游ゴシック" pitchFamily="34" charset="-120"/>
              </a:rPr>
              <a:t>課題の大きさに対して、届けられる人数が圧倒的に足りない</a:t>
            </a:r>
            <a:endParaRPr lang="en-US" sz="1150" dirty="0"/>
          </a:p>
        </p:txBody>
      </p:sp>
      <p:sp>
        <p:nvSpPr>
          <p:cNvPr id="11" name="Text 9"/>
          <p:cNvSpPr txBox="1"/>
          <p:nvPr/>
        </p:nvSpPr>
        <p:spPr>
          <a:xfrm>
            <a:off x="6583680" y="2011680"/>
            <a:ext cx="4919472" cy="1371600"/>
          </a:xfrm>
          <a:prstGeom prst="rect">
            <a:avLst/>
          </a:prstGeom>
          <a:noFill/>
          <a:ln/>
        </p:spPr>
        <p:txBody>
          <a:bodyPr wrap="square" lIns="0" tIns="0" rIns="0" bIns="0" rtlCol="0" anchor="t"/>
          <a:lstStyle/>
          <a:p>
            <a:pPr indent="0" marL="0">
              <a:lnSpc>
                <a:spcPts val="4200"/>
              </a:lnSpc>
              <a:buNone/>
            </a:pPr>
            <a:r>
              <a:rPr lang="en-US" sz="2600" b="1" dirty="0">
                <a:solidFill>
                  <a:srgbClr val="F3ECE0"/>
                </a:solidFill>
                <a:latin typeface="游明朝" pitchFamily="34" charset="0"/>
                <a:ea typeface="游明朝" pitchFamily="34" charset="-122"/>
                <a:cs typeface="游明朝" pitchFamily="34" charset="-120"/>
              </a:rPr>
              <a:t>仕組みと、人と、</a:t>
            </a:r>
            <a:endParaRPr lang="en-US" sz="2600" dirty="0"/>
          </a:p>
          <a:p>
            <a:pPr indent="0" marL="0">
              <a:lnSpc>
                <a:spcPts val="4200"/>
              </a:lnSpc>
              <a:buNone/>
            </a:pPr>
            <a:r>
              <a:rPr lang="en-US" sz="2600" b="1" dirty="0">
                <a:solidFill>
                  <a:srgbClr val="F3ECE0"/>
                </a:solidFill>
                <a:latin typeface="游明朝" pitchFamily="34" charset="0"/>
                <a:ea typeface="游明朝" pitchFamily="34" charset="-122"/>
                <a:cs typeface="游明朝" pitchFamily="34" charset="-120"/>
              </a:rPr>
              <a:t>座組みが要る。</a:t>
            </a:r>
            <a:endParaRPr lang="en-US" sz="2600" dirty="0"/>
          </a:p>
        </p:txBody>
      </p:sp>
      <p:sp>
        <p:nvSpPr>
          <p:cNvPr id="12" name="Text 10"/>
          <p:cNvSpPr txBox="1"/>
          <p:nvPr/>
        </p:nvSpPr>
        <p:spPr>
          <a:xfrm>
            <a:off x="6583680" y="3611880"/>
            <a:ext cx="4919472" cy="822960"/>
          </a:xfrm>
          <a:prstGeom prst="rect">
            <a:avLst/>
          </a:prstGeom>
          <a:noFill/>
          <a:ln/>
        </p:spPr>
        <p:txBody>
          <a:bodyPr wrap="square" lIns="0" tIns="0" rIns="0" bIns="0" rtlCol="0" anchor="t"/>
          <a:lstStyle/>
          <a:p>
            <a:pPr indent="0" marL="0">
              <a:lnSpc>
                <a:spcPts val="1900"/>
              </a:lnSpc>
              <a:buNone/>
            </a:pPr>
            <a:r>
              <a:rPr lang="en-US" sz="1100" dirty="0">
                <a:solidFill>
                  <a:srgbClr val="BDB2A2"/>
                </a:solidFill>
                <a:latin typeface="游ゴシック" pitchFamily="34" charset="0"/>
                <a:ea typeface="游ゴシック" pitchFamily="34" charset="-122"/>
                <a:cs typeface="游ゴシック" pitchFamily="34" charset="-120"/>
              </a:rPr>
              <a:t>ここは私が最も苦手としてきた領域であり、御社が最も強い領域だと考えています。</a:t>
            </a:r>
            <a:endParaRPr lang="en-US" sz="1100" dirty="0"/>
          </a:p>
        </p:txBody>
      </p:sp>
      <p:sp>
        <p:nvSpPr>
          <p:cNvPr id="13" name="Text 11"/>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BDB2A2"/>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14" name="Text 12"/>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BDB2A2"/>
                </a:solidFill>
                <a:latin typeface="游ゴシック" pitchFamily="34" charset="0"/>
                <a:ea typeface="游ゴシック" pitchFamily="34" charset="-122"/>
                <a:cs typeface="游ゴシック" pitchFamily="34" charset="-120"/>
              </a:rPr>
              <a:t>4:05 → 4:35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9C5446"/>
                </a:solidFill>
                <a:latin typeface="游明朝" pitchFamily="34" charset="0"/>
                <a:ea typeface="游明朝" pitchFamily="34" charset="-122"/>
                <a:cs typeface="游明朝" pitchFamily="34" charset="-120"/>
              </a:rPr>
              <a:t>07   </a:t>
            </a:r>
            <a:pPr indent="0" marL="0">
              <a:buNone/>
            </a:pPr>
            <a:r>
              <a:rPr lang="en-US" sz="1000" spc="300" kern="0" dirty="0">
                <a:solidFill>
                  <a:srgbClr val="8B8175"/>
                </a:solidFill>
                <a:latin typeface="游ゴシック" pitchFamily="34" charset="0"/>
                <a:ea typeface="游ゴシック" pitchFamily="34" charset="-122"/>
                <a:cs typeface="游ゴシック" pitchFamily="34" charset="-120"/>
              </a:rPr>
              <a:t>ASK</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游明朝" pitchFamily="34" charset="0"/>
                <a:ea typeface="游明朝" pitchFamily="34" charset="-122"/>
                <a:cs typeface="游明朝" pitchFamily="34" charset="-120"/>
              </a:rPr>
              <a:t>だから、アポプラスステーション様と話したい</a:t>
            </a:r>
            <a:endParaRPr lang="en-US" sz="2800" dirty="0"/>
          </a:p>
        </p:txBody>
      </p:sp>
      <p:sp>
        <p:nvSpPr>
          <p:cNvPr id="5" name="Text 3"/>
          <p:cNvSpPr txBox="1"/>
          <p:nvPr/>
        </p:nvSpPr>
        <p:spPr>
          <a:xfrm>
            <a:off x="685800" y="1783080"/>
            <a:ext cx="548640" cy="365760"/>
          </a:xfrm>
          <a:prstGeom prst="rect">
            <a:avLst/>
          </a:prstGeom>
          <a:noFill/>
          <a:ln/>
        </p:spPr>
        <p:txBody>
          <a:bodyPr wrap="square" lIns="0" tIns="0" rIns="0" bIns="0" rtlCol="0" anchor="ctr"/>
          <a:lstStyle/>
          <a:p>
            <a:pPr indent="0" marL="0">
              <a:buNone/>
            </a:pPr>
            <a:r>
              <a:rPr lang="en-US" sz="1600" b="1" dirty="0">
                <a:solidFill>
                  <a:srgbClr val="9C5446"/>
                </a:solidFill>
                <a:latin typeface="游明朝" pitchFamily="34" charset="0"/>
                <a:ea typeface="游明朝" pitchFamily="34" charset="-122"/>
                <a:cs typeface="游明朝" pitchFamily="34" charset="-120"/>
              </a:rPr>
              <a:t>01</a:t>
            </a:r>
            <a:endParaRPr lang="en-US" sz="1600" dirty="0"/>
          </a:p>
        </p:txBody>
      </p:sp>
      <p:sp>
        <p:nvSpPr>
          <p:cNvPr id="6" name="Text 4"/>
          <p:cNvSpPr txBox="1"/>
          <p:nvPr/>
        </p:nvSpPr>
        <p:spPr>
          <a:xfrm>
            <a:off x="1371600" y="1764792"/>
            <a:ext cx="10058400" cy="329184"/>
          </a:xfrm>
          <a:prstGeom prst="rect">
            <a:avLst/>
          </a:prstGeom>
          <a:noFill/>
          <a:ln/>
        </p:spPr>
        <p:txBody>
          <a:bodyPr wrap="square" lIns="0" tIns="0" rIns="0" bIns="0" rtlCol="0" anchor="ctr"/>
          <a:lstStyle/>
          <a:p>
            <a:pPr indent="0" marL="0">
              <a:buNone/>
            </a:pPr>
            <a:r>
              <a:rPr lang="en-US" sz="1400" b="1" dirty="0">
                <a:solidFill>
                  <a:srgbClr val="2B2620"/>
                </a:solidFill>
                <a:latin typeface="游明朝" pitchFamily="34" charset="0"/>
                <a:ea typeface="游明朝" pitchFamily="34" charset="-122"/>
                <a:cs typeface="游明朝" pitchFamily="34" charset="-120"/>
              </a:rPr>
              <a:t>未病領域の新規事業を、共同で検討させてください</a:t>
            </a:r>
            <a:endParaRPr lang="en-US" sz="1400" dirty="0"/>
          </a:p>
        </p:txBody>
      </p:sp>
      <p:sp>
        <p:nvSpPr>
          <p:cNvPr id="7" name="Text 5"/>
          <p:cNvSpPr txBox="1"/>
          <p:nvPr/>
        </p:nvSpPr>
        <p:spPr>
          <a:xfrm>
            <a:off x="1371600" y="2112264"/>
            <a:ext cx="10058400" cy="329184"/>
          </a:xfrm>
          <a:prstGeom prst="rect">
            <a:avLst/>
          </a:prstGeom>
          <a:noFill/>
          <a:ln/>
        </p:spPr>
        <p:txBody>
          <a:bodyPr wrap="square" lIns="0" tIns="0" rIns="0" bIns="0" rtlCol="0" anchor="ctr"/>
          <a:lstStyle/>
          <a:p>
            <a:pPr indent="0" marL="0">
              <a:buNone/>
            </a:pPr>
            <a:r>
              <a:rPr lang="en-US" sz="1050" dirty="0">
                <a:solidFill>
                  <a:srgbClr val="5A5249"/>
                </a:solidFill>
                <a:latin typeface="游ゴシック" pitchFamily="34" charset="0"/>
                <a:ea typeface="游ゴシック" pitchFamily="34" charset="-122"/>
                <a:cs typeface="游ゴシック" pitchFamily="34" charset="-120"/>
              </a:rPr>
              <a:t>東洋医学 × 御社の事業アセット。入口となるサービス設計から、実証までを一緒に。</a:t>
            </a:r>
            <a:endParaRPr lang="en-US" sz="1050" dirty="0"/>
          </a:p>
        </p:txBody>
      </p:sp>
      <p:sp>
        <p:nvSpPr>
          <p:cNvPr id="8" name="Shape 6"/>
          <p:cNvSpPr/>
          <p:nvPr/>
        </p:nvSpPr>
        <p:spPr>
          <a:xfrm>
            <a:off x="685800" y="2551176"/>
            <a:ext cx="10820095" cy="7315"/>
          </a:xfrm>
          <a:prstGeom prst="rect">
            <a:avLst/>
          </a:prstGeom>
          <a:solidFill>
            <a:srgbClr val="D2C4AE"/>
          </a:solidFill>
          <a:ln/>
        </p:spPr>
      </p:sp>
      <p:sp>
        <p:nvSpPr>
          <p:cNvPr id="9" name="Text 7"/>
          <p:cNvSpPr txBox="1"/>
          <p:nvPr/>
        </p:nvSpPr>
        <p:spPr>
          <a:xfrm>
            <a:off x="685800" y="2697480"/>
            <a:ext cx="548640" cy="365760"/>
          </a:xfrm>
          <a:prstGeom prst="rect">
            <a:avLst/>
          </a:prstGeom>
          <a:noFill/>
          <a:ln/>
        </p:spPr>
        <p:txBody>
          <a:bodyPr wrap="square" lIns="0" tIns="0" rIns="0" bIns="0" rtlCol="0" anchor="ctr"/>
          <a:lstStyle/>
          <a:p>
            <a:pPr indent="0" marL="0">
              <a:buNone/>
            </a:pPr>
            <a:r>
              <a:rPr lang="en-US" sz="1600" b="1" dirty="0">
                <a:solidFill>
                  <a:srgbClr val="9C5446"/>
                </a:solidFill>
                <a:latin typeface="游明朝" pitchFamily="34" charset="0"/>
                <a:ea typeface="游明朝" pitchFamily="34" charset="-122"/>
                <a:cs typeface="游明朝" pitchFamily="34" charset="-120"/>
              </a:rPr>
              <a:t>02</a:t>
            </a:r>
            <a:endParaRPr lang="en-US" sz="1600" dirty="0"/>
          </a:p>
        </p:txBody>
      </p:sp>
      <p:sp>
        <p:nvSpPr>
          <p:cNvPr id="10" name="Text 8"/>
          <p:cNvSpPr txBox="1"/>
          <p:nvPr/>
        </p:nvSpPr>
        <p:spPr>
          <a:xfrm>
            <a:off x="1371600" y="2679192"/>
            <a:ext cx="10058400" cy="329184"/>
          </a:xfrm>
          <a:prstGeom prst="rect">
            <a:avLst/>
          </a:prstGeom>
          <a:noFill/>
          <a:ln/>
        </p:spPr>
        <p:txBody>
          <a:bodyPr wrap="square" lIns="0" tIns="0" rIns="0" bIns="0" rtlCol="0" anchor="ctr"/>
          <a:lstStyle/>
          <a:p>
            <a:pPr indent="0" marL="0">
              <a:buNone/>
            </a:pPr>
            <a:r>
              <a:rPr lang="en-US" sz="1400" b="1" dirty="0">
                <a:solidFill>
                  <a:srgbClr val="2B2620"/>
                </a:solidFill>
                <a:latin typeface="游明朝" pitchFamily="34" charset="0"/>
                <a:ea typeface="游明朝" pitchFamily="34" charset="-122"/>
                <a:cs typeface="游明朝" pitchFamily="34" charset="-120"/>
              </a:rPr>
              <a:t>人と組織の知見をお借りしたい</a:t>
            </a:r>
            <a:endParaRPr lang="en-US" sz="1400" dirty="0"/>
          </a:p>
        </p:txBody>
      </p:sp>
      <p:sp>
        <p:nvSpPr>
          <p:cNvPr id="11" name="Text 9"/>
          <p:cNvSpPr txBox="1"/>
          <p:nvPr/>
        </p:nvSpPr>
        <p:spPr>
          <a:xfrm>
            <a:off x="1371600" y="3026664"/>
            <a:ext cx="10058400" cy="329184"/>
          </a:xfrm>
          <a:prstGeom prst="rect">
            <a:avLst/>
          </a:prstGeom>
          <a:noFill/>
          <a:ln/>
        </p:spPr>
        <p:txBody>
          <a:bodyPr wrap="square" lIns="0" tIns="0" rIns="0" bIns="0" rtlCol="0" anchor="ctr"/>
          <a:lstStyle/>
          <a:p>
            <a:pPr indent="0" marL="0">
              <a:buNone/>
            </a:pPr>
            <a:r>
              <a:rPr lang="en-US" sz="1050" dirty="0">
                <a:solidFill>
                  <a:srgbClr val="5A5249"/>
                </a:solidFill>
                <a:latin typeface="游ゴシック" pitchFamily="34" charset="0"/>
                <a:ea typeface="游ゴシック" pitchFamily="34" charset="-122"/>
                <a:cs typeface="游ゴシック" pitchFamily="34" charset="-120"/>
              </a:rPr>
              <a:t>施術者の採用・育成・配置。属人から仕組みへ移すために、御社の人材領域の知見が必要です。</a:t>
            </a:r>
            <a:endParaRPr lang="en-US" sz="1050" dirty="0"/>
          </a:p>
        </p:txBody>
      </p:sp>
      <p:sp>
        <p:nvSpPr>
          <p:cNvPr id="12" name="Shape 10"/>
          <p:cNvSpPr/>
          <p:nvPr/>
        </p:nvSpPr>
        <p:spPr>
          <a:xfrm>
            <a:off x="685800" y="3465576"/>
            <a:ext cx="10820095" cy="7315"/>
          </a:xfrm>
          <a:prstGeom prst="rect">
            <a:avLst/>
          </a:prstGeom>
          <a:solidFill>
            <a:srgbClr val="D2C4AE"/>
          </a:solidFill>
          <a:ln/>
        </p:spPr>
      </p:sp>
      <p:sp>
        <p:nvSpPr>
          <p:cNvPr id="13" name="Text 11"/>
          <p:cNvSpPr txBox="1"/>
          <p:nvPr/>
        </p:nvSpPr>
        <p:spPr>
          <a:xfrm>
            <a:off x="685800" y="3611880"/>
            <a:ext cx="548640" cy="365760"/>
          </a:xfrm>
          <a:prstGeom prst="rect">
            <a:avLst/>
          </a:prstGeom>
          <a:noFill/>
          <a:ln/>
        </p:spPr>
        <p:txBody>
          <a:bodyPr wrap="square" lIns="0" tIns="0" rIns="0" bIns="0" rtlCol="0" anchor="ctr"/>
          <a:lstStyle/>
          <a:p>
            <a:pPr indent="0" marL="0">
              <a:buNone/>
            </a:pPr>
            <a:r>
              <a:rPr lang="en-US" sz="1600" b="1" dirty="0">
                <a:solidFill>
                  <a:srgbClr val="9C5446"/>
                </a:solidFill>
                <a:latin typeface="游明朝" pitchFamily="34" charset="0"/>
                <a:ea typeface="游明朝" pitchFamily="34" charset="-122"/>
                <a:cs typeface="游明朝" pitchFamily="34" charset="-120"/>
              </a:rPr>
              <a:t>03</a:t>
            </a:r>
            <a:endParaRPr lang="en-US" sz="1600" dirty="0"/>
          </a:p>
        </p:txBody>
      </p:sp>
      <p:sp>
        <p:nvSpPr>
          <p:cNvPr id="14" name="Text 12"/>
          <p:cNvSpPr txBox="1"/>
          <p:nvPr/>
        </p:nvSpPr>
        <p:spPr>
          <a:xfrm>
            <a:off x="1371600" y="3593592"/>
            <a:ext cx="10058400" cy="329184"/>
          </a:xfrm>
          <a:prstGeom prst="rect">
            <a:avLst/>
          </a:prstGeom>
          <a:noFill/>
          <a:ln/>
        </p:spPr>
        <p:txBody>
          <a:bodyPr wrap="square" lIns="0" tIns="0" rIns="0" bIns="0" rtlCol="0" anchor="ctr"/>
          <a:lstStyle/>
          <a:p>
            <a:pPr indent="0" marL="0">
              <a:buNone/>
            </a:pPr>
            <a:r>
              <a:rPr lang="en-US" sz="1400" b="1" dirty="0">
                <a:solidFill>
                  <a:srgbClr val="2B2620"/>
                </a:solidFill>
                <a:latin typeface="游明朝" pitchFamily="34" charset="0"/>
                <a:ea typeface="游明朝" pitchFamily="34" charset="-122"/>
                <a:cs typeface="游明朝" pitchFamily="34" charset="-120"/>
              </a:rPr>
              <a:t>実証の場をご一緒したい</a:t>
            </a:r>
            <a:endParaRPr lang="en-US" sz="1400" dirty="0"/>
          </a:p>
        </p:txBody>
      </p:sp>
      <p:sp>
        <p:nvSpPr>
          <p:cNvPr id="15" name="Text 13"/>
          <p:cNvSpPr txBox="1"/>
          <p:nvPr/>
        </p:nvSpPr>
        <p:spPr>
          <a:xfrm>
            <a:off x="1371600" y="3941064"/>
            <a:ext cx="10058400" cy="329184"/>
          </a:xfrm>
          <a:prstGeom prst="rect">
            <a:avLst/>
          </a:prstGeom>
          <a:noFill/>
          <a:ln/>
        </p:spPr>
        <p:txBody>
          <a:bodyPr wrap="square" lIns="0" tIns="0" rIns="0" bIns="0" rtlCol="0" anchor="ctr"/>
          <a:lstStyle/>
          <a:p>
            <a:pPr indent="0" marL="0">
              <a:buNone/>
            </a:pPr>
            <a:r>
              <a:rPr lang="en-US" sz="1050" dirty="0">
                <a:solidFill>
                  <a:srgbClr val="5A5249"/>
                </a:solidFill>
                <a:latin typeface="游ゴシック" pitchFamily="34" charset="0"/>
                <a:ea typeface="游ゴシック" pitchFamily="34" charset="-122"/>
                <a:cs typeface="游ゴシック" pitchFamily="34" charset="-120"/>
              </a:rPr>
              <a:t>法人向けの健康支援など、未病層に届く場での実証。効果は学会発表の形で残し、根拠として積み上げます。</a:t>
            </a:r>
            <a:endParaRPr lang="en-US" sz="1050" dirty="0"/>
          </a:p>
        </p:txBody>
      </p:sp>
      <p:sp>
        <p:nvSpPr>
          <p:cNvPr id="16" name="Shape 14"/>
          <p:cNvSpPr/>
          <p:nvPr/>
        </p:nvSpPr>
        <p:spPr>
          <a:xfrm>
            <a:off x="685800" y="4663440"/>
            <a:ext cx="10820095" cy="1188720"/>
          </a:xfrm>
          <a:prstGeom prst="roundRect">
            <a:avLst>
              <a:gd name="adj" fmla="val 3846"/>
            </a:avLst>
          </a:prstGeom>
          <a:solidFill>
            <a:srgbClr val="FBF6EC"/>
          </a:solidFill>
          <a:ln w="9525">
            <a:solidFill>
              <a:srgbClr val="9C5446"/>
            </a:solidFill>
            <a:prstDash val="solid"/>
          </a:ln>
        </p:spPr>
      </p:sp>
      <p:sp>
        <p:nvSpPr>
          <p:cNvPr id="17" name="Text 15"/>
          <p:cNvSpPr txBox="1"/>
          <p:nvPr/>
        </p:nvSpPr>
        <p:spPr>
          <a:xfrm>
            <a:off x="960120" y="4864608"/>
            <a:ext cx="10271455"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私の目的</a:t>
            </a:r>
            <a:endParaRPr lang="en-US" sz="900" dirty="0"/>
          </a:p>
        </p:txBody>
      </p:sp>
      <p:sp>
        <p:nvSpPr>
          <p:cNvPr id="18" name="Text 16"/>
          <p:cNvSpPr txBox="1"/>
          <p:nvPr/>
        </p:nvSpPr>
        <p:spPr>
          <a:xfrm>
            <a:off x="960120" y="5175504"/>
            <a:ext cx="10271455" cy="457200"/>
          </a:xfrm>
          <a:prstGeom prst="rect">
            <a:avLst/>
          </a:prstGeom>
          <a:noFill/>
          <a:ln/>
        </p:spPr>
        <p:txBody>
          <a:bodyPr wrap="square" lIns="0" tIns="0" rIns="0" bIns="0" rtlCol="0" anchor="t"/>
          <a:lstStyle/>
          <a:p>
            <a:pPr indent="0" marL="0">
              <a:lnSpc>
                <a:spcPts val="1900"/>
              </a:lnSpc>
              <a:buNone/>
            </a:pPr>
            <a:r>
              <a:rPr lang="en-US" sz="1100" dirty="0">
                <a:solidFill>
                  <a:srgbClr val="5A5249"/>
                </a:solidFill>
                <a:latin typeface="游ゴシック" pitchFamily="34" charset="0"/>
                <a:ea typeface="游ゴシック" pitchFamily="34" charset="-122"/>
                <a:cs typeface="游ゴシック" pitchFamily="34" charset="-120"/>
              </a:rPr>
              <a:t>生きづらさを抱えた人を、治療が必要になる手前で減らしたい。そのために、鍼灸の外側にある方法も含めて手を尽くします。</a:t>
            </a:r>
            <a:endParaRPr lang="en-US" sz="1100" dirty="0"/>
          </a:p>
        </p:txBody>
      </p:sp>
      <p:sp>
        <p:nvSpPr>
          <p:cNvPr id="19" name="Text 17"/>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20" name="Text 18"/>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4:35 → 5:00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spc="300" kern="0" dirty="0">
                <a:solidFill>
                  <a:srgbClr val="8B8175"/>
                </a:solidFill>
                <a:latin typeface="游ゴシック" pitchFamily="34" charset="0"/>
                <a:ea typeface="游ゴシック" pitchFamily="34" charset="-122"/>
                <a:cs typeface="游ゴシック" pitchFamily="34" charset="-120"/>
              </a:rPr>
              <a:t>APPENDIX ／ 参考</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游明朝" pitchFamily="34" charset="0"/>
                <a:ea typeface="游明朝" pitchFamily="34" charset="-122"/>
                <a:cs typeface="游明朝" pitchFamily="34" charset="-120"/>
              </a:rPr>
              <a:t>公開されている実績・共同研究</a:t>
            </a:r>
            <a:endParaRPr lang="en-US" sz="2800" dirty="0"/>
          </a:p>
        </p:txBody>
      </p:sp>
      <p:sp>
        <p:nvSpPr>
          <p:cNvPr id="5" name="Shape 3"/>
          <p:cNvSpPr/>
          <p:nvPr/>
        </p:nvSpPr>
        <p:spPr>
          <a:xfrm>
            <a:off x="685800" y="1673352"/>
            <a:ext cx="10820095" cy="7315"/>
          </a:xfrm>
          <a:prstGeom prst="rect">
            <a:avLst/>
          </a:prstGeom>
          <a:solidFill>
            <a:srgbClr val="D2C4AE"/>
          </a:solidFill>
          <a:ln/>
        </p:spPr>
      </p:sp>
      <p:sp>
        <p:nvSpPr>
          <p:cNvPr id="6" name="Text 4"/>
          <p:cNvSpPr txBox="1"/>
          <p:nvPr/>
        </p:nvSpPr>
        <p:spPr>
          <a:xfrm>
            <a:off x="685800" y="1801368"/>
            <a:ext cx="1005840" cy="256032"/>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共同研究</a:t>
            </a:r>
            <a:endParaRPr lang="en-US" sz="900" dirty="0"/>
          </a:p>
        </p:txBody>
      </p:sp>
      <p:sp>
        <p:nvSpPr>
          <p:cNvPr id="7" name="Text 5"/>
          <p:cNvSpPr txBox="1"/>
          <p:nvPr/>
        </p:nvSpPr>
        <p:spPr>
          <a:xfrm>
            <a:off x="1828800" y="1764792"/>
            <a:ext cx="9674352" cy="274320"/>
          </a:xfrm>
          <a:prstGeom prst="rect">
            <a:avLst/>
          </a:prstGeom>
          <a:noFill/>
          <a:ln/>
        </p:spPr>
        <p:txBody>
          <a:bodyPr wrap="square" lIns="0" tIns="0" rIns="0" bIns="0" rtlCol="0" anchor="ctr"/>
          <a:lstStyle/>
          <a:p>
            <a:pPr indent="0" marL="0">
              <a:buNone/>
            </a:pPr>
            <a:r>
              <a:rPr lang="en-US" sz="1100" dirty="0">
                <a:solidFill>
                  <a:srgbClr val="2B2620"/>
                </a:solidFill>
                <a:latin typeface="游ゴシック" pitchFamily="34" charset="0"/>
                <a:ea typeface="游ゴシック" pitchFamily="34" charset="-122"/>
                <a:cs typeface="游ゴシック" pitchFamily="34" charset="-120"/>
              </a:rPr>
              <a:t>開業鍼灸院でのメンタルヘルスの可能性を検証する共同研究</a:t>
            </a:r>
            <a:endParaRPr lang="en-US" sz="1100" dirty="0"/>
          </a:p>
        </p:txBody>
      </p:sp>
      <p:sp>
        <p:nvSpPr>
          <p:cNvPr id="8" name="Text 6"/>
          <p:cNvSpPr txBox="1"/>
          <p:nvPr/>
        </p:nvSpPr>
        <p:spPr>
          <a:xfrm>
            <a:off x="1828800" y="2057400"/>
            <a:ext cx="9674352" cy="274320"/>
          </a:xfrm>
          <a:prstGeom prst="rect">
            <a:avLst/>
          </a:prstGeom>
          <a:noFill/>
          <a:ln/>
        </p:spPr>
        <p:txBody>
          <a:bodyPr wrap="square" lIns="0" tIns="0" rIns="0" bIns="0" rtlCol="0" anchor="ctr"/>
          <a:lstStyle/>
          <a:p>
            <a:pPr indent="0" marL="0">
              <a:buNone/>
            </a:pPr>
            <a:r>
              <a:rPr lang="en-US" sz="900" dirty="0">
                <a:solidFill>
                  <a:srgbClr val="8B8175"/>
                </a:solidFill>
                <a:latin typeface="游ゴシック" pitchFamily="34" charset="0"/>
                <a:ea typeface="游ゴシック" pitchFamily="34" charset="-122"/>
                <a:cs typeface="游ゴシック" pitchFamily="34" charset="-120"/>
              </a:rPr>
              <a:t>ここちめいど／東京有明医療大学／理化学研究所／ケアクル　― PR TIMES</a:t>
            </a:r>
            <a:endParaRPr lang="en-US" sz="900" dirty="0"/>
          </a:p>
        </p:txBody>
      </p:sp>
      <p:sp>
        <p:nvSpPr>
          <p:cNvPr id="9" name="Shape 7"/>
          <p:cNvSpPr/>
          <p:nvPr/>
        </p:nvSpPr>
        <p:spPr>
          <a:xfrm>
            <a:off x="685800" y="2404872"/>
            <a:ext cx="10820095" cy="7315"/>
          </a:xfrm>
          <a:prstGeom prst="rect">
            <a:avLst/>
          </a:prstGeom>
          <a:solidFill>
            <a:srgbClr val="D2C4AE"/>
          </a:solidFill>
          <a:ln/>
        </p:spPr>
      </p:sp>
      <p:sp>
        <p:nvSpPr>
          <p:cNvPr id="10" name="Text 8"/>
          <p:cNvSpPr txBox="1"/>
          <p:nvPr/>
        </p:nvSpPr>
        <p:spPr>
          <a:xfrm>
            <a:off x="685800" y="2532888"/>
            <a:ext cx="1005840" cy="256032"/>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共同研究</a:t>
            </a:r>
            <a:endParaRPr lang="en-US" sz="900" dirty="0"/>
          </a:p>
        </p:txBody>
      </p:sp>
      <p:sp>
        <p:nvSpPr>
          <p:cNvPr id="11" name="Text 9"/>
          <p:cNvSpPr txBox="1"/>
          <p:nvPr/>
        </p:nvSpPr>
        <p:spPr>
          <a:xfrm>
            <a:off x="1828800" y="2496312"/>
            <a:ext cx="9674352" cy="274320"/>
          </a:xfrm>
          <a:prstGeom prst="rect">
            <a:avLst/>
          </a:prstGeom>
          <a:noFill/>
          <a:ln/>
        </p:spPr>
        <p:txBody>
          <a:bodyPr wrap="square" lIns="0" tIns="0" rIns="0" bIns="0" rtlCol="0" anchor="ctr"/>
          <a:lstStyle/>
          <a:p>
            <a:pPr indent="0" marL="0">
              <a:buNone/>
            </a:pPr>
            <a:r>
              <a:rPr lang="en-US" sz="1100" dirty="0">
                <a:solidFill>
                  <a:srgbClr val="2B2620"/>
                </a:solidFill>
                <a:latin typeface="游ゴシック" pitchFamily="34" charset="0"/>
                <a:ea typeface="游ゴシック" pitchFamily="34" charset="-122"/>
                <a:cs typeface="游ゴシック" pitchFamily="34" charset="-120"/>
              </a:rPr>
              <a:t>鍼灸症例データベース構築プロジェクト</a:t>
            </a:r>
            <a:endParaRPr lang="en-US" sz="1100" dirty="0"/>
          </a:p>
        </p:txBody>
      </p:sp>
      <p:sp>
        <p:nvSpPr>
          <p:cNvPr id="12" name="Text 10"/>
          <p:cNvSpPr txBox="1"/>
          <p:nvPr/>
        </p:nvSpPr>
        <p:spPr>
          <a:xfrm>
            <a:off x="1828800" y="2788920"/>
            <a:ext cx="9674352" cy="274320"/>
          </a:xfrm>
          <a:prstGeom prst="rect">
            <a:avLst/>
          </a:prstGeom>
          <a:noFill/>
          <a:ln/>
        </p:spPr>
        <p:txBody>
          <a:bodyPr wrap="square" lIns="0" tIns="0" rIns="0" bIns="0" rtlCol="0" anchor="ctr"/>
          <a:lstStyle/>
          <a:p>
            <a:pPr indent="0" marL="0">
              <a:buNone/>
            </a:pPr>
            <a:r>
              <a:rPr lang="en-US" sz="900" dirty="0">
                <a:solidFill>
                  <a:srgbClr val="8B8175"/>
                </a:solidFill>
                <a:latin typeface="游ゴシック" pitchFamily="34" charset="0"/>
                <a:ea typeface="游ゴシック" pitchFamily="34" charset="-122"/>
                <a:cs typeface="游ゴシック" pitchFamily="34" charset="-120"/>
              </a:rPr>
              <a:t>ケアクル／東京有明医療大学 松浦悠人／玉川大学 柴田健一／ここちめいど 米倉まな　― PR TIMES（2025.4）</a:t>
            </a:r>
            <a:endParaRPr lang="en-US" sz="900" dirty="0"/>
          </a:p>
        </p:txBody>
      </p:sp>
      <p:sp>
        <p:nvSpPr>
          <p:cNvPr id="13" name="Shape 11"/>
          <p:cNvSpPr/>
          <p:nvPr/>
        </p:nvSpPr>
        <p:spPr>
          <a:xfrm>
            <a:off x="685800" y="3136392"/>
            <a:ext cx="10820095" cy="7315"/>
          </a:xfrm>
          <a:prstGeom prst="rect">
            <a:avLst/>
          </a:prstGeom>
          <a:solidFill>
            <a:srgbClr val="D2C4AE"/>
          </a:solidFill>
          <a:ln/>
        </p:spPr>
      </p:sp>
      <p:sp>
        <p:nvSpPr>
          <p:cNvPr id="14" name="Text 12"/>
          <p:cNvSpPr txBox="1"/>
          <p:nvPr/>
        </p:nvSpPr>
        <p:spPr>
          <a:xfrm>
            <a:off x="685800" y="3264408"/>
            <a:ext cx="1005840" cy="256032"/>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企業連携</a:t>
            </a:r>
            <a:endParaRPr lang="en-US" sz="900" dirty="0"/>
          </a:p>
        </p:txBody>
      </p:sp>
      <p:sp>
        <p:nvSpPr>
          <p:cNvPr id="15" name="Text 13"/>
          <p:cNvSpPr txBox="1"/>
          <p:nvPr/>
        </p:nvSpPr>
        <p:spPr>
          <a:xfrm>
            <a:off x="1828800" y="3227832"/>
            <a:ext cx="9674352" cy="274320"/>
          </a:xfrm>
          <a:prstGeom prst="rect">
            <a:avLst/>
          </a:prstGeom>
          <a:noFill/>
          <a:ln/>
        </p:spPr>
        <p:txBody>
          <a:bodyPr wrap="square" lIns="0" tIns="0" rIns="0" bIns="0" rtlCol="0" anchor="ctr"/>
          <a:lstStyle/>
          <a:p>
            <a:pPr indent="0" marL="0">
              <a:buNone/>
            </a:pPr>
            <a:r>
              <a:rPr lang="en-US" sz="1100" dirty="0">
                <a:solidFill>
                  <a:srgbClr val="2B2620"/>
                </a:solidFill>
                <a:latin typeface="游ゴシック" pitchFamily="34" charset="0"/>
                <a:ea typeface="游ゴシック" pitchFamily="34" charset="-122"/>
                <a:cs typeface="游ゴシック" pitchFamily="34" charset="-120"/>
              </a:rPr>
              <a:t>オンライン対話サービス「ThirdTalk」特別対談番組に出演</a:t>
            </a:r>
            <a:endParaRPr lang="en-US" sz="1100" dirty="0"/>
          </a:p>
        </p:txBody>
      </p:sp>
      <p:sp>
        <p:nvSpPr>
          <p:cNvPr id="16" name="Text 14"/>
          <p:cNvSpPr txBox="1"/>
          <p:nvPr/>
        </p:nvSpPr>
        <p:spPr>
          <a:xfrm>
            <a:off x="1828800" y="3520440"/>
            <a:ext cx="9674352" cy="274320"/>
          </a:xfrm>
          <a:prstGeom prst="rect">
            <a:avLst/>
          </a:prstGeom>
          <a:noFill/>
          <a:ln/>
        </p:spPr>
        <p:txBody>
          <a:bodyPr wrap="square" lIns="0" tIns="0" rIns="0" bIns="0" rtlCol="0" anchor="ctr"/>
          <a:lstStyle/>
          <a:p>
            <a:pPr indent="0" marL="0">
              <a:buNone/>
            </a:pPr>
            <a:r>
              <a:rPr lang="en-US" sz="900" dirty="0">
                <a:solidFill>
                  <a:srgbClr val="8B8175"/>
                </a:solidFill>
                <a:latin typeface="游ゴシック" pitchFamily="34" charset="0"/>
                <a:ea typeface="游ゴシック" pitchFamily="34" charset="-122"/>
                <a:cs typeface="游ゴシック" pitchFamily="34" charset="-120"/>
              </a:rPr>
              <a:t>株式会社ファンコミュニケーションズ ニュースリリース（2022.8.26）</a:t>
            </a:r>
            <a:endParaRPr lang="en-US" sz="900" dirty="0"/>
          </a:p>
        </p:txBody>
      </p:sp>
      <p:sp>
        <p:nvSpPr>
          <p:cNvPr id="17" name="Shape 15"/>
          <p:cNvSpPr/>
          <p:nvPr/>
        </p:nvSpPr>
        <p:spPr>
          <a:xfrm>
            <a:off x="685800" y="3867912"/>
            <a:ext cx="10820095" cy="7315"/>
          </a:xfrm>
          <a:prstGeom prst="rect">
            <a:avLst/>
          </a:prstGeom>
          <a:solidFill>
            <a:srgbClr val="D2C4AE"/>
          </a:solidFill>
          <a:ln/>
        </p:spPr>
      </p:sp>
      <p:sp>
        <p:nvSpPr>
          <p:cNvPr id="18" name="Text 16"/>
          <p:cNvSpPr txBox="1"/>
          <p:nvPr/>
        </p:nvSpPr>
        <p:spPr>
          <a:xfrm>
            <a:off x="685800" y="3995928"/>
            <a:ext cx="1005840" cy="256032"/>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社会貢献</a:t>
            </a:r>
            <a:endParaRPr lang="en-US" sz="900" dirty="0"/>
          </a:p>
        </p:txBody>
      </p:sp>
      <p:sp>
        <p:nvSpPr>
          <p:cNvPr id="19" name="Text 17"/>
          <p:cNvSpPr txBox="1"/>
          <p:nvPr/>
        </p:nvSpPr>
        <p:spPr>
          <a:xfrm>
            <a:off x="1828800" y="3959352"/>
            <a:ext cx="9674352" cy="274320"/>
          </a:xfrm>
          <a:prstGeom prst="rect">
            <a:avLst/>
          </a:prstGeom>
          <a:noFill/>
          <a:ln/>
        </p:spPr>
        <p:txBody>
          <a:bodyPr wrap="square" lIns="0" tIns="0" rIns="0" bIns="0" rtlCol="0" anchor="ctr"/>
          <a:lstStyle/>
          <a:p>
            <a:pPr indent="0" marL="0">
              <a:buNone/>
            </a:pPr>
            <a:r>
              <a:rPr lang="en-US" sz="1100" dirty="0">
                <a:solidFill>
                  <a:srgbClr val="2B2620"/>
                </a:solidFill>
                <a:latin typeface="游ゴシック" pitchFamily="34" charset="0"/>
                <a:ea typeface="游ゴシック" pitchFamily="34" charset="-122"/>
                <a:cs typeface="游ゴシック" pitchFamily="34" charset="-120"/>
              </a:rPr>
              <a:t>パパゲーノ・アンバサダー認定 第一号（合同会社ここちめいど）</a:t>
            </a:r>
            <a:endParaRPr lang="en-US" sz="1100" dirty="0"/>
          </a:p>
        </p:txBody>
      </p:sp>
      <p:sp>
        <p:nvSpPr>
          <p:cNvPr id="20" name="Text 18"/>
          <p:cNvSpPr txBox="1"/>
          <p:nvPr/>
        </p:nvSpPr>
        <p:spPr>
          <a:xfrm>
            <a:off x="1828800" y="4251960"/>
            <a:ext cx="9674352" cy="274320"/>
          </a:xfrm>
          <a:prstGeom prst="rect">
            <a:avLst/>
          </a:prstGeom>
          <a:noFill/>
          <a:ln/>
        </p:spPr>
        <p:txBody>
          <a:bodyPr wrap="square" lIns="0" tIns="0" rIns="0" bIns="0" rtlCol="0" anchor="ctr"/>
          <a:lstStyle/>
          <a:p>
            <a:pPr indent="0" marL="0">
              <a:buNone/>
            </a:pPr>
            <a:r>
              <a:rPr lang="en-US" sz="900" dirty="0">
                <a:solidFill>
                  <a:srgbClr val="8B8175"/>
                </a:solidFill>
                <a:latin typeface="游ゴシック" pitchFamily="34" charset="0"/>
                <a:ea typeface="游ゴシック" pitchFamily="34" charset="-122"/>
                <a:cs typeface="游ゴシック" pitchFamily="34" charset="-120"/>
              </a:rPr>
              <a:t>株式会社パパゲーノ プレスリリース</a:t>
            </a:r>
            <a:endParaRPr lang="en-US" sz="900" dirty="0"/>
          </a:p>
        </p:txBody>
      </p:sp>
      <p:sp>
        <p:nvSpPr>
          <p:cNvPr id="21" name="Shape 19"/>
          <p:cNvSpPr/>
          <p:nvPr/>
        </p:nvSpPr>
        <p:spPr>
          <a:xfrm>
            <a:off x="685800" y="4599432"/>
            <a:ext cx="10820095" cy="7315"/>
          </a:xfrm>
          <a:prstGeom prst="rect">
            <a:avLst/>
          </a:prstGeom>
          <a:solidFill>
            <a:srgbClr val="D2C4AE"/>
          </a:solidFill>
          <a:ln/>
        </p:spPr>
      </p:sp>
      <p:sp>
        <p:nvSpPr>
          <p:cNvPr id="22" name="Text 20"/>
          <p:cNvSpPr txBox="1"/>
          <p:nvPr/>
        </p:nvSpPr>
        <p:spPr>
          <a:xfrm>
            <a:off x="685800" y="4727448"/>
            <a:ext cx="1005840" cy="256032"/>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寄稿</a:t>
            </a:r>
            <a:endParaRPr lang="en-US" sz="900" dirty="0"/>
          </a:p>
        </p:txBody>
      </p:sp>
      <p:sp>
        <p:nvSpPr>
          <p:cNvPr id="23" name="Text 21"/>
          <p:cNvSpPr txBox="1"/>
          <p:nvPr/>
        </p:nvSpPr>
        <p:spPr>
          <a:xfrm>
            <a:off x="1828800" y="4690872"/>
            <a:ext cx="9674352" cy="274320"/>
          </a:xfrm>
          <a:prstGeom prst="rect">
            <a:avLst/>
          </a:prstGeom>
          <a:noFill/>
          <a:ln/>
        </p:spPr>
        <p:txBody>
          <a:bodyPr wrap="square" lIns="0" tIns="0" rIns="0" bIns="0" rtlCol="0" anchor="ctr"/>
          <a:lstStyle/>
          <a:p>
            <a:pPr indent="0" marL="0">
              <a:buNone/>
            </a:pPr>
            <a:r>
              <a:rPr lang="en-US" sz="1100" dirty="0">
                <a:solidFill>
                  <a:srgbClr val="2B2620"/>
                </a:solidFill>
                <a:latin typeface="游ゴシック" pitchFamily="34" charset="0"/>
                <a:ea typeface="游ゴシック" pitchFamily="34" charset="-122"/>
                <a:cs typeface="游ゴシック" pitchFamily="34" charset="-120"/>
              </a:rPr>
              <a:t>『精神看護』特集「鍼灸は、なぜ「うつ」に効くのだろうか」</a:t>
            </a:r>
            <a:endParaRPr lang="en-US" sz="1100" dirty="0"/>
          </a:p>
        </p:txBody>
      </p:sp>
      <p:sp>
        <p:nvSpPr>
          <p:cNvPr id="24" name="Text 22"/>
          <p:cNvSpPr txBox="1"/>
          <p:nvPr/>
        </p:nvSpPr>
        <p:spPr>
          <a:xfrm>
            <a:off x="1828800" y="4983480"/>
            <a:ext cx="9674352" cy="274320"/>
          </a:xfrm>
          <a:prstGeom prst="rect">
            <a:avLst/>
          </a:prstGeom>
          <a:noFill/>
          <a:ln/>
        </p:spPr>
        <p:txBody>
          <a:bodyPr wrap="square" lIns="0" tIns="0" rIns="0" bIns="0" rtlCol="0" anchor="ctr"/>
          <a:lstStyle/>
          <a:p>
            <a:pPr indent="0" marL="0">
              <a:buNone/>
            </a:pPr>
            <a:r>
              <a:rPr lang="en-US" sz="900" dirty="0">
                <a:solidFill>
                  <a:srgbClr val="8B8175"/>
                </a:solidFill>
                <a:latin typeface="游ゴシック" pitchFamily="34" charset="0"/>
                <a:ea typeface="游ゴシック" pitchFamily="34" charset="-122"/>
                <a:cs typeface="游ゴシック" pitchFamily="34" charset="-120"/>
              </a:rPr>
              <a:t>医学書院　Vol.28 No.3（2025.5）／ レポート「障害と美の多様性」Vol.28 No.5（2025.9）</a:t>
            </a:r>
            <a:endParaRPr lang="en-US" sz="900" dirty="0"/>
          </a:p>
        </p:txBody>
      </p:sp>
      <p:sp>
        <p:nvSpPr>
          <p:cNvPr id="25" name="Shape 23"/>
          <p:cNvSpPr/>
          <p:nvPr/>
        </p:nvSpPr>
        <p:spPr>
          <a:xfrm>
            <a:off x="685800" y="5330952"/>
            <a:ext cx="10820095" cy="7315"/>
          </a:xfrm>
          <a:prstGeom prst="rect">
            <a:avLst/>
          </a:prstGeom>
          <a:solidFill>
            <a:srgbClr val="D2C4AE"/>
          </a:solidFill>
          <a:ln/>
        </p:spPr>
      </p:sp>
      <p:sp>
        <p:nvSpPr>
          <p:cNvPr id="26" name="Text 24"/>
          <p:cNvSpPr txBox="1"/>
          <p:nvPr/>
        </p:nvSpPr>
        <p:spPr>
          <a:xfrm>
            <a:off x="685800" y="5458968"/>
            <a:ext cx="1005840" cy="256032"/>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学会</a:t>
            </a:r>
            <a:endParaRPr lang="en-US" sz="900" dirty="0"/>
          </a:p>
        </p:txBody>
      </p:sp>
      <p:sp>
        <p:nvSpPr>
          <p:cNvPr id="27" name="Text 25"/>
          <p:cNvSpPr txBox="1"/>
          <p:nvPr/>
        </p:nvSpPr>
        <p:spPr>
          <a:xfrm>
            <a:off x="1828800" y="5422392"/>
            <a:ext cx="9674352" cy="274320"/>
          </a:xfrm>
          <a:prstGeom prst="rect">
            <a:avLst/>
          </a:prstGeom>
          <a:noFill/>
          <a:ln/>
        </p:spPr>
        <p:txBody>
          <a:bodyPr wrap="square" lIns="0" tIns="0" rIns="0" bIns="0" rtlCol="0" anchor="ctr"/>
          <a:lstStyle/>
          <a:p>
            <a:pPr indent="0" marL="0">
              <a:buNone/>
            </a:pPr>
            <a:r>
              <a:rPr lang="en-US" sz="1100" dirty="0">
                <a:solidFill>
                  <a:srgbClr val="2B2620"/>
                </a:solidFill>
                <a:latin typeface="游ゴシック" pitchFamily="34" charset="0"/>
                <a:ea typeface="游ゴシック" pitchFamily="34" charset="-122"/>
                <a:cs typeface="游ゴシック" pitchFamily="34" charset="-120"/>
              </a:rPr>
              <a:t>全日本鍼灸学会（2024・2025・2026）／ 日本精神神経学会 鍼灸シンポジウム シンポジスト</a:t>
            </a:r>
            <a:endParaRPr lang="en-US" sz="1100" dirty="0"/>
          </a:p>
        </p:txBody>
      </p:sp>
      <p:sp>
        <p:nvSpPr>
          <p:cNvPr id="28" name="Text 26"/>
          <p:cNvSpPr txBox="1"/>
          <p:nvPr/>
        </p:nvSpPr>
        <p:spPr>
          <a:xfrm>
            <a:off x="1828800" y="5715000"/>
            <a:ext cx="9674352" cy="274320"/>
          </a:xfrm>
          <a:prstGeom prst="rect">
            <a:avLst/>
          </a:prstGeom>
          <a:noFill/>
          <a:ln/>
        </p:spPr>
        <p:txBody>
          <a:bodyPr wrap="square" lIns="0" tIns="0" rIns="0" bIns="0" rtlCol="0" anchor="ctr"/>
          <a:lstStyle/>
          <a:p>
            <a:pPr indent="0" marL="0">
              <a:buNone/>
            </a:pPr>
            <a:r>
              <a:rPr lang="en-US" sz="900" dirty="0">
                <a:solidFill>
                  <a:srgbClr val="8B8175"/>
                </a:solidFill>
                <a:latin typeface="游ゴシック" pitchFamily="34" charset="0"/>
                <a:ea typeface="游ゴシック" pitchFamily="34" charset="-122"/>
                <a:cs typeface="游ゴシック" pitchFamily="34" charset="-120"/>
              </a:rPr>
              <a:t>うつと不安症状を有する患者の実態調査 第3報・第4報 ほか　― 2026.6 登壇予定</a:t>
            </a:r>
            <a:endParaRPr lang="en-US" sz="900" dirty="0"/>
          </a:p>
        </p:txBody>
      </p:sp>
      <p:sp>
        <p:nvSpPr>
          <p:cNvPr id="29" name="Shape 27"/>
          <p:cNvSpPr/>
          <p:nvPr/>
        </p:nvSpPr>
        <p:spPr>
          <a:xfrm>
            <a:off x="685800" y="6062472"/>
            <a:ext cx="10820095" cy="7315"/>
          </a:xfrm>
          <a:prstGeom prst="rect">
            <a:avLst/>
          </a:prstGeom>
          <a:solidFill>
            <a:srgbClr val="D2C4AE"/>
          </a:solidFill>
          <a:ln/>
        </p:spPr>
      </p:sp>
      <p:sp>
        <p:nvSpPr>
          <p:cNvPr id="30" name="Text 28"/>
          <p:cNvSpPr txBox="1"/>
          <p:nvPr/>
        </p:nvSpPr>
        <p:spPr>
          <a:xfrm>
            <a:off x="7848295" y="6336792"/>
            <a:ext cx="36576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参考資料（本編5分には含みません）</a:t>
            </a:r>
            <a:endParaRPr lang="en-US" sz="900" dirty="0"/>
          </a:p>
        </p:txBody>
      </p:sp>
      <p:sp>
        <p:nvSpPr>
          <p:cNvPr id="31" name="Text 2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米倉まな｜アポプラスステーション様 ご提案 導入</dc:title>
  <dc:subject>PptxGenJS Presentation</dc:subject>
  <dc:creator>米倉まな</dc:creator>
  <cp:lastModifiedBy>米倉まな</cp:lastModifiedBy>
  <cp:revision>1</cp:revision>
  <dcterms:created xsi:type="dcterms:W3CDTF">2026-09-12T15:30:16Z</dcterms:created>
  <dcterms:modified xsi:type="dcterms:W3CDTF">2026-09-12T15:30:16Z</dcterms:modified>
</cp:coreProperties>
</file>